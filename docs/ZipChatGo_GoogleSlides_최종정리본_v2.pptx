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6858000" cx="12192000"/>
  <p:notesSz cx="6858000" cy="12192000"/>
  <p:embeddedFontLst>
    <p:embeddedFont>
      <p:font typeface="Noto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gxYZSK7plMVbloPnWC1b1yWOr2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NotoSans-bold.fntdata"/><Relationship Id="rId25" Type="http://schemas.openxmlformats.org/officeDocument/2006/relationships/font" Target="fonts/NotoSans-regular.fntdata"/><Relationship Id="rId28" Type="http://schemas.openxmlformats.org/officeDocument/2006/relationships/font" Target="fonts/NotoSans-boldItalic.fntdata"/><Relationship Id="rId27" Type="http://schemas.openxmlformats.org/officeDocument/2006/relationships/font" Target="fonts/NotoSans-italic.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1pPr>
            <a:lvl2pPr lvl="1"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2pPr>
            <a:lvl3pPr lvl="2"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3pPr>
            <a:lvl4pPr lvl="3"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4pPr>
            <a:lvl5pPr lvl="4"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5pPr>
            <a:lvl6pPr lvl="5"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6pPr>
            <a:lvl7pPr lvl="6"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7pPr>
            <a:lvl8pPr lvl="7"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8pPr>
            <a:lvl9pPr lvl="8"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Noto Sans"/>
                <a:ea typeface="Noto Sans"/>
                <a:cs typeface="Noto Sans"/>
                <a:sym typeface="Noto Sans"/>
              </a:defRPr>
            </a:lvl1pPr>
            <a:lvl2pPr lvl="1"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2pPr>
            <a:lvl3pPr lvl="2"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3pPr>
            <a:lvl4pPr lvl="3"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4pPr>
            <a:lvl5pPr lvl="4"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5pPr>
            <a:lvl6pPr lvl="5"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6pPr>
            <a:lvl7pPr lvl="6"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7pPr>
            <a:lvl8pPr lvl="7"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8pPr>
            <a:lvl9pPr lvl="8"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1pPr>
            <a:lvl2pPr indent="-228600" lvl="1" marL="9144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2pPr>
            <a:lvl3pPr indent="-228600" lvl="2" marL="13716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3pPr>
            <a:lvl4pPr indent="-228600" lvl="3" marL="18288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4pPr>
            <a:lvl5pPr indent="-228600" lvl="4" marL="22860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5pPr>
            <a:lvl6pPr indent="-228600" lvl="5" marL="27432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6pPr>
            <a:lvl7pPr indent="-228600" lvl="6" marL="32004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7pPr>
            <a:lvl8pPr indent="-228600" lvl="7" marL="36576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8pPr>
            <a:lvl9pPr indent="-228600" lvl="8" marL="411480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Noto Sans"/>
                <a:ea typeface="Noto Sans"/>
                <a:cs typeface="Noto Sans"/>
                <a:sym typeface="Noto Sans"/>
              </a:defRPr>
            </a:lvl1pPr>
            <a:lvl2pPr lvl="1"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2pPr>
            <a:lvl3pPr lvl="2"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3pPr>
            <a:lvl4pPr lvl="3"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4pPr>
            <a:lvl5pPr lvl="4"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5pPr>
            <a:lvl6pPr lvl="5"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6pPr>
            <a:lvl7pPr lvl="6"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7pPr>
            <a:lvl8pPr lvl="7"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8pPr>
            <a:lvl9pPr lvl="8" marR="0" rtl="0" algn="l">
              <a:spcBef>
                <a:spcPts val="0"/>
              </a:spcBef>
              <a:spcAft>
                <a:spcPts val="0"/>
              </a:spcAft>
              <a:buSzPts val="1400"/>
              <a:buNone/>
              <a:defRPr b="0" i="0" sz="1800" u="none" cap="none" strike="noStrike">
                <a:solidFill>
                  <a:schemeClr val="dk1"/>
                </a:solidFill>
                <a:latin typeface="Noto Sans"/>
                <a:ea typeface="Noto Sans"/>
                <a:cs typeface="Noto Sans"/>
                <a:sym typeface="Noto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Noto Sans"/>
                <a:ea typeface="Noto Sans"/>
                <a:cs typeface="Noto Sans"/>
                <a:sym typeface="Noto Sans"/>
              </a:rPr>
              <a:t>‹#›</a:t>
            </a:fld>
            <a:endParaRPr b="0" i="0" sz="1200" u="none" cap="none" strike="noStrike">
              <a:solidFill>
                <a:schemeClr val="dk1"/>
              </a:solidFill>
              <a:latin typeface="Noto Sans"/>
              <a:ea typeface="Noto Sans"/>
              <a:cs typeface="Noto Sans"/>
              <a:sym typeface="Noto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 name="Google Shape;1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집찾GO는 AI와 지도, 부동산 데이터를 한 서비스 안에서 연결한 프로젝트입니다. 네 명의 팀원이 서비스 소개, 지도 탐색과 AI, 부동산 분석, 매물 등록과 회원·고객센터를 나눠 구현했고 최종적으로 하나의 사용자 흐름으로 통합했습니다. 핵심은 사용자가 집을 찾는 과정에서 탐색, 비교, 상담, 등록까지 자연스럽게 이어갈 수 있도록 만든 점입니다.</a:t>
            </a:r>
            <a:br>
              <a:rPr lang="en-US"/>
            </a:br>
            <a:br>
              <a:rPr lang="en-US"/>
            </a:br>
            <a:r>
              <a:rPr lang="en-US"/>
              <a:t>[진행 메모]</a:t>
            </a:r>
            <a:br>
              <a:rPr lang="en-US"/>
            </a:br>
            <a:r>
              <a:rPr lang="en-US"/>
              <a:t>전체 프로젝트의 방향만 40초 정도 설명하고 세부 기능은 다음 슬라이드부터 설명합니다.</a:t>
            </a:r>
            <a:endParaRPr/>
          </a:p>
        </p:txBody>
      </p:sp>
      <p:sp>
        <p:nvSpPr>
          <p:cNvPr id="20" name="Google Shape;2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기존 부동산 서비스는 매물을 찾는 기능은 잘 제공하지만 실제 사용자는 매물 정보, 주변 생활 인프라, 실거래 흐름, 계약 관련 정보까지 여러 곳을 오가며 확인하게 됩니다. 또한 검색 결과를 본 뒤 “그중 첫 번째”처럼 맥락을 이어서 질문하기 어렵습니다. 집찾GO는 이 과정을 하나의 서비스와 대화 흐름 안에서 연결하는 것을 목표로 했습니다.</a:t>
            </a:r>
            <a:br>
              <a:rPr lang="en-US"/>
            </a:br>
            <a:br>
              <a:rPr lang="en-US"/>
            </a:br>
            <a:r>
              <a:rPr lang="en-US"/>
              <a:t>[진행 메모]</a:t>
            </a:r>
            <a:br>
              <a:rPr lang="en-US"/>
            </a:br>
            <a:r>
              <a:rPr lang="en-US"/>
              <a:t>네 가지 문제를 왼쪽에서 오른쪽 순서로 짧게 설명한 뒤 하단 목표 문장으로 정리합니다.</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프로젝트는 네 명이 네 영역을 나눠 개발했습니다. 서비스 소개는 사용자가 처음 만나는 화면과 브랜드 경험을, 지도 탐색과 AI는 실제 매물 탐색과 대화형 기능을, 부동산 분석은 실거래와 비교 기능을, 매물 등록 파트는 회원·등록·고객지원까지 담당했습니다. 각 파트는 마지막에 하나의 사용자 흐름으로 연결되도록 통합했습니다.</a:t>
            </a:r>
            <a:br>
              <a:rPr lang="en-US"/>
            </a:br>
            <a:br>
              <a:rPr lang="en-US"/>
            </a:br>
            <a:r>
              <a:rPr lang="en-US"/>
              <a:t>[진행 메모]</a:t>
            </a:r>
            <a:br>
              <a:rPr lang="en-US"/>
            </a:br>
            <a:r>
              <a:rPr lang="en-US"/>
              <a:t>각 팀원의 담당 영역을 균형 있게 소개하는 슬라이드입니다. 특정 파트에 너무 오래 머물지 않습니다.</a:t>
            </a:r>
            <a:endParaRPr/>
          </a:p>
        </p:txBody>
      </p:sp>
      <p:sp>
        <p:nvSpPr>
          <p:cNvPr id="59" name="Google Shape;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서비스 소개 영역은 단순한 안내 페이지가 아니라 전체 서비스의 진입 구조를 담당합니다. 홈에서 사용자는 서비스의 방향을 이해하고 지도 탐색, 분석, 매물 등록으로 바로 이동할 수 있습니다. 특히 홈의 AI 질문창은 질문을 지도 페이지로 넘겨주기 때문에 첫 화면부터 대화형 탐색으로 자연스럽게 연결됩니다.</a:t>
            </a:r>
            <a:br>
              <a:rPr lang="en-US"/>
            </a:br>
            <a:br>
              <a:rPr lang="en-US"/>
            </a:br>
            <a:r>
              <a:rPr lang="en-US"/>
              <a:t>[진행 메모]</a:t>
            </a:r>
            <a:br>
              <a:rPr lang="en-US"/>
            </a:br>
            <a:r>
              <a:rPr lang="en-US"/>
              <a:t>두 화면을 비교해서 설명합니다. 왼쪽은 서비스 메시지, 오른쪽은 기능 진입 구조입니다.</a:t>
            </a:r>
            <a:endParaRPr/>
          </a:p>
        </p:txBody>
      </p:sp>
      <p:sp>
        <p:nvSpPr>
          <p:cNvPr id="91" name="Google Shape;9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서비스 소개 파트에서는 홈뿐 아니라 모바일 모델하우스와 중개 LIVE 같은 확장 화면도 구현했습니다. 모바일 모델하우스는 매물의 실내 공간을 사진 중심으로 보여주는 화면이고, 중개 LIVE는 지도와 영상형 콘텐츠를 결합해 지역과 매물 추천을 좀 더 직관적으로 전달하려는 기능입니다. 이 두 기능을 통해 서비스 소개 파트가 단순 안내가 아니라 실제 사용자 경험 확장까지 포함하도록 구성했습니다.</a:t>
            </a:r>
            <a:br>
              <a:rPr lang="en-US"/>
            </a:br>
            <a:br>
              <a:rPr lang="en-US"/>
            </a:br>
            <a:r>
              <a:rPr lang="en-US"/>
              <a:t>[진행 메모]</a:t>
            </a:r>
            <a:br>
              <a:rPr lang="en-US"/>
            </a:br>
            <a:r>
              <a:rPr lang="en-US"/>
              <a:t>중개 LIVE의 추천 데이터는 현재 예시값 기반이라는 점은 질문이 나올 경우 명확히 구분합니다.</a:t>
            </a:r>
            <a:endParaRPr/>
          </a:p>
        </p:txBody>
      </p:sp>
      <p:sp>
        <p:nvSpPr>
          <p:cNvPr id="121" name="Google Shape;12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지도 탐색은 집찾GO의 기본 사용자 인터페이스입니다. 낮은 확대 단계에서는 지역 단위로 정보를 보여주고, 확대하면 개별 매물과 목록을 확인할 수 있습니다. 검색과 가격·면적·준공연수 필터를 함께 사용할 수 있고 학교, 병원, 약국, 교통 같은 POI도 지도 위에서 같이 볼 수 있습니다. 마커가 지나치게 많아지는 문제는 클러스터와 표시 상한으로 제어했습니다.</a:t>
            </a:r>
            <a:br>
              <a:rPr lang="en-US"/>
            </a:br>
            <a:br>
              <a:rPr lang="en-US"/>
            </a:br>
            <a:r>
              <a:rPr lang="en-US"/>
              <a:t>[진행 메모]</a:t>
            </a:r>
            <a:br>
              <a:rPr lang="en-US"/>
            </a:br>
            <a:r>
              <a:rPr lang="en-US"/>
              <a:t>왼쪽 화면에서 매물 탐색, 오른쪽 화면에서 POI를 설명합니다.</a:t>
            </a:r>
            <a:endParaRPr/>
          </a:p>
        </p:txBody>
      </p:sp>
      <p:sp>
        <p:nvSpPr>
          <p:cNvPr id="147" name="Google Shape;14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AI Agent의 차별점은 답변만 생성하는 것이 아니라 실제 서비스 기능을 호출한다는 점입니다. 브라우저는 현재 지도 위치와 선택한 지역, 매물, 관심매물 같은 App State를 함께 전달합니다. Agent는 질문에 따라 매물, POI, 역, 법률 검색 Tool을 선택하고 결과에 맞춰 지도 이동, 범위 맞춤, 마커 강조, 상세 열기 같은 Action을 반환합니다. 프론트는 미리 정의된 Action만 실행하도록 제한해 안전성을 확보했습니다.</a:t>
            </a:r>
            <a:br>
              <a:rPr lang="en-US"/>
            </a:br>
            <a:br>
              <a:rPr lang="en-US"/>
            </a:br>
            <a:r>
              <a:rPr lang="en-US"/>
              <a:t>[진행 메모]</a:t>
            </a:r>
            <a:br>
              <a:rPr lang="en-US"/>
            </a:br>
            <a:r>
              <a:rPr lang="en-US"/>
              <a:t>오른쪽 1번부터 4번까지 순서대로 설명합니다.</a:t>
            </a:r>
            <a:endParaRPr/>
          </a:p>
        </p:txBody>
      </p:sp>
      <p:sp>
        <p:nvSpPr>
          <p:cNvPr id="181" name="Google Shape;18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단발성 챗봇과 달리 집찾GO는 직전 대화에서 어떤 매물을 보여줬는지 구조적으로 유지합니다. 최근 8개 메시지와 함께 최근 매물 ID 순서, 마지막으로 참조한 매물, 매물 요약과 현재 지도 상태를 다음 요청에 다시 전달합니다. 그래서 “그중 가장 싼 건?”, “그 매물 지도에서 보여줘” 같은 표현을 자연스럽게 이어서 처리할 수 있습니다. 대화 원문은 서버 DB에 장기 저장하지 않는 세션 중심 구조입니다.</a:t>
            </a:r>
            <a:br>
              <a:rPr lang="en-US"/>
            </a:br>
            <a:br>
              <a:rPr lang="en-US"/>
            </a:br>
            <a:r>
              <a:rPr lang="en-US"/>
              <a:t>[진행 메모]</a:t>
            </a:r>
            <a:br>
              <a:rPr lang="en-US"/>
            </a:br>
            <a:r>
              <a:rPr lang="en-US"/>
              <a:t>하단 예시 문장을 실제 사용 흐름처럼 읽어주면 이해가 빠릅니다.</a:t>
            </a:r>
            <a:endParaRPr/>
          </a:p>
        </p:txBody>
      </p:sp>
      <p:sp>
        <p:nvSpPr>
          <p:cNvPr id="217" name="Google Shape;21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법률 기능은 사용자가 법률 이름이나 조문 번호를 알고 있다는 전제에서 만들지 않았습니다. “보증금을 못 받고 이사해야 한다”처럼 생활 언어로 질문하면 핵심 Query를 만들고, 법령명이나 조문 번호가 명시된 경우에는 메타데이터 기반 정확검색을 우선합니다. 정확한 단서가 없거나 검색이 부족하면 의미검색으로 전환합니다. 검색 근거가 있는 부분과 일반 설명을 구분하고 공식 출처를 연결하도록 설계했습니다. RAG</a:t>
            </a:r>
            <a:r>
              <a:rPr lang="en-US"/>
              <a:t>기능 검증을 위해 2025년도 공인중개사 문제 중 법률 관련 문항 40문항을 선별하여 테스트했습니다. </a:t>
            </a:r>
            <a:r>
              <a:rPr lang="en-US"/>
              <a:t>40문항 중 36문항 정답으로 90%를 기록했습니다.</a:t>
            </a:r>
            <a:br>
              <a:rPr lang="en-US"/>
            </a:br>
            <a:br>
              <a:rPr lang="en-US"/>
            </a:br>
            <a:r>
              <a:rPr lang="en-US"/>
              <a:t>[진행 메모]</a:t>
            </a:r>
            <a:br>
              <a:rPr lang="en-US"/>
            </a:br>
            <a:r>
              <a:rPr lang="en-US"/>
              <a:t>평가 수치는 새로운 질문에 대한 일반화 확인용이며 법률 서비스의 완전한 정확성을 의미하지 않는다고 설명합니다.</a:t>
            </a:r>
            <a:endParaRPr/>
          </a:p>
        </p:txBody>
      </p:sp>
      <p:sp>
        <p:nvSpPr>
          <p:cNvPr id="249" name="Google Shape;24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부동산 분석 파트는 단순 가격 조회가 아니라 지역과 거래 조건을 비교하도록 구성했습니다. 분석 허브에서는 실거래 요약, 지역 비교, 거래와 비용, 그리고 학군·교통·금리 같은 확장 분석 화면으로 이동할 수 있습니다. 여기서 중요한 점은 모든 화면의 데이터 성격이 같지는 않다는 것입니다. 실거래 API 기반 집계와 시각화용 합성 데이터, 고정 예시 데이터 화면을 구분해서 사용했습니다.</a:t>
            </a:r>
            <a:br>
              <a:rPr lang="en-US"/>
            </a:br>
            <a:br>
              <a:rPr lang="en-US"/>
            </a:br>
            <a:r>
              <a:rPr lang="en-US"/>
              <a:t>[진행 메모]</a:t>
            </a:r>
            <a:br>
              <a:rPr lang="en-US"/>
            </a:br>
            <a:r>
              <a:rPr lang="en-US"/>
              <a:t>실데이터와 예시 데이터의 구분을 정확히 설명해 신뢰성을 유지합니다.</a:t>
            </a:r>
            <a:endParaRPr/>
          </a:p>
        </p:txBody>
      </p:sp>
      <p:sp>
        <p:nvSpPr>
          <p:cNvPr id="285" name="Google Shape;28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대표 분석 화면에서는 기준 지역과 비교 지역을 선택하고 면적과 기간 조건을 맞춘 뒤 평균 매매가와 변화율을 비교할 수 있습니다. 최근 거래 예시도 같은 화면에 보여주기 때문에 집계 지표만 보는 것이 아니라 실제 개별 거래로 다시 내려가 확인할 수 있습니다. 다만 기간별 선 그래프는 실제 월별 원자료 전체를 그린 것이 아니라 현재값과 변화율을 이용한 시각화용 합성 series입니다.</a:t>
            </a:r>
            <a:br>
              <a:rPr lang="en-US"/>
            </a:br>
            <a:br>
              <a:rPr lang="en-US"/>
            </a:br>
            <a:r>
              <a:rPr lang="en-US"/>
              <a:t>[진행 메모]</a:t>
            </a:r>
            <a:br>
              <a:rPr lang="en-US"/>
            </a:br>
            <a:r>
              <a:rPr lang="en-US"/>
              <a:t>실거래 집계와 합성 그래프의 차이를 한 문장으로 명확하게 설명합니다.</a:t>
            </a:r>
            <a:endParaRPr/>
          </a:p>
        </p:txBody>
      </p:sp>
      <p:sp>
        <p:nvSpPr>
          <p:cNvPr id="318" name="Google Shape;31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분석 파트에서는 가격 외에도 실제 거래 판단에 필요한 비용과 생활 조건을 다룹니다. 비용 계산기는 거래 유형, 가격, 면적, 대출 예정액을 입력하면 중개보수 상한과 취득 관련 비용, 필요한 현금을 바로 계산합니다. 그 밖에 학군, 교통, 금리, 지역 이동과 AI 리포트 형태의 화면도 구성해 주거 선택 관점을 넓혔습니다. 일부 확장 분석은 고정 예시 데이터 기반의 데모 화면입니다.</a:t>
            </a:r>
            <a:br>
              <a:rPr lang="en-US"/>
            </a:br>
            <a:br>
              <a:rPr lang="en-US"/>
            </a:br>
            <a:r>
              <a:rPr lang="en-US"/>
              <a:t>[진행 메모]</a:t>
            </a:r>
            <a:br>
              <a:rPr lang="en-US"/>
            </a:br>
            <a:r>
              <a:rPr lang="en-US"/>
              <a:t>비용 계산기는 외부 API에 의존하지 않는 브라우저 계산 기능이라는 점도 필요하면 설명합니다.</a:t>
            </a:r>
            <a:endParaRPr/>
          </a:p>
        </p:txBody>
      </p:sp>
      <p:sp>
        <p:nvSpPr>
          <p:cNvPr id="337" name="Google Shape;33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매물 등록은 사용자가 한 번에 많은 정보를 입력하지 않도록 네 단계로 나눴습니다. 먼저 거래 유형과 주소 같은 기본정보를 입력하고, 다음 단계에서 면적과 층, 가격 같은 상세정보를 입력합니다. 이후 사진과 소유 관련 서류를 추가한 뒤 마지막 화면에서 전체 내용을 검토하고 등록합니다. 화면 오른쪽에 미리보기를 제공해 실제 등록 결과를 확인하면서 입력할 수 있도록 했습니다.</a:t>
            </a:r>
            <a:br>
              <a:rPr lang="en-US"/>
            </a:br>
            <a:br>
              <a:rPr lang="en-US"/>
            </a:br>
            <a:r>
              <a:rPr lang="en-US"/>
              <a:t>[진행 메모]</a:t>
            </a:r>
            <a:br>
              <a:rPr lang="en-US"/>
            </a:br>
            <a:r>
              <a:rPr lang="en-US"/>
              <a:t>두 화면을 보여준 뒤 하단 네 단계만 간단히 다시 정리합니다.</a:t>
            </a:r>
            <a:endParaRPr/>
          </a:p>
        </p:txBody>
      </p:sp>
      <p:sp>
        <p:nvSpPr>
          <p:cNvPr id="369" name="Google Shape;36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등록 기능은 프론트 화면에서 끝나지 않습니다. 주소는 Kakao 지도 기능으로 좌표를 확인하고, 위치를 기준으로 교통과 학군 정보를 자동 매칭합니다. 사진과 서류는 Supabase Storage에 저장하고 DB에는 파일 경로와 메타데이터를 보관합니다. 등록된 매물은 PENDING 상태로 시작하고 사용자는 내 매물에서 수정하거나 삭제할 수 있으며 관리자는 승인이나 반려를 처리할 수 있습니다. 현재 회원 등록 매물과 지도 검색용 매물 테이블은 별도로 관리되고 있습니다.</a:t>
            </a:r>
            <a:br>
              <a:rPr lang="en-US"/>
            </a:br>
            <a:br>
              <a:rPr lang="en-US"/>
            </a:br>
            <a:r>
              <a:rPr lang="en-US"/>
              <a:t>[진행 메모]</a:t>
            </a:r>
            <a:br>
              <a:rPr lang="en-US"/>
            </a:br>
            <a:r>
              <a:rPr lang="en-US"/>
              <a:t>마지막 문장은 현재 구조의 경계를 설명하는 기술적 주의사항입니다.</a:t>
            </a:r>
            <a:endParaRPr/>
          </a:p>
        </p:txBody>
      </p:sp>
      <p:sp>
        <p:nvSpPr>
          <p:cNvPr id="399" name="Google Shape;39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5" name="Google Shape;43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실제 서비스로 사용하려면 지도와 분석 기능만으로는 부족하기 때문에 회원과 고객지원 기능도 함께 구현했습니다. 일반 회원가입과 로그인은 서버 세션 기반이며 비밀번호는 BCrypt로 저장합니다. Google, Naver, Kakao OAuth 연동 코드도 구성했습니다. 계정 페이지에서는 가입 방식과 탈퇴를 처리할 수 있고, 고객센터에서는 FAQ 검색과 1:1 문의를 받을 수 있도록 만들었습니다.</a:t>
            </a:r>
            <a:br>
              <a:rPr lang="en-US"/>
            </a:br>
            <a:br>
              <a:rPr lang="en-US"/>
            </a:br>
            <a:r>
              <a:rPr lang="en-US"/>
              <a:t>[진행 메모]</a:t>
            </a:r>
            <a:br>
              <a:rPr lang="en-US"/>
            </a:br>
            <a:r>
              <a:rPr lang="en-US"/>
              <a:t>OAuth의 실제 callback 성공 여부는 배포 환경의 provider 설정에 따라 달라질 수 있음을 질문 시 설명합니다.</a:t>
            </a:r>
            <a:endParaRPr/>
          </a:p>
        </p:txBody>
      </p:sp>
      <p:sp>
        <p:nvSpPr>
          <p:cNvPr id="436" name="Google Shape;43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전체 구조는 프론트엔드, Spring Boot, FastAPI, 외부 서비스의 네 영역으로 나뉩니다. 프론트엔드는 지도와 화면 인터랙션을 담당하고, Spring Boot는 회원, 지도 데이터, 매물 등록, 문의와 시장 API를 담당합니다. FastAPI는 AI 전용 서버로 OpenAI Tool Calling과 법률 RAG를 처리합니다. 외부에는 OpenAI, 국토교통부 API, OAuth, Supabase와 DB가 연결됩니다. 이 분리를 통해 일반 서비스 로직과 AI 로직을 독립적으로 관리할 수 있게 했습니다.</a:t>
            </a:r>
            <a:br>
              <a:rPr lang="en-US"/>
            </a:br>
            <a:br>
              <a:rPr lang="en-US"/>
            </a:br>
            <a:r>
              <a:rPr lang="en-US"/>
              <a:t>[진행 메모]</a:t>
            </a:r>
            <a:br>
              <a:rPr lang="en-US"/>
            </a:br>
            <a:r>
              <a:rPr lang="en-US"/>
              <a:t>왼쪽에서 오른쪽으로 요청 흐름을 따라가며 설명합니다.</a:t>
            </a:r>
            <a:endParaRPr/>
          </a:p>
        </p:txBody>
      </p:sp>
      <p:sp>
        <p:nvSpPr>
          <p:cNvPr id="470" name="Google Shape;470;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모든 데이터를 하나의 DB에 넣지 않고 용도에 맞게 분리했습니다. 지도와 거래 데이터는 관계형 DB와 fallback JSON을 사용하고, 회원과 등록 데이터는 Spring Data JDBC로 관리합니다. 관심매물과 대화 문맥은 브라우저 세션 중심으로 유지하고, 사진과 서류는 Supabase Storage에 저장합니다. 법률 검색 데이터는 OpenAI Vector Store에 조문 단위로 보관합니다. 데이터의 성격과 수명주기에 맞춰 저장소를 구분한 것이 특징입니다.</a:t>
            </a:r>
            <a:br>
              <a:rPr lang="en-US"/>
            </a:br>
            <a:br>
              <a:rPr lang="en-US"/>
            </a:br>
            <a:r>
              <a:rPr lang="en-US"/>
              <a:t>[진행 메모]</a:t>
            </a:r>
            <a:br>
              <a:rPr lang="en-US"/>
            </a:br>
            <a:r>
              <a:rPr lang="en-US"/>
              <a:t>관심매물이 DB에 저장되는 것으로 오해하지 않도록 세션 기반임을 강조합니다.</a:t>
            </a:r>
            <a:endParaRPr/>
          </a:p>
        </p:txBody>
      </p:sp>
      <p:sp>
        <p:nvSpPr>
          <p:cNvPr id="495" name="Google Shape;49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핵심 기능은 화면 구현만 확인한 것이 아니라 별도의 테스트로 반복 검증했습니다. Agent 통합 회귀에서는 30개 시나리오가 정상 완료됐고 Tool loop나 Action schema 오류가 없었습니다. Multi-turn smoke에서는 여섯 번의 연속 대화에서 오류 없이 최근 매물 참조와 지도 이동 흐름을 확인했습니다. 법률 RAG는 2025 hold-out 40문항 중 36문항 정답으로 90%를 기록했습니다. 이 수치는 특정 실행의 검증 결과이며 서비스 정확성을 100% 보장한다는 의미는 아닙니다.</a:t>
            </a:r>
            <a:br>
              <a:rPr lang="en-US"/>
            </a:br>
            <a:br>
              <a:rPr lang="en-US"/>
            </a:br>
            <a:r>
              <a:rPr lang="en-US"/>
              <a:t>[진행 메모]</a:t>
            </a:r>
            <a:br>
              <a:rPr lang="en-US"/>
            </a:br>
            <a:r>
              <a:rPr lang="en-US"/>
              <a:t>수치 자체보다 어떤 기능 경로를 검증했는지에 초점을 맞춥니다.</a:t>
            </a:r>
            <a:endParaRPr/>
          </a:p>
        </p:txBody>
      </p:sp>
      <p:sp>
        <p:nvSpPr>
          <p:cNvPr id="553" name="Google Shape;55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전체 기능을 사용자 관점에서 다시 연결하면 이 흐름이 됩니다. 홈에서 서비스를 이해하고 지도에서 매물을 탐색한 뒤 자연어로 조건을 검색합니다. 결과를 보면서 “그중”, “그 매물”처럼 후속 질문을 이어갈 수 있고 계약이나 임대차 관련 질문은 법률 RAG로 연결됩니다. 이후 부동산 분석으로 가격과 비용을 판단하고 필요하면 직접 매물을 등록하고 관리할 수 있습니다. 각 팀원이 만든 기능을 하나의 사용자 여정으로 통합한 것이 최종 결과입니다.</a:t>
            </a:r>
            <a:br>
              <a:rPr lang="en-US"/>
            </a:br>
            <a:br>
              <a:rPr lang="en-US"/>
            </a:br>
            <a:r>
              <a:rPr lang="en-US"/>
              <a:t>[진행 메모]</a:t>
            </a:r>
            <a:br>
              <a:rPr lang="en-US"/>
            </a:br>
            <a:r>
              <a:rPr lang="en-US"/>
              <a:t>이 슬라이드 다음에 실제 서비스 화면을 직접 보여주는 흐름으로 자연스럽게 전환할 수 있습니다.</a:t>
            </a:r>
            <a:endParaRPr/>
          </a:p>
        </p:txBody>
      </p:sp>
      <p:sp>
        <p:nvSpPr>
          <p:cNvPr id="576" name="Google Shape;576;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[발표 스크립트]</a:t>
            </a:r>
            <a:br>
              <a:rPr lang="en-US"/>
            </a:br>
            <a:r>
              <a:rPr lang="en-US"/>
              <a:t>정리하면 집찾GO는 개별 기능을 많이 추가한 프로젝트라기보다 지도, AI Agent, 부동산 분석, 매물 등록과 회원 기능을 하나의 사용자 경험으로 연결한 서비스입니다. 사용자는 지도에서 매물을 찾고 자연어로 조건을 바꾸며, 시장과 비용을 확인하고 계약 관련 정보까지 질문할 수 있습니다. 또한 직접 매물을 등록하고 고객지원 기능도 이용할 수 있습니다. 이상으로 집찾GO 프로젝트 설명을 마치겠습니다. 감사합니다.</a:t>
            </a:r>
            <a:br>
              <a:rPr lang="en-US"/>
            </a:br>
            <a:br>
              <a:rPr lang="en-US"/>
            </a:br>
            <a:r>
              <a:rPr lang="en-US"/>
              <a:t>[진행 메모]</a:t>
            </a:r>
            <a:br>
              <a:rPr lang="en-US"/>
            </a:br>
            <a:r>
              <a:rPr lang="en-US"/>
              <a:t>마지막 문장을 말한 뒤 질의응답으로 전환합니다.</a:t>
            </a:r>
            <a:endParaRPr/>
          </a:p>
        </p:txBody>
      </p:sp>
      <p:sp>
        <p:nvSpPr>
          <p:cNvPr id="610" name="Google Shape;61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5F8FC"/>
        </a:solidFill>
      </p:bgPr>
    </p:bg>
    <p:spTree>
      <p:nvGrpSpPr>
        <p:cNvPr id="12" name="Shape 12"/>
        <p:cNvGrpSpPr/>
        <p:nvPr/>
      </p:nvGrpSpPr>
      <p:grpSpPr>
        <a:xfrm>
          <a:off x="0" y="0"/>
          <a:ext cx="0" cy="0"/>
          <a:chOff x="0" y="0"/>
          <a:chExt cx="0" cy="0"/>
        </a:xfrm>
      </p:grpSpPr>
      <p:cxnSp>
        <p:nvCxnSpPr>
          <p:cNvPr id="13" name="Google Shape;13;p23"/>
          <p:cNvCxnSpPr/>
          <p:nvPr/>
        </p:nvCxnSpPr>
        <p:spPr>
          <a:xfrm>
            <a:off x="502920" y="566928"/>
            <a:ext cx="11183112" cy="0"/>
          </a:xfrm>
          <a:prstGeom prst="straightConnector1">
            <a:avLst/>
          </a:prstGeom>
          <a:noFill/>
          <a:ln cap="flat" cmpd="sng" w="12700">
            <a:solidFill>
              <a:srgbClr val="DDE6F0"/>
            </a:solidFill>
            <a:prstDash val="solid"/>
            <a:round/>
            <a:headEnd len="sm" w="sm" type="none"/>
            <a:tailEnd len="sm" w="sm" type="none"/>
          </a:ln>
        </p:spPr>
      </p:cxnSp>
      <p:sp>
        <p:nvSpPr>
          <p:cNvPr id="14" name="Google Shape;14;p23"/>
          <p:cNvSpPr/>
          <p:nvPr/>
        </p:nvSpPr>
        <p:spPr>
          <a:xfrm>
            <a:off x="548640" y="164592"/>
            <a:ext cx="22860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3557"/>
              </a:buClr>
              <a:buSzPts val="1050"/>
              <a:buFont typeface="Noto Sans"/>
              <a:buNone/>
            </a:pPr>
            <a:r>
              <a:rPr b="1" i="0" lang="en-US" sz="1050" u="none" cap="none" strike="noStrike">
                <a:solidFill>
                  <a:srgbClr val="0D3557"/>
                </a:solidFill>
                <a:latin typeface="Noto Sans"/>
                <a:ea typeface="Noto Sans"/>
                <a:cs typeface="Noto Sans"/>
                <a:sym typeface="Noto Sans"/>
              </a:rPr>
              <a:t>ZipChatGo | 집찾GO</a:t>
            </a:r>
            <a:endParaRPr b="0" i="0" sz="1050" u="none" cap="none" strike="noStrike">
              <a:solidFill>
                <a:schemeClr val="dk1"/>
              </a:solidFill>
              <a:latin typeface="Noto Sans"/>
              <a:ea typeface="Noto Sans"/>
              <a:cs typeface="Noto Sans"/>
              <a:sym typeface="Noto Sans"/>
            </a:endParaRPr>
          </a:p>
        </p:txBody>
      </p:sp>
      <p:sp>
        <p:nvSpPr>
          <p:cNvPr id="15" name="Google Shape;15;p23"/>
          <p:cNvSpPr/>
          <p:nvPr/>
        </p:nvSpPr>
        <p:spPr>
          <a:xfrm>
            <a:off x="8458200" y="164592"/>
            <a:ext cx="3154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AAC"/>
              </a:buClr>
              <a:buSzPts val="950"/>
              <a:buFont typeface="Noto Sans"/>
              <a:buNone/>
            </a:pPr>
            <a:r>
              <a:rPr b="0" i="0" lang="en-US" sz="950" u="none" cap="none" strike="noStrike">
                <a:solidFill>
                  <a:srgbClr val="8A9AAC"/>
                </a:solidFill>
                <a:latin typeface="Noto Sans"/>
                <a:ea typeface="Noto Sans"/>
                <a:cs typeface="Noto Sans"/>
                <a:sym typeface="Noto Sans"/>
              </a:rPr>
              <a:t>AI와 지도·데이터를 연결한 부동산 서비스</a:t>
            </a:r>
            <a:endParaRPr b="0" i="0" sz="950" u="none" cap="none" strike="noStrike">
              <a:solidFill>
                <a:schemeClr val="dk1"/>
              </a:solidFill>
              <a:latin typeface="Noto Sans"/>
              <a:ea typeface="Noto Sans"/>
              <a:cs typeface="Noto Sans"/>
              <a:sym typeface="Noto Sans"/>
            </a:endParaRPr>
          </a:p>
        </p:txBody>
      </p:sp>
      <p:sp>
        <p:nvSpPr>
          <p:cNvPr id="16" name="Google Shape;16;p23"/>
          <p:cNvSpPr txBox="1"/>
          <p:nvPr>
            <p:ph idx="12" type="sldNum"/>
          </p:nvPr>
        </p:nvSpPr>
        <p:spPr>
          <a:xfrm>
            <a:off x="11475720" y="6510528"/>
            <a:ext cx="274320" cy="164592"/>
          </a:xfrm>
          <a:prstGeom prst="rect">
            <a:avLst/>
          </a:prstGeom>
          <a:noFill/>
          <a:ln>
            <a:noFill/>
          </a:ln>
        </p:spPr>
        <p:txBody>
          <a:bodyPr anchorCtr="0" anchor="t" bIns="0" lIns="0" spcFirstLastPara="1" rIns="0" wrap="square" tIns="0">
            <a:noAutofit/>
          </a:bodyPr>
          <a:lstStyle>
            <a:lvl1pPr indent="0" lvl="0" marL="0" marR="0" algn="r">
              <a:spcBef>
                <a:spcPts val="0"/>
              </a:spcBef>
              <a:buNone/>
              <a:defRPr b="0" i="0" sz="900" u="none" cap="none" strike="noStrike">
                <a:solidFill>
                  <a:srgbClr val="9BA9B8"/>
                </a:solidFill>
                <a:latin typeface="Noto Sans"/>
                <a:ea typeface="Noto Sans"/>
                <a:cs typeface="Noto Sans"/>
                <a:sym typeface="Noto Sans"/>
              </a:defRPr>
            </a:lvl1pPr>
            <a:lvl2pPr indent="0" lvl="1" marL="0" marR="0" algn="r">
              <a:spcBef>
                <a:spcPts val="0"/>
              </a:spcBef>
              <a:buNone/>
              <a:defRPr b="0" i="0" sz="900" u="none" cap="none" strike="noStrike">
                <a:solidFill>
                  <a:srgbClr val="9BA9B8"/>
                </a:solidFill>
                <a:latin typeface="Noto Sans"/>
                <a:ea typeface="Noto Sans"/>
                <a:cs typeface="Noto Sans"/>
                <a:sym typeface="Noto Sans"/>
              </a:defRPr>
            </a:lvl2pPr>
            <a:lvl3pPr indent="0" lvl="2" marL="0" marR="0" algn="r">
              <a:spcBef>
                <a:spcPts val="0"/>
              </a:spcBef>
              <a:buNone/>
              <a:defRPr b="0" i="0" sz="900" u="none" cap="none" strike="noStrike">
                <a:solidFill>
                  <a:srgbClr val="9BA9B8"/>
                </a:solidFill>
                <a:latin typeface="Noto Sans"/>
                <a:ea typeface="Noto Sans"/>
                <a:cs typeface="Noto Sans"/>
                <a:sym typeface="Noto Sans"/>
              </a:defRPr>
            </a:lvl3pPr>
            <a:lvl4pPr indent="0" lvl="3" marL="0" marR="0" algn="r">
              <a:spcBef>
                <a:spcPts val="0"/>
              </a:spcBef>
              <a:buNone/>
              <a:defRPr b="0" i="0" sz="900" u="none" cap="none" strike="noStrike">
                <a:solidFill>
                  <a:srgbClr val="9BA9B8"/>
                </a:solidFill>
                <a:latin typeface="Noto Sans"/>
                <a:ea typeface="Noto Sans"/>
                <a:cs typeface="Noto Sans"/>
                <a:sym typeface="Noto Sans"/>
              </a:defRPr>
            </a:lvl4pPr>
            <a:lvl5pPr indent="0" lvl="4" marL="0" marR="0" algn="r">
              <a:spcBef>
                <a:spcPts val="0"/>
              </a:spcBef>
              <a:buNone/>
              <a:defRPr b="0" i="0" sz="900" u="none" cap="none" strike="noStrike">
                <a:solidFill>
                  <a:srgbClr val="9BA9B8"/>
                </a:solidFill>
                <a:latin typeface="Noto Sans"/>
                <a:ea typeface="Noto Sans"/>
                <a:cs typeface="Noto Sans"/>
                <a:sym typeface="Noto Sans"/>
              </a:defRPr>
            </a:lvl5pPr>
            <a:lvl6pPr indent="0" lvl="5" marL="0" marR="0" algn="r">
              <a:spcBef>
                <a:spcPts val="0"/>
              </a:spcBef>
              <a:buNone/>
              <a:defRPr b="0" i="0" sz="900" u="none" cap="none" strike="noStrike">
                <a:solidFill>
                  <a:srgbClr val="9BA9B8"/>
                </a:solidFill>
                <a:latin typeface="Noto Sans"/>
                <a:ea typeface="Noto Sans"/>
                <a:cs typeface="Noto Sans"/>
                <a:sym typeface="Noto Sans"/>
              </a:defRPr>
            </a:lvl6pPr>
            <a:lvl7pPr indent="0" lvl="6" marL="0" marR="0" algn="r">
              <a:spcBef>
                <a:spcPts val="0"/>
              </a:spcBef>
              <a:buNone/>
              <a:defRPr b="0" i="0" sz="900" u="none" cap="none" strike="noStrike">
                <a:solidFill>
                  <a:srgbClr val="9BA9B8"/>
                </a:solidFill>
                <a:latin typeface="Noto Sans"/>
                <a:ea typeface="Noto Sans"/>
                <a:cs typeface="Noto Sans"/>
                <a:sym typeface="Noto Sans"/>
              </a:defRPr>
            </a:lvl7pPr>
            <a:lvl8pPr indent="0" lvl="7" marL="0" marR="0" algn="r">
              <a:spcBef>
                <a:spcPts val="0"/>
              </a:spcBef>
              <a:buNone/>
              <a:defRPr b="0" i="0" sz="900" u="none" cap="none" strike="noStrike">
                <a:solidFill>
                  <a:srgbClr val="9BA9B8"/>
                </a:solidFill>
                <a:latin typeface="Noto Sans"/>
                <a:ea typeface="Noto Sans"/>
                <a:cs typeface="Noto Sans"/>
                <a:sym typeface="Noto Sans"/>
              </a:defRPr>
            </a:lvl8pPr>
            <a:lvl9pPr indent="0" lvl="8" marL="0" marR="0" algn="r">
              <a:spcBef>
                <a:spcPts val="0"/>
              </a:spcBef>
              <a:buNone/>
              <a:defRPr b="0" i="0" sz="900" u="none" cap="none" strike="noStrike">
                <a:solidFill>
                  <a:srgbClr val="9BA9B8"/>
                </a:solidFill>
                <a:latin typeface="Noto Sans"/>
                <a:ea typeface="Noto Sans"/>
                <a:cs typeface="Noto Sans"/>
                <a:sym typeface="Noto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21"/>
          <p:cNvSpPr txBox="1"/>
          <p:nvPr>
            <p:ph idx="12" type="sldNum"/>
          </p:nvPr>
        </p:nvSpPr>
        <p:spPr>
          <a:xfrm>
            <a:off x="11475720" y="6510528"/>
            <a:ext cx="274320" cy="164592"/>
          </a:xfrm>
          <a:prstGeom prst="rect">
            <a:avLst/>
          </a:prstGeom>
          <a:noFill/>
          <a:ln>
            <a:noFill/>
          </a:ln>
        </p:spPr>
        <p:txBody>
          <a:bodyPr anchorCtr="0" anchor="t" bIns="0" lIns="0" spcFirstLastPara="1" rIns="0" wrap="square" tIns="0">
            <a:noAutofit/>
          </a:bodyPr>
          <a:lstStyle>
            <a:lvl1pPr indent="0" lvl="0" marL="0" marR="0" rtl="0" algn="r">
              <a:spcBef>
                <a:spcPts val="0"/>
              </a:spcBef>
              <a:buNone/>
              <a:defRPr b="0" i="0" sz="900" u="none" cap="none" strike="noStrike">
                <a:solidFill>
                  <a:srgbClr val="9BA9B8"/>
                </a:solidFill>
                <a:latin typeface="Noto Sans"/>
                <a:ea typeface="Noto Sans"/>
                <a:cs typeface="Noto Sans"/>
                <a:sym typeface="Noto Sans"/>
              </a:defRPr>
            </a:lvl1pPr>
            <a:lvl2pPr indent="0" lvl="1" marL="0" marR="0" rtl="0" algn="r">
              <a:spcBef>
                <a:spcPts val="0"/>
              </a:spcBef>
              <a:buNone/>
              <a:defRPr b="0" i="0" sz="900" u="none" cap="none" strike="noStrike">
                <a:solidFill>
                  <a:srgbClr val="9BA9B8"/>
                </a:solidFill>
                <a:latin typeface="Noto Sans"/>
                <a:ea typeface="Noto Sans"/>
                <a:cs typeface="Noto Sans"/>
                <a:sym typeface="Noto Sans"/>
              </a:defRPr>
            </a:lvl2pPr>
            <a:lvl3pPr indent="0" lvl="2" marL="0" marR="0" rtl="0" algn="r">
              <a:spcBef>
                <a:spcPts val="0"/>
              </a:spcBef>
              <a:buNone/>
              <a:defRPr b="0" i="0" sz="900" u="none" cap="none" strike="noStrike">
                <a:solidFill>
                  <a:srgbClr val="9BA9B8"/>
                </a:solidFill>
                <a:latin typeface="Noto Sans"/>
                <a:ea typeface="Noto Sans"/>
                <a:cs typeface="Noto Sans"/>
                <a:sym typeface="Noto Sans"/>
              </a:defRPr>
            </a:lvl3pPr>
            <a:lvl4pPr indent="0" lvl="3" marL="0" marR="0" rtl="0" algn="r">
              <a:spcBef>
                <a:spcPts val="0"/>
              </a:spcBef>
              <a:buNone/>
              <a:defRPr b="0" i="0" sz="900" u="none" cap="none" strike="noStrike">
                <a:solidFill>
                  <a:srgbClr val="9BA9B8"/>
                </a:solidFill>
                <a:latin typeface="Noto Sans"/>
                <a:ea typeface="Noto Sans"/>
                <a:cs typeface="Noto Sans"/>
                <a:sym typeface="Noto Sans"/>
              </a:defRPr>
            </a:lvl4pPr>
            <a:lvl5pPr indent="0" lvl="4" marL="0" marR="0" rtl="0" algn="r">
              <a:spcBef>
                <a:spcPts val="0"/>
              </a:spcBef>
              <a:buNone/>
              <a:defRPr b="0" i="0" sz="900" u="none" cap="none" strike="noStrike">
                <a:solidFill>
                  <a:srgbClr val="9BA9B8"/>
                </a:solidFill>
                <a:latin typeface="Noto Sans"/>
                <a:ea typeface="Noto Sans"/>
                <a:cs typeface="Noto Sans"/>
                <a:sym typeface="Noto Sans"/>
              </a:defRPr>
            </a:lvl5pPr>
            <a:lvl6pPr indent="0" lvl="5" marL="0" marR="0" rtl="0" algn="r">
              <a:spcBef>
                <a:spcPts val="0"/>
              </a:spcBef>
              <a:buNone/>
              <a:defRPr b="0" i="0" sz="900" u="none" cap="none" strike="noStrike">
                <a:solidFill>
                  <a:srgbClr val="9BA9B8"/>
                </a:solidFill>
                <a:latin typeface="Noto Sans"/>
                <a:ea typeface="Noto Sans"/>
                <a:cs typeface="Noto Sans"/>
                <a:sym typeface="Noto Sans"/>
              </a:defRPr>
            </a:lvl6pPr>
            <a:lvl7pPr indent="0" lvl="6" marL="0" marR="0" rtl="0" algn="r">
              <a:spcBef>
                <a:spcPts val="0"/>
              </a:spcBef>
              <a:buNone/>
              <a:defRPr b="0" i="0" sz="900" u="none" cap="none" strike="noStrike">
                <a:solidFill>
                  <a:srgbClr val="9BA9B8"/>
                </a:solidFill>
                <a:latin typeface="Noto Sans"/>
                <a:ea typeface="Noto Sans"/>
                <a:cs typeface="Noto Sans"/>
                <a:sym typeface="Noto Sans"/>
              </a:defRPr>
            </a:lvl7pPr>
            <a:lvl8pPr indent="0" lvl="7" marL="0" marR="0" rtl="0" algn="r">
              <a:spcBef>
                <a:spcPts val="0"/>
              </a:spcBef>
              <a:buNone/>
              <a:defRPr b="0" i="0" sz="900" u="none" cap="none" strike="noStrike">
                <a:solidFill>
                  <a:srgbClr val="9BA9B8"/>
                </a:solidFill>
                <a:latin typeface="Noto Sans"/>
                <a:ea typeface="Noto Sans"/>
                <a:cs typeface="Noto Sans"/>
                <a:sym typeface="Noto Sans"/>
              </a:defRPr>
            </a:lvl8pPr>
            <a:lvl9pPr indent="0" lvl="8" marL="0" marR="0" rtl="0" algn="r">
              <a:spcBef>
                <a:spcPts val="0"/>
              </a:spcBef>
              <a:buNone/>
              <a:defRPr b="0" i="0" sz="900" u="none" cap="none" strike="noStrike">
                <a:solidFill>
                  <a:srgbClr val="9BA9B8"/>
                </a:solidFill>
                <a:latin typeface="Noto Sans"/>
                <a:ea typeface="Noto Sans"/>
                <a:cs typeface="Noto Sans"/>
                <a:sym typeface="Noto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846"/>
        </a:solidFill>
      </p:bgPr>
    </p:bg>
    <p:spTree>
      <p:nvGrpSpPr>
        <p:cNvPr id="21" name="Shape 21"/>
        <p:cNvGrpSpPr/>
        <p:nvPr/>
      </p:nvGrpSpPr>
      <p:grpSpPr>
        <a:xfrm>
          <a:off x="0" y="0"/>
          <a:ext cx="0" cy="0"/>
          <a:chOff x="0" y="0"/>
          <a:chExt cx="0" cy="0"/>
        </a:xfrm>
      </p:grpSpPr>
      <p:sp>
        <p:nvSpPr>
          <p:cNvPr id="22" name="Google Shape;22;p1"/>
          <p:cNvSpPr/>
          <p:nvPr/>
        </p:nvSpPr>
        <p:spPr>
          <a:xfrm>
            <a:off x="9902952" y="411480"/>
            <a:ext cx="1783080" cy="1783080"/>
          </a:xfrm>
          <a:prstGeom prst="ellipse">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10287000" y="4709160"/>
            <a:ext cx="1325880" cy="1325880"/>
          </a:xfrm>
          <a:prstGeom prst="ellipse">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749808" y="658368"/>
            <a:ext cx="29260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E4D0"/>
              </a:buClr>
              <a:buSzPts val="1600"/>
              <a:buFont typeface="Noto Sans"/>
              <a:buNone/>
            </a:pPr>
            <a:r>
              <a:rPr b="1" i="0" lang="en-US" sz="1600" u="none" cap="none" strike="noStrike">
                <a:solidFill>
                  <a:srgbClr val="42E4D0"/>
                </a:solidFill>
                <a:latin typeface="Noto Sans"/>
                <a:ea typeface="Noto Sans"/>
                <a:cs typeface="Noto Sans"/>
                <a:sym typeface="Noto Sans"/>
              </a:rPr>
              <a:t>ZipChatGo | 집찾GO</a:t>
            </a:r>
            <a:endParaRPr b="0" i="0" sz="1600" u="none" cap="none" strike="noStrike">
              <a:solidFill>
                <a:schemeClr val="dk1"/>
              </a:solidFill>
              <a:latin typeface="Noto Sans"/>
              <a:ea typeface="Noto Sans"/>
              <a:cs typeface="Noto Sans"/>
              <a:sym typeface="Noto Sans"/>
            </a:endParaRPr>
          </a:p>
        </p:txBody>
      </p:sp>
      <p:sp>
        <p:nvSpPr>
          <p:cNvPr id="25" name="Google Shape;25;p1"/>
          <p:cNvSpPr/>
          <p:nvPr/>
        </p:nvSpPr>
        <p:spPr>
          <a:xfrm>
            <a:off x="749808" y="1325880"/>
            <a:ext cx="7223760" cy="1143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FFFFF"/>
              </a:buClr>
              <a:buSzPts val="3000"/>
              <a:buFont typeface="Noto Sans"/>
              <a:buNone/>
            </a:pPr>
            <a:r>
              <a:rPr b="1" i="0" lang="en-US" sz="3000" u="none" cap="none" strike="noStrike">
                <a:solidFill>
                  <a:srgbClr val="FFFFFF"/>
                </a:solidFill>
                <a:latin typeface="Noto Sans"/>
                <a:ea typeface="Noto Sans"/>
                <a:cs typeface="Noto Sans"/>
                <a:sym typeface="Noto Sans"/>
              </a:rPr>
              <a:t>AI와 지도·데이터를 연결한</a:t>
            </a:r>
            <a:endParaRPr b="0" i="0" sz="300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FFFFFF"/>
              </a:buClr>
              <a:buSzPts val="3000"/>
              <a:buFont typeface="Noto Sans"/>
              <a:buNone/>
            </a:pPr>
            <a:r>
              <a:rPr b="1" i="0" lang="en-US" sz="3000" u="none" cap="none" strike="noStrike">
                <a:solidFill>
                  <a:srgbClr val="FFFFFF"/>
                </a:solidFill>
                <a:latin typeface="Noto Sans"/>
                <a:ea typeface="Noto Sans"/>
                <a:cs typeface="Noto Sans"/>
                <a:sym typeface="Noto Sans"/>
              </a:rPr>
              <a:t>부동산 통합 서비스</a:t>
            </a:r>
            <a:endParaRPr b="0" i="0" sz="3000" u="none" cap="none" strike="noStrike">
              <a:solidFill>
                <a:schemeClr val="dk1"/>
              </a:solidFill>
              <a:latin typeface="Noto Sans"/>
              <a:ea typeface="Noto Sans"/>
              <a:cs typeface="Noto Sans"/>
              <a:sym typeface="Noto Sans"/>
            </a:endParaRPr>
          </a:p>
        </p:txBody>
      </p:sp>
      <p:sp>
        <p:nvSpPr>
          <p:cNvPr id="26" name="Google Shape;26;p1"/>
          <p:cNvSpPr/>
          <p:nvPr/>
        </p:nvSpPr>
        <p:spPr>
          <a:xfrm>
            <a:off x="768096" y="2724912"/>
            <a:ext cx="81381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D9E5"/>
              </a:buClr>
              <a:buSzPts val="1550"/>
              <a:buFont typeface="Noto Sans"/>
              <a:buNone/>
            </a:pPr>
            <a:r>
              <a:rPr b="0" i="0" lang="en-US" sz="1550" u="none" cap="none" strike="noStrike">
                <a:solidFill>
                  <a:srgbClr val="CFD9E5"/>
                </a:solidFill>
                <a:latin typeface="Noto Sans"/>
                <a:ea typeface="Noto Sans"/>
                <a:cs typeface="Noto Sans"/>
                <a:sym typeface="Noto Sans"/>
              </a:rPr>
              <a:t>서비스 소개 · 지도 탐색 + AI Agent · 부동산 분석 · 매물 등록/회원/고객센터</a:t>
            </a:r>
            <a:endParaRPr b="0" i="0" sz="1550" u="none" cap="none" strike="noStrike">
              <a:solidFill>
                <a:schemeClr val="dk1"/>
              </a:solidFill>
              <a:latin typeface="Noto Sans"/>
              <a:ea typeface="Noto Sans"/>
              <a:cs typeface="Noto Sans"/>
              <a:sym typeface="Noto Sans"/>
            </a:endParaRPr>
          </a:p>
        </p:txBody>
      </p:sp>
      <p:cxnSp>
        <p:nvCxnSpPr>
          <p:cNvPr id="27" name="Google Shape;27;p1"/>
          <p:cNvCxnSpPr/>
          <p:nvPr/>
        </p:nvCxnSpPr>
        <p:spPr>
          <a:xfrm>
            <a:off x="758952" y="3218688"/>
            <a:ext cx="7178040" cy="0"/>
          </a:xfrm>
          <a:prstGeom prst="straightConnector1">
            <a:avLst/>
          </a:prstGeom>
          <a:noFill/>
          <a:ln cap="flat" cmpd="sng" w="15225">
            <a:solidFill>
              <a:srgbClr val="5F7892"/>
            </a:solidFill>
            <a:prstDash val="solid"/>
            <a:round/>
            <a:headEnd len="sm" w="sm" type="none"/>
            <a:tailEnd len="sm" w="sm" type="none"/>
          </a:ln>
        </p:spPr>
      </p:cxnSp>
      <p:sp>
        <p:nvSpPr>
          <p:cNvPr id="28" name="Google Shape;28;p1"/>
          <p:cNvSpPr/>
          <p:nvPr/>
        </p:nvSpPr>
        <p:spPr>
          <a:xfrm>
            <a:off x="768096" y="3547872"/>
            <a:ext cx="7086600" cy="91440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F1F5F9"/>
              </a:buClr>
              <a:buSzPts val="1850"/>
              <a:buFont typeface="Noto Sans"/>
              <a:buNone/>
            </a:pPr>
            <a:r>
              <a:rPr b="1" i="0" lang="en-US" sz="1850" u="none" cap="none" strike="noStrike">
                <a:solidFill>
                  <a:srgbClr val="F1F5F9"/>
                </a:solidFill>
                <a:latin typeface="Noto Sans"/>
                <a:ea typeface="Noto Sans"/>
                <a:cs typeface="Noto Sans"/>
                <a:sym typeface="Noto Sans"/>
              </a:rPr>
              <a:t>지도 탐색부터 자연어 Agent, 실거래 분석, 매물 등록과 고객지원까지</a:t>
            </a:r>
            <a:endParaRPr b="0" i="0" sz="185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F1F5F9"/>
              </a:buClr>
              <a:buSzPts val="1850"/>
              <a:buFont typeface="Noto Sans"/>
              <a:buNone/>
            </a:pPr>
            <a:r>
              <a:rPr b="1" i="0" lang="en-US" sz="1850" u="none" cap="none" strike="noStrike">
                <a:solidFill>
                  <a:srgbClr val="F1F5F9"/>
                </a:solidFill>
                <a:latin typeface="Noto Sans"/>
                <a:ea typeface="Noto Sans"/>
                <a:cs typeface="Noto Sans"/>
                <a:sym typeface="Noto Sans"/>
              </a:rPr>
              <a:t>하나의 사용자 경험으로 연결했습니다.</a:t>
            </a:r>
            <a:endParaRPr b="0" i="0" sz="1850" u="none" cap="none" strike="noStrike">
              <a:solidFill>
                <a:schemeClr val="dk1"/>
              </a:solidFill>
              <a:latin typeface="Noto Sans"/>
              <a:ea typeface="Noto Sans"/>
              <a:cs typeface="Noto Sans"/>
              <a:sym typeface="Noto Sans"/>
            </a:endParaRPr>
          </a:p>
        </p:txBody>
      </p:sp>
      <p:sp>
        <p:nvSpPr>
          <p:cNvPr id="29" name="Google Shape;29;p1"/>
          <p:cNvSpPr/>
          <p:nvPr/>
        </p:nvSpPr>
        <p:spPr>
          <a:xfrm>
            <a:off x="768096" y="6126480"/>
            <a:ext cx="2194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1A5B9"/>
              </a:buClr>
              <a:buSzPts val="1150"/>
              <a:buFont typeface="Noto Sans"/>
              <a:buNone/>
            </a:pPr>
            <a:r>
              <a:rPr b="0" i="0" lang="en-US" sz="1150" u="none" cap="none" strike="noStrike">
                <a:solidFill>
                  <a:srgbClr val="91A5B9"/>
                </a:solidFill>
                <a:latin typeface="Noto Sans"/>
                <a:ea typeface="Noto Sans"/>
                <a:cs typeface="Noto Sans"/>
                <a:sym typeface="Noto Sans"/>
              </a:rPr>
              <a:t>ZipChatGo Team</a:t>
            </a:r>
            <a:endParaRPr b="0" i="0" sz="1150" u="none" cap="none" strike="noStrike">
              <a:solidFill>
                <a:schemeClr val="dk1"/>
              </a:solidFill>
              <a:latin typeface="Noto Sans"/>
              <a:ea typeface="Noto Sans"/>
              <a:cs typeface="Noto Sans"/>
              <a:sym typeface="No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sp>
        <p:nvSpPr>
          <p:cNvPr id="35" name="Google Shape;35;p2"/>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왜 집찾GO를 만들었나?</a:t>
            </a:r>
            <a:endParaRPr b="0" i="0" sz="2700" u="none" cap="none" strike="noStrike">
              <a:solidFill>
                <a:schemeClr val="dk1"/>
              </a:solidFill>
              <a:latin typeface="Noto Sans"/>
              <a:ea typeface="Noto Sans"/>
              <a:cs typeface="Noto Sans"/>
              <a:sym typeface="Noto Sans"/>
            </a:endParaRPr>
          </a:p>
        </p:txBody>
      </p:sp>
      <p:sp>
        <p:nvSpPr>
          <p:cNvPr id="36" name="Google Shape;36;p2"/>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매물 검색만이 아니라 탐색·판단·상담·등록까지 이어지는 부동산 사용자 경험을 목표로 했습니다.</a:t>
            </a:r>
            <a:endParaRPr b="0" i="0" sz="1450" u="none" cap="none" strike="noStrike">
              <a:solidFill>
                <a:schemeClr val="dk1"/>
              </a:solidFill>
              <a:latin typeface="Noto Sans"/>
              <a:ea typeface="Noto Sans"/>
              <a:cs typeface="Noto Sans"/>
              <a:sym typeface="Noto Sans"/>
            </a:endParaRPr>
          </a:p>
        </p:txBody>
      </p:sp>
      <p:sp>
        <p:nvSpPr>
          <p:cNvPr id="37" name="Google Shape;37;p2"/>
          <p:cNvSpPr/>
          <p:nvPr/>
        </p:nvSpPr>
        <p:spPr>
          <a:xfrm>
            <a:off x="658368" y="1920240"/>
            <a:ext cx="2542032" cy="2423160"/>
          </a:xfrm>
          <a:prstGeom prst="roundRect">
            <a:avLst>
              <a:gd fmla="val 3019"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658368" y="1920240"/>
            <a:ext cx="73152" cy="2423160"/>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841248" y="2084832"/>
            <a:ext cx="217627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850"/>
              <a:buFont typeface="Noto Sans"/>
              <a:buNone/>
            </a:pPr>
            <a:r>
              <a:rPr b="1" i="0" lang="en-US" sz="1850" u="none" cap="none" strike="noStrike">
                <a:solidFill>
                  <a:srgbClr val="17324D"/>
                </a:solidFill>
                <a:latin typeface="Noto Sans"/>
                <a:ea typeface="Noto Sans"/>
                <a:cs typeface="Noto Sans"/>
                <a:sym typeface="Noto Sans"/>
              </a:rPr>
              <a:t>정보가 흩어짐</a:t>
            </a:r>
            <a:endParaRPr b="0" i="0" sz="1850" u="none" cap="none" strike="noStrike">
              <a:solidFill>
                <a:schemeClr val="dk1"/>
              </a:solidFill>
              <a:latin typeface="Noto Sans"/>
              <a:ea typeface="Noto Sans"/>
              <a:cs typeface="Noto Sans"/>
              <a:sym typeface="Noto Sans"/>
            </a:endParaRPr>
          </a:p>
        </p:txBody>
      </p:sp>
      <p:sp>
        <p:nvSpPr>
          <p:cNvPr id="40" name="Google Shape;40;p2"/>
          <p:cNvSpPr/>
          <p:nvPr/>
        </p:nvSpPr>
        <p:spPr>
          <a:xfrm>
            <a:off x="841248" y="2487168"/>
            <a:ext cx="2176272" cy="170992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540"/>
              <a:buFont typeface="Noto Sans"/>
              <a:buNone/>
            </a:pPr>
            <a:r>
              <a:rPr b="0" i="0" lang="en-US" sz="1540" u="none" cap="none" strike="noStrike">
                <a:solidFill>
                  <a:srgbClr val="64778A"/>
                </a:solidFill>
                <a:latin typeface="Noto Sans"/>
                <a:ea typeface="Noto Sans"/>
                <a:cs typeface="Noto Sans"/>
                <a:sym typeface="Noto Sans"/>
              </a:rPr>
              <a:t>매물, 주변 시설, 실거래 정보와 법률 정보가 여러 화면과 서비스에 분산되어 있습니다.</a:t>
            </a:r>
            <a:endParaRPr b="0" i="0" sz="1540" u="none" cap="none" strike="noStrike">
              <a:solidFill>
                <a:schemeClr val="dk1"/>
              </a:solidFill>
              <a:latin typeface="Noto Sans"/>
              <a:ea typeface="Noto Sans"/>
              <a:cs typeface="Noto Sans"/>
              <a:sym typeface="Noto Sans"/>
            </a:endParaRPr>
          </a:p>
        </p:txBody>
      </p:sp>
      <p:sp>
        <p:nvSpPr>
          <p:cNvPr id="41" name="Google Shape;41;p2"/>
          <p:cNvSpPr/>
          <p:nvPr/>
        </p:nvSpPr>
        <p:spPr>
          <a:xfrm>
            <a:off x="3474720" y="1920240"/>
            <a:ext cx="2542032" cy="2423160"/>
          </a:xfrm>
          <a:prstGeom prst="roundRect">
            <a:avLst>
              <a:gd fmla="val 3019"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3474720" y="1920240"/>
            <a:ext cx="73152" cy="2423160"/>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3657600" y="2084832"/>
            <a:ext cx="217627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850"/>
              <a:buFont typeface="Noto Sans"/>
              <a:buNone/>
            </a:pPr>
            <a:r>
              <a:rPr b="1" i="0" lang="en-US" sz="1850" u="none" cap="none" strike="noStrike">
                <a:solidFill>
                  <a:srgbClr val="17324D"/>
                </a:solidFill>
                <a:latin typeface="Noto Sans"/>
                <a:ea typeface="Noto Sans"/>
                <a:cs typeface="Noto Sans"/>
                <a:sym typeface="Noto Sans"/>
              </a:rPr>
              <a:t>반복적인 지도 조작</a:t>
            </a:r>
            <a:endParaRPr b="0" i="0" sz="1850" u="none" cap="none" strike="noStrike">
              <a:solidFill>
                <a:schemeClr val="dk1"/>
              </a:solidFill>
              <a:latin typeface="Noto Sans"/>
              <a:ea typeface="Noto Sans"/>
              <a:cs typeface="Noto Sans"/>
              <a:sym typeface="Noto Sans"/>
            </a:endParaRPr>
          </a:p>
        </p:txBody>
      </p:sp>
      <p:sp>
        <p:nvSpPr>
          <p:cNvPr id="44" name="Google Shape;44;p2"/>
          <p:cNvSpPr/>
          <p:nvPr/>
        </p:nvSpPr>
        <p:spPr>
          <a:xfrm>
            <a:off x="3657600" y="2487168"/>
            <a:ext cx="2176272" cy="170992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540"/>
              <a:buFont typeface="Noto Sans"/>
              <a:buNone/>
            </a:pPr>
            <a:r>
              <a:rPr b="0" i="0" lang="en-US" sz="1540" u="none" cap="none" strike="noStrike">
                <a:solidFill>
                  <a:srgbClr val="64778A"/>
                </a:solidFill>
                <a:latin typeface="Noto Sans"/>
                <a:ea typeface="Noto Sans"/>
                <a:cs typeface="Noto Sans"/>
                <a:sym typeface="Noto Sans"/>
              </a:rPr>
              <a:t>사용자가 필터를 바꾸고 지도를 이동하면서 여러 매물을 직접 비교해야 합니다.</a:t>
            </a:r>
            <a:endParaRPr b="0" i="0" sz="1540" u="none" cap="none" strike="noStrike">
              <a:solidFill>
                <a:schemeClr val="dk1"/>
              </a:solidFill>
              <a:latin typeface="Noto Sans"/>
              <a:ea typeface="Noto Sans"/>
              <a:cs typeface="Noto Sans"/>
              <a:sym typeface="Noto Sans"/>
            </a:endParaRPr>
          </a:p>
        </p:txBody>
      </p:sp>
      <p:sp>
        <p:nvSpPr>
          <p:cNvPr id="45" name="Google Shape;45;p2"/>
          <p:cNvSpPr/>
          <p:nvPr/>
        </p:nvSpPr>
        <p:spPr>
          <a:xfrm>
            <a:off x="6291072" y="1920240"/>
            <a:ext cx="2542032" cy="2423160"/>
          </a:xfrm>
          <a:prstGeom prst="roundRect">
            <a:avLst>
              <a:gd fmla="val 3019"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6291072" y="1920240"/>
            <a:ext cx="73152" cy="2423160"/>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6473952" y="2084832"/>
            <a:ext cx="217627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850"/>
              <a:buFont typeface="Noto Sans"/>
              <a:buNone/>
            </a:pPr>
            <a:r>
              <a:rPr b="1" i="0" lang="en-US" sz="1850" u="none" cap="none" strike="noStrike">
                <a:solidFill>
                  <a:srgbClr val="17324D"/>
                </a:solidFill>
                <a:latin typeface="Noto Sans"/>
                <a:ea typeface="Noto Sans"/>
                <a:cs typeface="Noto Sans"/>
                <a:sym typeface="Noto Sans"/>
              </a:rPr>
              <a:t>맥락이 끊김</a:t>
            </a:r>
            <a:endParaRPr b="0" i="0" sz="1850" u="none" cap="none" strike="noStrike">
              <a:solidFill>
                <a:schemeClr val="dk1"/>
              </a:solidFill>
              <a:latin typeface="Noto Sans"/>
              <a:ea typeface="Noto Sans"/>
              <a:cs typeface="Noto Sans"/>
              <a:sym typeface="Noto Sans"/>
            </a:endParaRPr>
          </a:p>
        </p:txBody>
      </p:sp>
      <p:sp>
        <p:nvSpPr>
          <p:cNvPr id="48" name="Google Shape;48;p2"/>
          <p:cNvSpPr/>
          <p:nvPr/>
        </p:nvSpPr>
        <p:spPr>
          <a:xfrm>
            <a:off x="6473952" y="2487168"/>
            <a:ext cx="2176272" cy="170992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540"/>
              <a:buFont typeface="Noto Sans"/>
              <a:buNone/>
            </a:pPr>
            <a:r>
              <a:rPr b="0" i="0" lang="en-US" sz="1540" u="none" cap="none" strike="noStrike">
                <a:solidFill>
                  <a:srgbClr val="64778A"/>
                </a:solidFill>
                <a:latin typeface="Noto Sans"/>
                <a:ea typeface="Noto Sans"/>
                <a:cs typeface="Noto Sans"/>
                <a:sym typeface="Noto Sans"/>
              </a:rPr>
              <a:t>“그중 첫 번째”, “그 매물 근처” 같은 후속 질문이 기존 검색 UI에서는 어렵습니다.</a:t>
            </a:r>
            <a:endParaRPr b="0" i="0" sz="1540" u="none" cap="none" strike="noStrike">
              <a:solidFill>
                <a:schemeClr val="dk1"/>
              </a:solidFill>
              <a:latin typeface="Noto Sans"/>
              <a:ea typeface="Noto Sans"/>
              <a:cs typeface="Noto Sans"/>
              <a:sym typeface="Noto Sans"/>
            </a:endParaRPr>
          </a:p>
        </p:txBody>
      </p:sp>
      <p:sp>
        <p:nvSpPr>
          <p:cNvPr id="49" name="Google Shape;49;p2"/>
          <p:cNvSpPr/>
          <p:nvPr/>
        </p:nvSpPr>
        <p:spPr>
          <a:xfrm>
            <a:off x="9107424" y="1920240"/>
            <a:ext cx="2542032" cy="2423160"/>
          </a:xfrm>
          <a:prstGeom prst="roundRect">
            <a:avLst>
              <a:gd fmla="val 3019"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9107424" y="1920240"/>
            <a:ext cx="73152" cy="2423160"/>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9290304" y="2084832"/>
            <a:ext cx="2176272"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850"/>
              <a:buFont typeface="Noto Sans"/>
              <a:buNone/>
            </a:pPr>
            <a:r>
              <a:rPr b="1" i="0" lang="en-US" sz="1850" u="none" cap="none" strike="noStrike">
                <a:solidFill>
                  <a:srgbClr val="17324D"/>
                </a:solidFill>
                <a:latin typeface="Noto Sans"/>
                <a:ea typeface="Noto Sans"/>
                <a:cs typeface="Noto Sans"/>
                <a:sym typeface="Noto Sans"/>
              </a:rPr>
              <a:t>거래 판단이 어려움</a:t>
            </a:r>
            <a:endParaRPr b="0" i="0" sz="1850" u="none" cap="none" strike="noStrike">
              <a:solidFill>
                <a:schemeClr val="dk1"/>
              </a:solidFill>
              <a:latin typeface="Noto Sans"/>
              <a:ea typeface="Noto Sans"/>
              <a:cs typeface="Noto Sans"/>
              <a:sym typeface="Noto Sans"/>
            </a:endParaRPr>
          </a:p>
        </p:txBody>
      </p:sp>
      <p:sp>
        <p:nvSpPr>
          <p:cNvPr id="52" name="Google Shape;52;p2"/>
          <p:cNvSpPr/>
          <p:nvPr/>
        </p:nvSpPr>
        <p:spPr>
          <a:xfrm>
            <a:off x="9290304" y="2487168"/>
            <a:ext cx="2176272" cy="170992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540"/>
              <a:buFont typeface="Noto Sans"/>
              <a:buNone/>
            </a:pPr>
            <a:r>
              <a:rPr b="0" i="0" lang="en-US" sz="1540" u="none" cap="none" strike="noStrike">
                <a:solidFill>
                  <a:srgbClr val="64778A"/>
                </a:solidFill>
                <a:latin typeface="Noto Sans"/>
                <a:ea typeface="Noto Sans"/>
                <a:cs typeface="Noto Sans"/>
                <a:sym typeface="Noto Sans"/>
              </a:rPr>
              <a:t>가격뿐 아니라 시장 흐름, 비용, 계약·임대차 정보까지 함께 확인할 필요가 있습니다.</a:t>
            </a:r>
            <a:endParaRPr b="0" i="0" sz="1540" u="none" cap="none" strike="noStrike">
              <a:solidFill>
                <a:schemeClr val="dk1"/>
              </a:solidFill>
              <a:latin typeface="Noto Sans"/>
              <a:ea typeface="Noto Sans"/>
              <a:cs typeface="Noto Sans"/>
              <a:sym typeface="Noto Sans"/>
            </a:endParaRPr>
          </a:p>
        </p:txBody>
      </p:sp>
      <p:sp>
        <p:nvSpPr>
          <p:cNvPr id="53" name="Google Shape;53;p2"/>
          <p:cNvSpPr/>
          <p:nvPr/>
        </p:nvSpPr>
        <p:spPr>
          <a:xfrm>
            <a:off x="777240" y="5815584"/>
            <a:ext cx="10652760" cy="530352"/>
          </a:xfrm>
          <a:prstGeom prst="roundRect">
            <a:avLst>
              <a:gd fmla="val 10345"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1005840" y="5925312"/>
            <a:ext cx="10195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50"/>
              <a:buFont typeface="Noto Sans"/>
              <a:buNone/>
            </a:pPr>
            <a:r>
              <a:rPr b="1" i="0" lang="en-US" sz="1650" u="none" cap="none" strike="noStrike">
                <a:solidFill>
                  <a:srgbClr val="FFFFFF"/>
                </a:solidFill>
                <a:latin typeface="Noto Sans"/>
                <a:ea typeface="Noto Sans"/>
                <a:cs typeface="Noto Sans"/>
                <a:sym typeface="Noto Sans"/>
              </a:rPr>
              <a:t>목표 · “집을 찾는 과정”을 하나의 대화와 서비스 흐름으로 연결</a:t>
            </a:r>
            <a:endParaRPr b="0" i="0" sz="1650" u="none" cap="none" strike="noStrike">
              <a:solidFill>
                <a:schemeClr val="dk1"/>
              </a:solidFill>
              <a:latin typeface="Noto Sans"/>
              <a:ea typeface="Noto Sans"/>
              <a:cs typeface="Noto Sans"/>
              <a:sym typeface="Noto Sans"/>
            </a:endParaRPr>
          </a:p>
        </p:txBody>
      </p:sp>
      <p:sp>
        <p:nvSpPr>
          <p:cNvPr id="55" name="Google Shape;55;p2"/>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3"/>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4명이 맡은 4개 핵심 영역</a:t>
            </a:r>
            <a:endParaRPr b="0" i="0" sz="2700" u="none" cap="none" strike="noStrike">
              <a:solidFill>
                <a:schemeClr val="dk1"/>
              </a:solidFill>
              <a:latin typeface="Noto Sans"/>
              <a:ea typeface="Noto Sans"/>
              <a:cs typeface="Noto Sans"/>
              <a:sym typeface="Noto Sans"/>
            </a:endParaRPr>
          </a:p>
        </p:txBody>
      </p:sp>
      <p:sp>
        <p:nvSpPr>
          <p:cNvPr id="62" name="Google Shape;62;p3"/>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각 파트는 독립된 페이지가 아니라 하나의 사용자 여정으로 연결되도록 통합했습니다.</a:t>
            </a:r>
            <a:endParaRPr b="0" i="0" sz="1450" u="none" cap="none" strike="noStrike">
              <a:solidFill>
                <a:schemeClr val="dk1"/>
              </a:solidFill>
              <a:latin typeface="Noto Sans"/>
              <a:ea typeface="Noto Sans"/>
              <a:cs typeface="Noto Sans"/>
              <a:sym typeface="Noto Sans"/>
            </a:endParaRPr>
          </a:p>
        </p:txBody>
      </p:sp>
      <p:sp>
        <p:nvSpPr>
          <p:cNvPr id="63" name="Google Shape;63;p3"/>
          <p:cNvSpPr/>
          <p:nvPr/>
        </p:nvSpPr>
        <p:spPr>
          <a:xfrm>
            <a:off x="640080" y="1874520"/>
            <a:ext cx="2542032" cy="3246120"/>
          </a:xfrm>
          <a:prstGeom prst="roundRect">
            <a:avLst>
              <a:gd fmla="val 2518"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5D1DC">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822960" y="2075688"/>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98E8"/>
              </a:buClr>
              <a:buSzPts val="1800"/>
              <a:buFont typeface="Noto Sans"/>
              <a:buNone/>
            </a:pPr>
            <a:r>
              <a:rPr b="1" i="0" lang="en-US" sz="1800" u="none" cap="none" strike="noStrike">
                <a:solidFill>
                  <a:srgbClr val="2298E8"/>
                </a:solidFill>
                <a:latin typeface="Noto Sans"/>
                <a:ea typeface="Noto Sans"/>
                <a:cs typeface="Noto Sans"/>
                <a:sym typeface="Noto Sans"/>
              </a:rPr>
              <a:t>01</a:t>
            </a:r>
            <a:endParaRPr b="0" i="0" sz="1800" u="none" cap="none" strike="noStrike">
              <a:solidFill>
                <a:schemeClr val="dk1"/>
              </a:solidFill>
              <a:latin typeface="Noto Sans"/>
              <a:ea typeface="Noto Sans"/>
              <a:cs typeface="Noto Sans"/>
              <a:sym typeface="Noto Sans"/>
            </a:endParaRPr>
          </a:p>
        </p:txBody>
      </p:sp>
      <p:sp>
        <p:nvSpPr>
          <p:cNvPr id="65" name="Google Shape;65;p3"/>
          <p:cNvSpPr/>
          <p:nvPr/>
        </p:nvSpPr>
        <p:spPr>
          <a:xfrm>
            <a:off x="822960" y="2542032"/>
            <a:ext cx="2148840" cy="6583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24D"/>
              </a:buClr>
              <a:buSzPts val="2000"/>
              <a:buFont typeface="Noto Sans"/>
              <a:buNone/>
            </a:pPr>
            <a:r>
              <a:rPr b="1" i="0" lang="en-US" sz="2000" u="none" cap="none" strike="noStrike">
                <a:solidFill>
                  <a:srgbClr val="17324D"/>
                </a:solidFill>
                <a:latin typeface="Noto Sans"/>
                <a:ea typeface="Noto Sans"/>
                <a:cs typeface="Noto Sans"/>
                <a:sym typeface="Noto Sans"/>
              </a:rPr>
              <a:t>서비스 소개</a:t>
            </a:r>
            <a:endParaRPr b="0" i="0" sz="2000" u="none" cap="none" strike="noStrike">
              <a:solidFill>
                <a:schemeClr val="dk1"/>
              </a:solidFill>
              <a:latin typeface="Noto Sans"/>
              <a:ea typeface="Noto Sans"/>
              <a:cs typeface="Noto Sans"/>
              <a:sym typeface="Noto Sans"/>
            </a:endParaRPr>
          </a:p>
        </p:txBody>
      </p:sp>
      <p:sp>
        <p:nvSpPr>
          <p:cNvPr id="66" name="Google Shape;66;p3"/>
          <p:cNvSpPr/>
          <p:nvPr/>
        </p:nvSpPr>
        <p:spPr>
          <a:xfrm>
            <a:off x="822960" y="3401568"/>
            <a:ext cx="2148840" cy="8229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430"/>
              <a:buFont typeface="Noto Sans"/>
              <a:buNone/>
            </a:pPr>
            <a:r>
              <a:rPr b="0" i="0" lang="en-US" sz="1430" u="none" cap="none" strike="noStrike">
                <a:solidFill>
                  <a:srgbClr val="64778A"/>
                </a:solidFill>
                <a:latin typeface="Noto Sans"/>
                <a:ea typeface="Noto Sans"/>
                <a:cs typeface="Noto Sans"/>
                <a:sym typeface="Noto Sans"/>
              </a:rPr>
              <a:t>홈 · 서비스 소개</a:t>
            </a:r>
            <a:endParaRPr b="0" i="0" sz="143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64778A"/>
              </a:buClr>
              <a:buSzPts val="1430"/>
              <a:buFont typeface="Noto Sans"/>
              <a:buNone/>
            </a:pPr>
            <a:r>
              <a:rPr b="0" i="0" lang="en-US" sz="1430" u="none" cap="none" strike="noStrike">
                <a:solidFill>
                  <a:srgbClr val="64778A"/>
                </a:solidFill>
                <a:latin typeface="Noto Sans"/>
                <a:ea typeface="Noto Sans"/>
                <a:cs typeface="Noto Sans"/>
                <a:sym typeface="Noto Sans"/>
              </a:rPr>
              <a:t>모바일 모델하우스 · 중개 LIVE</a:t>
            </a:r>
            <a:endParaRPr b="0" i="0" sz="1430" u="none" cap="none" strike="noStrike">
              <a:solidFill>
                <a:schemeClr val="dk1"/>
              </a:solidFill>
              <a:latin typeface="Noto Sans"/>
              <a:ea typeface="Noto Sans"/>
              <a:cs typeface="Noto Sans"/>
              <a:sym typeface="Noto Sans"/>
            </a:endParaRPr>
          </a:p>
        </p:txBody>
      </p:sp>
      <p:cxnSp>
        <p:nvCxnSpPr>
          <p:cNvPr id="67" name="Google Shape;67;p3"/>
          <p:cNvCxnSpPr/>
          <p:nvPr/>
        </p:nvCxnSpPr>
        <p:spPr>
          <a:xfrm>
            <a:off x="822960" y="4425696"/>
            <a:ext cx="2103120" cy="0"/>
          </a:xfrm>
          <a:prstGeom prst="straightConnector1">
            <a:avLst/>
          </a:prstGeom>
          <a:noFill/>
          <a:ln cap="flat" cmpd="sng" w="12700">
            <a:solidFill>
              <a:srgbClr val="E4EBF2"/>
            </a:solidFill>
            <a:prstDash val="solid"/>
            <a:round/>
            <a:headEnd len="sm" w="sm" type="none"/>
            <a:tailEnd len="sm" w="sm" type="none"/>
          </a:ln>
        </p:spPr>
      </p:cxnSp>
      <p:sp>
        <p:nvSpPr>
          <p:cNvPr id="68" name="Google Shape;68;p3"/>
          <p:cNvSpPr/>
          <p:nvPr/>
        </p:nvSpPr>
        <p:spPr>
          <a:xfrm>
            <a:off x="822960" y="4590288"/>
            <a:ext cx="214884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24D"/>
              </a:buClr>
              <a:buSzPts val="1360"/>
              <a:buFont typeface="Noto Sans"/>
              <a:buNone/>
            </a:pPr>
            <a:r>
              <a:rPr b="1" i="0" lang="en-US" sz="1360" u="none" cap="none" strike="noStrike">
                <a:solidFill>
                  <a:srgbClr val="17324D"/>
                </a:solidFill>
                <a:latin typeface="Noto Sans"/>
                <a:ea typeface="Noto Sans"/>
                <a:cs typeface="Noto Sans"/>
                <a:sym typeface="Noto Sans"/>
              </a:rPr>
              <a:t>서비스 경험의 시작점과 브랜드/콘셉트</a:t>
            </a:r>
            <a:endParaRPr b="0" i="0" sz="1360" u="none" cap="none" strike="noStrike">
              <a:solidFill>
                <a:schemeClr val="dk1"/>
              </a:solidFill>
              <a:latin typeface="Noto Sans"/>
              <a:ea typeface="Noto Sans"/>
              <a:cs typeface="Noto Sans"/>
              <a:sym typeface="Noto Sans"/>
            </a:endParaRPr>
          </a:p>
        </p:txBody>
      </p:sp>
      <p:sp>
        <p:nvSpPr>
          <p:cNvPr id="69" name="Google Shape;69;p3"/>
          <p:cNvSpPr/>
          <p:nvPr/>
        </p:nvSpPr>
        <p:spPr>
          <a:xfrm>
            <a:off x="3456432" y="1874520"/>
            <a:ext cx="2542032" cy="3246120"/>
          </a:xfrm>
          <a:prstGeom prst="roundRect">
            <a:avLst>
              <a:gd fmla="val 2518"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5D1DC">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3639312" y="2075688"/>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B5A5"/>
              </a:buClr>
              <a:buSzPts val="1800"/>
              <a:buFont typeface="Noto Sans"/>
              <a:buNone/>
            </a:pPr>
            <a:r>
              <a:rPr b="1" i="0" lang="en-US" sz="1800" u="none" cap="none" strike="noStrike">
                <a:solidFill>
                  <a:srgbClr val="20B5A5"/>
                </a:solidFill>
                <a:latin typeface="Noto Sans"/>
                <a:ea typeface="Noto Sans"/>
                <a:cs typeface="Noto Sans"/>
                <a:sym typeface="Noto Sans"/>
              </a:rPr>
              <a:t>02</a:t>
            </a:r>
            <a:endParaRPr b="0" i="0" sz="1800" u="none" cap="none" strike="noStrike">
              <a:solidFill>
                <a:schemeClr val="dk1"/>
              </a:solidFill>
              <a:latin typeface="Noto Sans"/>
              <a:ea typeface="Noto Sans"/>
              <a:cs typeface="Noto Sans"/>
              <a:sym typeface="Noto Sans"/>
            </a:endParaRPr>
          </a:p>
        </p:txBody>
      </p:sp>
      <p:sp>
        <p:nvSpPr>
          <p:cNvPr id="71" name="Google Shape;71;p3"/>
          <p:cNvSpPr/>
          <p:nvPr/>
        </p:nvSpPr>
        <p:spPr>
          <a:xfrm>
            <a:off x="3639312" y="2542032"/>
            <a:ext cx="2148840" cy="6583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24D"/>
              </a:buClr>
              <a:buSzPts val="2000"/>
              <a:buFont typeface="Noto Sans"/>
              <a:buNone/>
            </a:pPr>
            <a:r>
              <a:rPr b="1" i="0" lang="en-US" sz="2000" u="none" cap="none" strike="noStrike">
                <a:solidFill>
                  <a:srgbClr val="17324D"/>
                </a:solidFill>
                <a:latin typeface="Noto Sans"/>
                <a:ea typeface="Noto Sans"/>
                <a:cs typeface="Noto Sans"/>
                <a:sym typeface="Noto Sans"/>
              </a:rPr>
              <a:t>지도 탐색 + AI</a:t>
            </a:r>
            <a:endParaRPr b="0" i="0" sz="2000" u="none" cap="none" strike="noStrike">
              <a:solidFill>
                <a:schemeClr val="dk1"/>
              </a:solidFill>
              <a:latin typeface="Noto Sans"/>
              <a:ea typeface="Noto Sans"/>
              <a:cs typeface="Noto Sans"/>
              <a:sym typeface="Noto Sans"/>
            </a:endParaRPr>
          </a:p>
        </p:txBody>
      </p:sp>
      <p:sp>
        <p:nvSpPr>
          <p:cNvPr id="72" name="Google Shape;72;p3"/>
          <p:cNvSpPr/>
          <p:nvPr/>
        </p:nvSpPr>
        <p:spPr>
          <a:xfrm>
            <a:off x="3639312" y="3401568"/>
            <a:ext cx="2148840" cy="8229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430"/>
              <a:buFont typeface="Noto Sans"/>
              <a:buNone/>
            </a:pPr>
            <a:r>
              <a:rPr b="0" i="0" lang="en-US" sz="1430" u="none" cap="none" strike="noStrike">
                <a:solidFill>
                  <a:srgbClr val="64778A"/>
                </a:solidFill>
                <a:latin typeface="Noto Sans"/>
                <a:ea typeface="Noto Sans"/>
                <a:cs typeface="Noto Sans"/>
                <a:sym typeface="Noto Sans"/>
              </a:rPr>
              <a:t>Naver 지도 · 매물 · POI</a:t>
            </a:r>
            <a:endParaRPr b="0" i="0" sz="143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64778A"/>
              </a:buClr>
              <a:buSzPts val="1430"/>
              <a:buFont typeface="Noto Sans"/>
              <a:buNone/>
            </a:pPr>
            <a:r>
              <a:rPr b="0" i="0" lang="en-US" sz="1430" u="none" cap="none" strike="noStrike">
                <a:solidFill>
                  <a:srgbClr val="64778A"/>
                </a:solidFill>
                <a:latin typeface="Noto Sans"/>
                <a:ea typeface="Noto Sans"/>
                <a:cs typeface="Noto Sans"/>
                <a:sym typeface="Noto Sans"/>
              </a:rPr>
              <a:t>AI Agent · Multi-turn · 법률 RAG</a:t>
            </a:r>
            <a:endParaRPr b="0" i="0" sz="1430" u="none" cap="none" strike="noStrike">
              <a:solidFill>
                <a:schemeClr val="dk1"/>
              </a:solidFill>
              <a:latin typeface="Noto Sans"/>
              <a:ea typeface="Noto Sans"/>
              <a:cs typeface="Noto Sans"/>
              <a:sym typeface="Noto Sans"/>
            </a:endParaRPr>
          </a:p>
        </p:txBody>
      </p:sp>
      <p:cxnSp>
        <p:nvCxnSpPr>
          <p:cNvPr id="73" name="Google Shape;73;p3"/>
          <p:cNvCxnSpPr/>
          <p:nvPr/>
        </p:nvCxnSpPr>
        <p:spPr>
          <a:xfrm>
            <a:off x="3639312" y="4425696"/>
            <a:ext cx="2103120" cy="0"/>
          </a:xfrm>
          <a:prstGeom prst="straightConnector1">
            <a:avLst/>
          </a:prstGeom>
          <a:noFill/>
          <a:ln cap="flat" cmpd="sng" w="12700">
            <a:solidFill>
              <a:srgbClr val="E4EBF2"/>
            </a:solidFill>
            <a:prstDash val="solid"/>
            <a:round/>
            <a:headEnd len="sm" w="sm" type="none"/>
            <a:tailEnd len="sm" w="sm" type="none"/>
          </a:ln>
        </p:spPr>
      </p:cxnSp>
      <p:sp>
        <p:nvSpPr>
          <p:cNvPr id="74" name="Google Shape;74;p3"/>
          <p:cNvSpPr/>
          <p:nvPr/>
        </p:nvSpPr>
        <p:spPr>
          <a:xfrm>
            <a:off x="3639312" y="4590288"/>
            <a:ext cx="214884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24D"/>
              </a:buClr>
              <a:buSzPts val="1360"/>
              <a:buFont typeface="Noto Sans"/>
              <a:buNone/>
            </a:pPr>
            <a:r>
              <a:rPr b="1" i="0" lang="en-US" sz="1360" u="none" cap="none" strike="noStrike">
                <a:solidFill>
                  <a:srgbClr val="17324D"/>
                </a:solidFill>
                <a:latin typeface="Noto Sans"/>
                <a:ea typeface="Noto Sans"/>
                <a:cs typeface="Noto Sans"/>
                <a:sym typeface="Noto Sans"/>
              </a:rPr>
              <a:t>탐색과 대화를 연결하는 핵심 인터페이스</a:t>
            </a:r>
            <a:endParaRPr b="0" i="0" sz="1360" u="none" cap="none" strike="noStrike">
              <a:solidFill>
                <a:schemeClr val="dk1"/>
              </a:solidFill>
              <a:latin typeface="Noto Sans"/>
              <a:ea typeface="Noto Sans"/>
              <a:cs typeface="Noto Sans"/>
              <a:sym typeface="Noto Sans"/>
            </a:endParaRPr>
          </a:p>
        </p:txBody>
      </p:sp>
      <p:sp>
        <p:nvSpPr>
          <p:cNvPr id="75" name="Google Shape;75;p3"/>
          <p:cNvSpPr/>
          <p:nvPr/>
        </p:nvSpPr>
        <p:spPr>
          <a:xfrm>
            <a:off x="6272784" y="1874520"/>
            <a:ext cx="2542032" cy="3246120"/>
          </a:xfrm>
          <a:prstGeom prst="roundRect">
            <a:avLst>
              <a:gd fmla="val 2518"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5D1DC">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6455664" y="2075688"/>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98E8"/>
              </a:buClr>
              <a:buSzPts val="1800"/>
              <a:buFont typeface="Noto Sans"/>
              <a:buNone/>
            </a:pPr>
            <a:r>
              <a:rPr b="1" i="0" lang="en-US" sz="1800" u="none" cap="none" strike="noStrike">
                <a:solidFill>
                  <a:srgbClr val="2298E8"/>
                </a:solidFill>
                <a:latin typeface="Noto Sans"/>
                <a:ea typeface="Noto Sans"/>
                <a:cs typeface="Noto Sans"/>
                <a:sym typeface="Noto Sans"/>
              </a:rPr>
              <a:t>03</a:t>
            </a:r>
            <a:endParaRPr b="0" i="0" sz="1800" u="none" cap="none" strike="noStrike">
              <a:solidFill>
                <a:schemeClr val="dk1"/>
              </a:solidFill>
              <a:latin typeface="Noto Sans"/>
              <a:ea typeface="Noto Sans"/>
              <a:cs typeface="Noto Sans"/>
              <a:sym typeface="Noto Sans"/>
            </a:endParaRPr>
          </a:p>
        </p:txBody>
      </p:sp>
      <p:sp>
        <p:nvSpPr>
          <p:cNvPr id="77" name="Google Shape;77;p3"/>
          <p:cNvSpPr/>
          <p:nvPr/>
        </p:nvSpPr>
        <p:spPr>
          <a:xfrm>
            <a:off x="6455664" y="2542032"/>
            <a:ext cx="2148840" cy="6583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24D"/>
              </a:buClr>
              <a:buSzPts val="2000"/>
              <a:buFont typeface="Noto Sans"/>
              <a:buNone/>
            </a:pPr>
            <a:r>
              <a:rPr b="1" i="0" lang="en-US" sz="2000" u="none" cap="none" strike="noStrike">
                <a:solidFill>
                  <a:srgbClr val="17324D"/>
                </a:solidFill>
                <a:latin typeface="Noto Sans"/>
                <a:ea typeface="Noto Sans"/>
                <a:cs typeface="Noto Sans"/>
                <a:sym typeface="Noto Sans"/>
              </a:rPr>
              <a:t>부동산 분석</a:t>
            </a:r>
            <a:endParaRPr b="0" i="0" sz="2000" u="none" cap="none" strike="noStrike">
              <a:solidFill>
                <a:schemeClr val="dk1"/>
              </a:solidFill>
              <a:latin typeface="Noto Sans"/>
              <a:ea typeface="Noto Sans"/>
              <a:cs typeface="Noto Sans"/>
              <a:sym typeface="Noto Sans"/>
            </a:endParaRPr>
          </a:p>
        </p:txBody>
      </p:sp>
      <p:sp>
        <p:nvSpPr>
          <p:cNvPr id="78" name="Google Shape;78;p3"/>
          <p:cNvSpPr/>
          <p:nvPr/>
        </p:nvSpPr>
        <p:spPr>
          <a:xfrm>
            <a:off x="6455664" y="3401568"/>
            <a:ext cx="2148840" cy="8229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430"/>
              <a:buFont typeface="Noto Sans"/>
              <a:buNone/>
            </a:pPr>
            <a:r>
              <a:rPr b="0" i="0" lang="en-US" sz="1430" u="none" cap="none" strike="noStrike">
                <a:solidFill>
                  <a:srgbClr val="64778A"/>
                </a:solidFill>
                <a:latin typeface="Noto Sans"/>
                <a:ea typeface="Noto Sans"/>
                <a:cs typeface="Noto Sans"/>
                <a:sym typeface="Noto Sans"/>
              </a:rPr>
              <a:t>실거래 요약 · 지역 비교</a:t>
            </a:r>
            <a:endParaRPr b="0" i="0" sz="143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64778A"/>
              </a:buClr>
              <a:buSzPts val="1430"/>
              <a:buFont typeface="Noto Sans"/>
              <a:buNone/>
            </a:pPr>
            <a:r>
              <a:rPr b="0" i="0" lang="en-US" sz="1430" u="none" cap="none" strike="noStrike">
                <a:solidFill>
                  <a:srgbClr val="64778A"/>
                </a:solidFill>
                <a:latin typeface="Noto Sans"/>
                <a:ea typeface="Noto Sans"/>
                <a:cs typeface="Noto Sans"/>
                <a:sym typeface="Noto Sans"/>
              </a:rPr>
              <a:t>거래·비용 및 확장 분석</a:t>
            </a:r>
            <a:endParaRPr b="0" i="0" sz="1430" u="none" cap="none" strike="noStrike">
              <a:solidFill>
                <a:schemeClr val="dk1"/>
              </a:solidFill>
              <a:latin typeface="Noto Sans"/>
              <a:ea typeface="Noto Sans"/>
              <a:cs typeface="Noto Sans"/>
              <a:sym typeface="Noto Sans"/>
            </a:endParaRPr>
          </a:p>
        </p:txBody>
      </p:sp>
      <p:cxnSp>
        <p:nvCxnSpPr>
          <p:cNvPr id="79" name="Google Shape;79;p3"/>
          <p:cNvCxnSpPr/>
          <p:nvPr/>
        </p:nvCxnSpPr>
        <p:spPr>
          <a:xfrm>
            <a:off x="6455664" y="4425696"/>
            <a:ext cx="2103120" cy="0"/>
          </a:xfrm>
          <a:prstGeom prst="straightConnector1">
            <a:avLst/>
          </a:prstGeom>
          <a:noFill/>
          <a:ln cap="flat" cmpd="sng" w="12700">
            <a:solidFill>
              <a:srgbClr val="E4EBF2"/>
            </a:solidFill>
            <a:prstDash val="solid"/>
            <a:round/>
            <a:headEnd len="sm" w="sm" type="none"/>
            <a:tailEnd len="sm" w="sm" type="none"/>
          </a:ln>
        </p:spPr>
      </p:cxnSp>
      <p:sp>
        <p:nvSpPr>
          <p:cNvPr id="80" name="Google Shape;80;p3"/>
          <p:cNvSpPr/>
          <p:nvPr/>
        </p:nvSpPr>
        <p:spPr>
          <a:xfrm>
            <a:off x="6455664" y="4590288"/>
            <a:ext cx="214884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24D"/>
              </a:buClr>
              <a:buSzPts val="1360"/>
              <a:buFont typeface="Noto Sans"/>
              <a:buNone/>
            </a:pPr>
            <a:r>
              <a:rPr b="1" i="0" lang="en-US" sz="1360" u="none" cap="none" strike="noStrike">
                <a:solidFill>
                  <a:srgbClr val="17324D"/>
                </a:solidFill>
                <a:latin typeface="Noto Sans"/>
                <a:ea typeface="Noto Sans"/>
                <a:cs typeface="Noto Sans"/>
                <a:sym typeface="Noto Sans"/>
              </a:rPr>
              <a:t>숫자를 통해 지역과 거래 조건을 판단</a:t>
            </a:r>
            <a:endParaRPr b="0" i="0" sz="1360" u="none" cap="none" strike="noStrike">
              <a:solidFill>
                <a:schemeClr val="dk1"/>
              </a:solidFill>
              <a:latin typeface="Noto Sans"/>
              <a:ea typeface="Noto Sans"/>
              <a:cs typeface="Noto Sans"/>
              <a:sym typeface="Noto Sans"/>
            </a:endParaRPr>
          </a:p>
        </p:txBody>
      </p:sp>
      <p:sp>
        <p:nvSpPr>
          <p:cNvPr id="81" name="Google Shape;81;p3"/>
          <p:cNvSpPr/>
          <p:nvPr/>
        </p:nvSpPr>
        <p:spPr>
          <a:xfrm>
            <a:off x="9089136" y="1874520"/>
            <a:ext cx="2542032" cy="3246120"/>
          </a:xfrm>
          <a:prstGeom prst="roundRect">
            <a:avLst>
              <a:gd fmla="val 2518"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5D1DC">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3"/>
          <p:cNvSpPr/>
          <p:nvPr/>
        </p:nvSpPr>
        <p:spPr>
          <a:xfrm>
            <a:off x="9272016" y="2075688"/>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0B5A5"/>
              </a:buClr>
              <a:buSzPts val="1800"/>
              <a:buFont typeface="Noto Sans"/>
              <a:buNone/>
            </a:pPr>
            <a:r>
              <a:rPr b="1" i="0" lang="en-US" sz="1800" u="none" cap="none" strike="noStrike">
                <a:solidFill>
                  <a:srgbClr val="20B5A5"/>
                </a:solidFill>
                <a:latin typeface="Noto Sans"/>
                <a:ea typeface="Noto Sans"/>
                <a:cs typeface="Noto Sans"/>
                <a:sym typeface="Noto Sans"/>
              </a:rPr>
              <a:t>04</a:t>
            </a:r>
            <a:endParaRPr b="0" i="0" sz="1800" u="none" cap="none" strike="noStrike">
              <a:solidFill>
                <a:schemeClr val="dk1"/>
              </a:solidFill>
              <a:latin typeface="Noto Sans"/>
              <a:ea typeface="Noto Sans"/>
              <a:cs typeface="Noto Sans"/>
              <a:sym typeface="Noto Sans"/>
            </a:endParaRPr>
          </a:p>
        </p:txBody>
      </p:sp>
      <p:sp>
        <p:nvSpPr>
          <p:cNvPr id="83" name="Google Shape;83;p3"/>
          <p:cNvSpPr/>
          <p:nvPr/>
        </p:nvSpPr>
        <p:spPr>
          <a:xfrm>
            <a:off x="9272016" y="2542032"/>
            <a:ext cx="2148840" cy="658368"/>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24D"/>
              </a:buClr>
              <a:buSzPts val="2000"/>
              <a:buFont typeface="Noto Sans"/>
              <a:buNone/>
            </a:pPr>
            <a:r>
              <a:rPr b="1" i="0" lang="en-US" sz="2000" u="none" cap="none" strike="noStrike">
                <a:solidFill>
                  <a:srgbClr val="17324D"/>
                </a:solidFill>
                <a:latin typeface="Noto Sans"/>
                <a:ea typeface="Noto Sans"/>
                <a:cs typeface="Noto Sans"/>
                <a:sym typeface="Noto Sans"/>
              </a:rPr>
              <a:t>매물 등록 +</a:t>
            </a:r>
            <a:endParaRPr b="0" i="0" sz="200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17324D"/>
              </a:buClr>
              <a:buSzPts val="2000"/>
              <a:buFont typeface="Noto Sans"/>
              <a:buNone/>
            </a:pPr>
            <a:r>
              <a:rPr b="1" i="0" lang="en-US" sz="2000" u="none" cap="none" strike="noStrike">
                <a:solidFill>
                  <a:srgbClr val="17324D"/>
                </a:solidFill>
                <a:latin typeface="Noto Sans"/>
                <a:ea typeface="Noto Sans"/>
                <a:cs typeface="Noto Sans"/>
                <a:sym typeface="Noto Sans"/>
              </a:rPr>
              <a:t>회원/고객센터</a:t>
            </a:r>
            <a:endParaRPr b="0" i="0" sz="2000" u="none" cap="none" strike="noStrike">
              <a:solidFill>
                <a:schemeClr val="dk1"/>
              </a:solidFill>
              <a:latin typeface="Noto Sans"/>
              <a:ea typeface="Noto Sans"/>
              <a:cs typeface="Noto Sans"/>
              <a:sym typeface="Noto Sans"/>
            </a:endParaRPr>
          </a:p>
        </p:txBody>
      </p:sp>
      <p:sp>
        <p:nvSpPr>
          <p:cNvPr id="84" name="Google Shape;84;p3"/>
          <p:cNvSpPr/>
          <p:nvPr/>
        </p:nvSpPr>
        <p:spPr>
          <a:xfrm>
            <a:off x="9272016" y="3401568"/>
            <a:ext cx="2148840" cy="8229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430"/>
              <a:buFont typeface="Noto Sans"/>
              <a:buNone/>
            </a:pPr>
            <a:r>
              <a:rPr b="0" i="0" lang="en-US" sz="1430" u="none" cap="none" strike="noStrike">
                <a:solidFill>
                  <a:srgbClr val="64778A"/>
                </a:solidFill>
                <a:latin typeface="Noto Sans"/>
                <a:ea typeface="Noto Sans"/>
                <a:cs typeface="Noto Sans"/>
                <a:sym typeface="Noto Sans"/>
              </a:rPr>
              <a:t>4단계 등록 · OAuth · 내 매물</a:t>
            </a:r>
            <a:endParaRPr b="0" i="0" sz="143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64778A"/>
              </a:buClr>
              <a:buSzPts val="1430"/>
              <a:buFont typeface="Noto Sans"/>
              <a:buNone/>
            </a:pPr>
            <a:r>
              <a:rPr b="0" i="0" lang="en-US" sz="1430" u="none" cap="none" strike="noStrike">
                <a:solidFill>
                  <a:srgbClr val="64778A"/>
                </a:solidFill>
                <a:latin typeface="Noto Sans"/>
                <a:ea typeface="Noto Sans"/>
                <a:cs typeface="Noto Sans"/>
                <a:sym typeface="Noto Sans"/>
              </a:rPr>
              <a:t>FAQ · 1:1 문의</a:t>
            </a:r>
            <a:endParaRPr b="0" i="0" sz="1430" u="none" cap="none" strike="noStrike">
              <a:solidFill>
                <a:schemeClr val="dk1"/>
              </a:solidFill>
              <a:latin typeface="Noto Sans"/>
              <a:ea typeface="Noto Sans"/>
              <a:cs typeface="Noto Sans"/>
              <a:sym typeface="Noto Sans"/>
            </a:endParaRPr>
          </a:p>
        </p:txBody>
      </p:sp>
      <p:cxnSp>
        <p:nvCxnSpPr>
          <p:cNvPr id="85" name="Google Shape;85;p3"/>
          <p:cNvCxnSpPr/>
          <p:nvPr/>
        </p:nvCxnSpPr>
        <p:spPr>
          <a:xfrm>
            <a:off x="9272016" y="4425696"/>
            <a:ext cx="2103120" cy="0"/>
          </a:xfrm>
          <a:prstGeom prst="straightConnector1">
            <a:avLst/>
          </a:prstGeom>
          <a:noFill/>
          <a:ln cap="flat" cmpd="sng" w="12700">
            <a:solidFill>
              <a:srgbClr val="E4EBF2"/>
            </a:solidFill>
            <a:prstDash val="solid"/>
            <a:round/>
            <a:headEnd len="sm" w="sm" type="none"/>
            <a:tailEnd len="sm" w="sm" type="none"/>
          </a:ln>
        </p:spPr>
      </p:cxnSp>
      <p:sp>
        <p:nvSpPr>
          <p:cNvPr id="86" name="Google Shape;86;p3"/>
          <p:cNvSpPr/>
          <p:nvPr/>
        </p:nvSpPr>
        <p:spPr>
          <a:xfrm>
            <a:off x="9272016" y="4590288"/>
            <a:ext cx="2148840" cy="347472"/>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7324D"/>
              </a:buClr>
              <a:buSzPts val="1360"/>
              <a:buFont typeface="Noto Sans"/>
              <a:buNone/>
            </a:pPr>
            <a:r>
              <a:rPr b="1" i="0" lang="en-US" sz="1360" u="none" cap="none" strike="noStrike">
                <a:solidFill>
                  <a:srgbClr val="17324D"/>
                </a:solidFill>
                <a:latin typeface="Noto Sans"/>
                <a:ea typeface="Noto Sans"/>
                <a:cs typeface="Noto Sans"/>
                <a:sym typeface="Noto Sans"/>
              </a:rPr>
              <a:t>공급자·회원 기능과 서비스 운영 지원</a:t>
            </a:r>
            <a:endParaRPr b="0" i="0" sz="1360" u="none" cap="none" strike="noStrike">
              <a:solidFill>
                <a:schemeClr val="dk1"/>
              </a:solidFill>
              <a:latin typeface="Noto Sans"/>
              <a:ea typeface="Noto Sans"/>
              <a:cs typeface="Noto Sans"/>
              <a:sym typeface="Noto Sans"/>
            </a:endParaRPr>
          </a:p>
        </p:txBody>
      </p:sp>
      <p:sp>
        <p:nvSpPr>
          <p:cNvPr id="87" name="Google Shape;87;p3"/>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4"/>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서비스 소개: 첫 화면에서 전체 경험을 이해</a:t>
            </a:r>
            <a:endParaRPr b="0" i="0" sz="2700" u="none" cap="none" strike="noStrike">
              <a:solidFill>
                <a:schemeClr val="dk1"/>
              </a:solidFill>
              <a:latin typeface="Noto Sans"/>
              <a:ea typeface="Noto Sans"/>
              <a:cs typeface="Noto Sans"/>
              <a:sym typeface="Noto Sans"/>
            </a:endParaRPr>
          </a:p>
        </p:txBody>
      </p:sp>
      <p:sp>
        <p:nvSpPr>
          <p:cNvPr id="94" name="Google Shape;94;p4"/>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홈과 서비스 소개 페이지에서 핵심 기능과 다음 행동을 한눈에 제시합니다.</a:t>
            </a:r>
            <a:endParaRPr b="0" i="0" sz="1450" u="none" cap="none" strike="noStrike">
              <a:solidFill>
                <a:schemeClr val="dk1"/>
              </a:solidFill>
              <a:latin typeface="Noto Sans"/>
              <a:ea typeface="Noto Sans"/>
              <a:cs typeface="Noto Sans"/>
              <a:sym typeface="Noto Sans"/>
            </a:endParaRPr>
          </a:p>
        </p:txBody>
      </p:sp>
      <p:sp>
        <p:nvSpPr>
          <p:cNvPr id="95" name="Google Shape;95;p4"/>
          <p:cNvSpPr/>
          <p:nvPr/>
        </p:nvSpPr>
        <p:spPr>
          <a:xfrm>
            <a:off x="9930384" y="804672"/>
            <a:ext cx="1755648" cy="384048"/>
          </a:xfrm>
          <a:prstGeom prst="roundRect">
            <a:avLst>
              <a:gd fmla="val 19048" name="adj"/>
            </a:avLst>
          </a:prstGeom>
          <a:solidFill>
            <a:srgbClr val="EAF9F6"/>
          </a:solidFill>
          <a:ln cap="flat" cmpd="sng" w="12700">
            <a:solidFill>
              <a:srgbClr val="BFE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10021824" y="859536"/>
            <a:ext cx="157276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7F74"/>
              </a:buClr>
              <a:buSzPts val="1050"/>
              <a:buFont typeface="Noto Sans"/>
              <a:buNone/>
            </a:pPr>
            <a:r>
              <a:rPr b="1" i="0" lang="en-US" sz="1050" u="none" cap="none" strike="noStrike">
                <a:solidFill>
                  <a:srgbClr val="187F74"/>
                </a:solidFill>
                <a:latin typeface="Noto Sans"/>
                <a:ea typeface="Noto Sans"/>
                <a:cs typeface="Noto Sans"/>
                <a:sym typeface="Noto Sans"/>
              </a:rPr>
              <a:t>PART 1 · 서비스 소개</a:t>
            </a:r>
            <a:endParaRPr b="0" i="0" sz="1050" u="none" cap="none" strike="noStrike">
              <a:solidFill>
                <a:schemeClr val="dk1"/>
              </a:solidFill>
              <a:latin typeface="Noto Sans"/>
              <a:ea typeface="Noto Sans"/>
              <a:cs typeface="Noto Sans"/>
              <a:sym typeface="Noto Sans"/>
            </a:endParaRPr>
          </a:p>
        </p:txBody>
      </p:sp>
      <p:sp>
        <p:nvSpPr>
          <p:cNvPr id="97" name="Google Shape;97;p4"/>
          <p:cNvSpPr/>
          <p:nvPr/>
        </p:nvSpPr>
        <p:spPr>
          <a:xfrm>
            <a:off x="640080" y="1874520"/>
            <a:ext cx="5212080" cy="2487168"/>
          </a:xfrm>
          <a:prstGeom prst="roundRect">
            <a:avLst>
              <a:gd fmla="val 2206"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731520" y="1965960"/>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813816" y="2020824"/>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서비스 소개 Hero</a:t>
            </a:r>
            <a:endParaRPr b="0" i="0" sz="1050" u="none" cap="none" strike="noStrike">
              <a:solidFill>
                <a:schemeClr val="dk1"/>
              </a:solidFill>
              <a:latin typeface="Noto Sans"/>
              <a:ea typeface="Noto Sans"/>
              <a:cs typeface="Noto Sans"/>
              <a:sym typeface="Noto Sans"/>
            </a:endParaRPr>
          </a:p>
        </p:txBody>
      </p:sp>
      <p:pic>
        <p:nvPicPr>
          <p:cNvPr descr="/mnt/data/additional_extracted/1.png" id="100" name="Google Shape;100;p4"/>
          <p:cNvPicPr preferRelativeResize="0"/>
          <p:nvPr/>
        </p:nvPicPr>
        <p:blipFill rotWithShape="1">
          <a:blip r:embed="rId3">
            <a:alphaModFix/>
          </a:blip>
          <a:srcRect b="0" l="0" r="0" t="0"/>
          <a:stretch/>
        </p:blipFill>
        <p:spPr>
          <a:xfrm>
            <a:off x="694944" y="1929384"/>
            <a:ext cx="5102352" cy="2377440"/>
          </a:xfrm>
          <a:prstGeom prst="rect">
            <a:avLst/>
          </a:prstGeom>
          <a:noFill/>
          <a:ln>
            <a:noFill/>
          </a:ln>
        </p:spPr>
      </p:pic>
      <p:sp>
        <p:nvSpPr>
          <p:cNvPr id="101" name="Google Shape;101;p4"/>
          <p:cNvSpPr/>
          <p:nvPr/>
        </p:nvSpPr>
        <p:spPr>
          <a:xfrm>
            <a:off x="6144768" y="1874520"/>
            <a:ext cx="5394960" cy="2487168"/>
          </a:xfrm>
          <a:prstGeom prst="roundRect">
            <a:avLst>
              <a:gd fmla="val 2206"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6236208" y="1965960"/>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6318504" y="2020824"/>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서비스 기능 카드</a:t>
            </a:r>
            <a:endParaRPr b="0" i="0" sz="1050" u="none" cap="none" strike="noStrike">
              <a:solidFill>
                <a:schemeClr val="dk1"/>
              </a:solidFill>
              <a:latin typeface="Noto Sans"/>
              <a:ea typeface="Noto Sans"/>
              <a:cs typeface="Noto Sans"/>
              <a:sym typeface="Noto Sans"/>
            </a:endParaRPr>
          </a:p>
        </p:txBody>
      </p:sp>
      <p:pic>
        <p:nvPicPr>
          <p:cNvPr descr="/mnt/data/additional_extracted/2.png" id="104" name="Google Shape;104;p4"/>
          <p:cNvPicPr preferRelativeResize="0"/>
          <p:nvPr/>
        </p:nvPicPr>
        <p:blipFill rotWithShape="1">
          <a:blip r:embed="rId4">
            <a:alphaModFix/>
          </a:blip>
          <a:srcRect b="0" l="0" r="0" t="0"/>
          <a:stretch/>
        </p:blipFill>
        <p:spPr>
          <a:xfrm>
            <a:off x="6199632" y="1929384"/>
            <a:ext cx="5285232" cy="2377440"/>
          </a:xfrm>
          <a:prstGeom prst="rect">
            <a:avLst/>
          </a:prstGeom>
          <a:noFill/>
          <a:ln>
            <a:noFill/>
          </a:ln>
        </p:spPr>
      </p:pic>
      <p:sp>
        <p:nvSpPr>
          <p:cNvPr id="105" name="Google Shape;105;p4"/>
          <p:cNvSpPr/>
          <p:nvPr/>
        </p:nvSpPr>
        <p:spPr>
          <a:xfrm>
            <a:off x="658368" y="4663440"/>
            <a:ext cx="3383280" cy="1234440"/>
          </a:xfrm>
          <a:prstGeom prst="roundRect">
            <a:avLst>
              <a:gd fmla="val 5926"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658368" y="4663440"/>
            <a:ext cx="73152" cy="1234440"/>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
          <p:cNvSpPr/>
          <p:nvPr/>
        </p:nvSpPr>
        <p:spPr>
          <a:xfrm>
            <a:off x="841248" y="4828032"/>
            <a:ext cx="3017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빠른 진입</a:t>
            </a:r>
            <a:endParaRPr b="0" i="0" sz="1750" u="none" cap="none" strike="noStrike">
              <a:solidFill>
                <a:schemeClr val="dk1"/>
              </a:solidFill>
              <a:latin typeface="Noto Sans"/>
              <a:ea typeface="Noto Sans"/>
              <a:cs typeface="Noto Sans"/>
              <a:sym typeface="Noto Sans"/>
            </a:endParaRPr>
          </a:p>
        </p:txBody>
      </p:sp>
      <p:sp>
        <p:nvSpPr>
          <p:cNvPr id="108" name="Google Shape;108;p4"/>
          <p:cNvSpPr/>
          <p:nvPr/>
        </p:nvSpPr>
        <p:spPr>
          <a:xfrm>
            <a:off x="841248" y="5230368"/>
            <a:ext cx="3017520" cy="52120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서비스 소개·지도 탐색·부동산 분석·매물 등록으로 바로 이동할 수 있게 구성했습니다.</a:t>
            </a:r>
            <a:endParaRPr b="0" i="0" sz="1450" u="none" cap="none" strike="noStrike">
              <a:solidFill>
                <a:schemeClr val="dk1"/>
              </a:solidFill>
              <a:latin typeface="Noto Sans"/>
              <a:ea typeface="Noto Sans"/>
              <a:cs typeface="Noto Sans"/>
              <a:sym typeface="Noto Sans"/>
            </a:endParaRPr>
          </a:p>
        </p:txBody>
      </p:sp>
      <p:sp>
        <p:nvSpPr>
          <p:cNvPr id="109" name="Google Shape;109;p4"/>
          <p:cNvSpPr/>
          <p:nvPr/>
        </p:nvSpPr>
        <p:spPr>
          <a:xfrm>
            <a:off x="4389120" y="4663440"/>
            <a:ext cx="3383280" cy="1234440"/>
          </a:xfrm>
          <a:prstGeom prst="roundRect">
            <a:avLst>
              <a:gd fmla="val 5926"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4389120" y="4663440"/>
            <a:ext cx="73152" cy="1234440"/>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4572000" y="4828032"/>
            <a:ext cx="3017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대화형 시작</a:t>
            </a:r>
            <a:endParaRPr b="0" i="0" sz="1750" u="none" cap="none" strike="noStrike">
              <a:solidFill>
                <a:schemeClr val="dk1"/>
              </a:solidFill>
              <a:latin typeface="Noto Sans"/>
              <a:ea typeface="Noto Sans"/>
              <a:cs typeface="Noto Sans"/>
              <a:sym typeface="Noto Sans"/>
            </a:endParaRPr>
          </a:p>
        </p:txBody>
      </p:sp>
      <p:sp>
        <p:nvSpPr>
          <p:cNvPr id="112" name="Google Shape;112;p4"/>
          <p:cNvSpPr/>
          <p:nvPr/>
        </p:nvSpPr>
        <p:spPr>
          <a:xfrm>
            <a:off x="4572000" y="5230368"/>
            <a:ext cx="3017520" cy="52120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홈 AI 입력창의 질문을 지도 화면으로 전달해 자연어 탐색을 바로 시작합니다.</a:t>
            </a:r>
            <a:endParaRPr b="0" i="0" sz="1450" u="none" cap="none" strike="noStrike">
              <a:solidFill>
                <a:schemeClr val="dk1"/>
              </a:solidFill>
              <a:latin typeface="Noto Sans"/>
              <a:ea typeface="Noto Sans"/>
              <a:cs typeface="Noto Sans"/>
              <a:sym typeface="Noto Sans"/>
            </a:endParaRPr>
          </a:p>
        </p:txBody>
      </p:sp>
      <p:sp>
        <p:nvSpPr>
          <p:cNvPr id="113" name="Google Shape;113;p4"/>
          <p:cNvSpPr/>
          <p:nvPr/>
        </p:nvSpPr>
        <p:spPr>
          <a:xfrm>
            <a:off x="8119872" y="4663440"/>
            <a:ext cx="3383280" cy="1234440"/>
          </a:xfrm>
          <a:prstGeom prst="roundRect">
            <a:avLst>
              <a:gd fmla="val 5926"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8119872" y="4663440"/>
            <a:ext cx="73152" cy="1234440"/>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8302752" y="4828032"/>
            <a:ext cx="301752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공통 경험</a:t>
            </a:r>
            <a:endParaRPr b="0" i="0" sz="1750" u="none" cap="none" strike="noStrike">
              <a:solidFill>
                <a:schemeClr val="dk1"/>
              </a:solidFill>
              <a:latin typeface="Noto Sans"/>
              <a:ea typeface="Noto Sans"/>
              <a:cs typeface="Noto Sans"/>
              <a:sym typeface="Noto Sans"/>
            </a:endParaRPr>
          </a:p>
        </p:txBody>
      </p:sp>
      <p:sp>
        <p:nvSpPr>
          <p:cNvPr id="116" name="Google Shape;116;p4"/>
          <p:cNvSpPr/>
          <p:nvPr/>
        </p:nvSpPr>
        <p:spPr>
          <a:xfrm>
            <a:off x="8302752" y="5230368"/>
            <a:ext cx="3017520" cy="521208"/>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상단 메뉴와 일관된 화면 스타일로 각 기능을 하나의 서비스처럼 연결했습니다.</a:t>
            </a:r>
            <a:endParaRPr b="0" i="0" sz="1450" u="none" cap="none" strike="noStrike">
              <a:solidFill>
                <a:schemeClr val="dk1"/>
              </a:solidFill>
              <a:latin typeface="Noto Sans"/>
              <a:ea typeface="Noto Sans"/>
              <a:cs typeface="Noto Sans"/>
              <a:sym typeface="Noto Sans"/>
            </a:endParaRPr>
          </a:p>
        </p:txBody>
      </p:sp>
      <p:sp>
        <p:nvSpPr>
          <p:cNvPr id="117" name="Google Shape;117;p4"/>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5"/>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서비스 경험 확장: 모바일 모델하우스 &amp; 중개 LIVE</a:t>
            </a:r>
            <a:endParaRPr b="0" i="0" sz="2700" u="none" cap="none" strike="noStrike">
              <a:solidFill>
                <a:schemeClr val="dk1"/>
              </a:solidFill>
              <a:latin typeface="Noto Sans"/>
              <a:ea typeface="Noto Sans"/>
              <a:cs typeface="Noto Sans"/>
              <a:sym typeface="Noto Sans"/>
            </a:endParaRPr>
          </a:p>
        </p:txBody>
      </p:sp>
      <p:sp>
        <p:nvSpPr>
          <p:cNvPr id="124" name="Google Shape;124;p5"/>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지도·분석 기능 외에도 부동산 콘텐츠를 더 쉽게 소비할 수 있는 화면 경험을 구성했습니다.</a:t>
            </a:r>
            <a:endParaRPr b="0" i="0" sz="1450" u="none" cap="none" strike="noStrike">
              <a:solidFill>
                <a:schemeClr val="dk1"/>
              </a:solidFill>
              <a:latin typeface="Noto Sans"/>
              <a:ea typeface="Noto Sans"/>
              <a:cs typeface="Noto Sans"/>
              <a:sym typeface="Noto Sans"/>
            </a:endParaRPr>
          </a:p>
        </p:txBody>
      </p:sp>
      <p:sp>
        <p:nvSpPr>
          <p:cNvPr id="125" name="Google Shape;125;p5"/>
          <p:cNvSpPr/>
          <p:nvPr/>
        </p:nvSpPr>
        <p:spPr>
          <a:xfrm>
            <a:off x="9930384" y="804672"/>
            <a:ext cx="1755648" cy="384048"/>
          </a:xfrm>
          <a:prstGeom prst="roundRect">
            <a:avLst>
              <a:gd fmla="val 19048" name="adj"/>
            </a:avLst>
          </a:prstGeom>
          <a:solidFill>
            <a:srgbClr val="EAF9F6"/>
          </a:solidFill>
          <a:ln cap="flat" cmpd="sng" w="12700">
            <a:solidFill>
              <a:srgbClr val="BFE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10021824" y="859536"/>
            <a:ext cx="157276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7F74"/>
              </a:buClr>
              <a:buSzPts val="1050"/>
              <a:buFont typeface="Noto Sans"/>
              <a:buNone/>
            </a:pPr>
            <a:r>
              <a:rPr b="1" i="0" lang="en-US" sz="1050" u="none" cap="none" strike="noStrike">
                <a:solidFill>
                  <a:srgbClr val="187F74"/>
                </a:solidFill>
                <a:latin typeface="Noto Sans"/>
                <a:ea typeface="Noto Sans"/>
                <a:cs typeface="Noto Sans"/>
                <a:sym typeface="Noto Sans"/>
              </a:rPr>
              <a:t>PART 1 · 서비스 소개</a:t>
            </a:r>
            <a:endParaRPr b="0" i="0" sz="1050" u="none" cap="none" strike="noStrike">
              <a:solidFill>
                <a:schemeClr val="dk1"/>
              </a:solidFill>
              <a:latin typeface="Noto Sans"/>
              <a:ea typeface="Noto Sans"/>
              <a:cs typeface="Noto Sans"/>
              <a:sym typeface="Noto Sans"/>
            </a:endParaRPr>
          </a:p>
        </p:txBody>
      </p:sp>
      <p:sp>
        <p:nvSpPr>
          <p:cNvPr id="127" name="Google Shape;127;p5"/>
          <p:cNvSpPr/>
          <p:nvPr/>
        </p:nvSpPr>
        <p:spPr>
          <a:xfrm>
            <a:off x="658368" y="1874520"/>
            <a:ext cx="5230368" cy="2487168"/>
          </a:xfrm>
          <a:prstGeom prst="roundRect">
            <a:avLst>
              <a:gd fmla="val 2206"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749808" y="1965960"/>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832104" y="2020824"/>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모바일 모델하우스</a:t>
            </a:r>
            <a:endParaRPr b="0" i="0" sz="1050" u="none" cap="none" strike="noStrike">
              <a:solidFill>
                <a:schemeClr val="dk1"/>
              </a:solidFill>
              <a:latin typeface="Noto Sans"/>
              <a:ea typeface="Noto Sans"/>
              <a:cs typeface="Noto Sans"/>
              <a:sym typeface="Noto Sans"/>
            </a:endParaRPr>
          </a:p>
        </p:txBody>
      </p:sp>
      <p:pic>
        <p:nvPicPr>
          <p:cNvPr descr="/mnt/data/additional_extracted/3.png" id="130" name="Google Shape;130;p5"/>
          <p:cNvPicPr preferRelativeResize="0"/>
          <p:nvPr/>
        </p:nvPicPr>
        <p:blipFill rotWithShape="1">
          <a:blip r:embed="rId3">
            <a:alphaModFix/>
          </a:blip>
          <a:srcRect b="0" l="0" r="0" t="0"/>
          <a:stretch/>
        </p:blipFill>
        <p:spPr>
          <a:xfrm>
            <a:off x="713232" y="1929384"/>
            <a:ext cx="5120640" cy="2377440"/>
          </a:xfrm>
          <a:prstGeom prst="rect">
            <a:avLst/>
          </a:prstGeom>
          <a:noFill/>
          <a:ln>
            <a:noFill/>
          </a:ln>
        </p:spPr>
      </p:pic>
      <p:sp>
        <p:nvSpPr>
          <p:cNvPr id="131" name="Google Shape;131;p5"/>
          <p:cNvSpPr/>
          <p:nvPr/>
        </p:nvSpPr>
        <p:spPr>
          <a:xfrm>
            <a:off x="6291072" y="1874520"/>
            <a:ext cx="5230368" cy="2487168"/>
          </a:xfrm>
          <a:prstGeom prst="roundRect">
            <a:avLst>
              <a:gd fmla="val 2206"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6382512" y="1965960"/>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6464808" y="2020824"/>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중개 LIVE</a:t>
            </a:r>
            <a:endParaRPr b="0" i="0" sz="1050" u="none" cap="none" strike="noStrike">
              <a:solidFill>
                <a:schemeClr val="dk1"/>
              </a:solidFill>
              <a:latin typeface="Noto Sans"/>
              <a:ea typeface="Noto Sans"/>
              <a:cs typeface="Noto Sans"/>
              <a:sym typeface="Noto Sans"/>
            </a:endParaRPr>
          </a:p>
        </p:txBody>
      </p:sp>
      <p:pic>
        <p:nvPicPr>
          <p:cNvPr descr="/mnt/data/additional_extracted/4.png" id="134" name="Google Shape;134;p5"/>
          <p:cNvPicPr preferRelativeResize="0"/>
          <p:nvPr/>
        </p:nvPicPr>
        <p:blipFill rotWithShape="1">
          <a:blip r:embed="rId4">
            <a:alphaModFix/>
          </a:blip>
          <a:srcRect b="0" l="0" r="0" t="0"/>
          <a:stretch/>
        </p:blipFill>
        <p:spPr>
          <a:xfrm>
            <a:off x="6345936" y="1929384"/>
            <a:ext cx="5120640" cy="2377440"/>
          </a:xfrm>
          <a:prstGeom prst="rect">
            <a:avLst/>
          </a:prstGeom>
          <a:noFill/>
          <a:ln>
            <a:noFill/>
          </a:ln>
        </p:spPr>
      </p:pic>
      <p:sp>
        <p:nvSpPr>
          <p:cNvPr id="135" name="Google Shape;135;p5"/>
          <p:cNvSpPr/>
          <p:nvPr/>
        </p:nvSpPr>
        <p:spPr>
          <a:xfrm>
            <a:off x="658368" y="4617720"/>
            <a:ext cx="5230368" cy="1243584"/>
          </a:xfrm>
          <a:prstGeom prst="roundRect">
            <a:avLst>
              <a:gd fmla="val 5882"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658368" y="4617720"/>
            <a:ext cx="73152" cy="1243584"/>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5"/>
          <p:cNvSpPr/>
          <p:nvPr/>
        </p:nvSpPr>
        <p:spPr>
          <a:xfrm>
            <a:off x="841248" y="4782312"/>
            <a:ext cx="486460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모바일 모델하우스</a:t>
            </a:r>
            <a:endParaRPr b="0" i="0" sz="1750" u="none" cap="none" strike="noStrike">
              <a:solidFill>
                <a:schemeClr val="dk1"/>
              </a:solidFill>
              <a:latin typeface="Noto Sans"/>
              <a:ea typeface="Noto Sans"/>
              <a:cs typeface="Noto Sans"/>
              <a:sym typeface="Noto Sans"/>
            </a:endParaRPr>
          </a:p>
        </p:txBody>
      </p:sp>
      <p:sp>
        <p:nvSpPr>
          <p:cNvPr id="138" name="Google Shape;138;p5"/>
          <p:cNvSpPr/>
          <p:nvPr/>
        </p:nvSpPr>
        <p:spPr>
          <a:xfrm>
            <a:off x="841248" y="5184648"/>
            <a:ext cx="4864608"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500"/>
              <a:buFont typeface="Noto Sans"/>
              <a:buNone/>
            </a:pPr>
            <a:r>
              <a:rPr b="0" i="0" lang="en-US" sz="1500" u="none" cap="none" strike="noStrike">
                <a:solidFill>
                  <a:srgbClr val="64778A"/>
                </a:solidFill>
                <a:latin typeface="Noto Sans"/>
                <a:ea typeface="Noto Sans"/>
                <a:cs typeface="Noto Sans"/>
                <a:sym typeface="Noto Sans"/>
              </a:rPr>
              <a:t>매물의 실내 공간을 사진 중심의 모바일형 화면으로 구성해 공간을 빠르게 이해할 수 있도록 설계했습니다.</a:t>
            </a:r>
            <a:endParaRPr b="0" i="0" sz="1500" u="none" cap="none" strike="noStrike">
              <a:solidFill>
                <a:schemeClr val="dk1"/>
              </a:solidFill>
              <a:latin typeface="Noto Sans"/>
              <a:ea typeface="Noto Sans"/>
              <a:cs typeface="Noto Sans"/>
              <a:sym typeface="Noto Sans"/>
            </a:endParaRPr>
          </a:p>
        </p:txBody>
      </p:sp>
      <p:sp>
        <p:nvSpPr>
          <p:cNvPr id="139" name="Google Shape;139;p5"/>
          <p:cNvSpPr/>
          <p:nvPr/>
        </p:nvSpPr>
        <p:spPr>
          <a:xfrm>
            <a:off x="6291072" y="4617720"/>
            <a:ext cx="5230368" cy="1243584"/>
          </a:xfrm>
          <a:prstGeom prst="roundRect">
            <a:avLst>
              <a:gd fmla="val 5882"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6291072" y="4617720"/>
            <a:ext cx="73152" cy="1243584"/>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6473952" y="4782312"/>
            <a:ext cx="486460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중개 LIVE</a:t>
            </a:r>
            <a:endParaRPr b="0" i="0" sz="1750" u="none" cap="none" strike="noStrike">
              <a:solidFill>
                <a:schemeClr val="dk1"/>
              </a:solidFill>
              <a:latin typeface="Noto Sans"/>
              <a:ea typeface="Noto Sans"/>
              <a:cs typeface="Noto Sans"/>
              <a:sym typeface="Noto Sans"/>
            </a:endParaRPr>
          </a:p>
        </p:txBody>
      </p:sp>
      <p:sp>
        <p:nvSpPr>
          <p:cNvPr id="142" name="Google Shape;142;p5"/>
          <p:cNvSpPr/>
          <p:nvPr/>
        </p:nvSpPr>
        <p:spPr>
          <a:xfrm>
            <a:off x="6473952" y="5184648"/>
            <a:ext cx="4864608" cy="530352"/>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500"/>
              <a:buFont typeface="Noto Sans"/>
              <a:buNone/>
            </a:pPr>
            <a:r>
              <a:rPr b="0" i="0" lang="en-US" sz="1500" u="none" cap="none" strike="noStrike">
                <a:solidFill>
                  <a:srgbClr val="64778A"/>
                </a:solidFill>
                <a:latin typeface="Noto Sans"/>
                <a:ea typeface="Noto Sans"/>
                <a:cs typeface="Noto Sans"/>
                <a:sym typeface="Noto Sans"/>
              </a:rPr>
              <a:t>지도와 영상형 콘텐츠를 결합한 화면으로 지역·매물 추천 경험을 확장하는 서비스 UI입니다.</a:t>
            </a:r>
            <a:endParaRPr b="0" i="0" sz="1500" u="none" cap="none" strike="noStrike">
              <a:solidFill>
                <a:schemeClr val="dk1"/>
              </a:solidFill>
              <a:latin typeface="Noto Sans"/>
              <a:ea typeface="Noto Sans"/>
              <a:cs typeface="Noto Sans"/>
              <a:sym typeface="Noto Sans"/>
            </a:endParaRPr>
          </a:p>
        </p:txBody>
      </p:sp>
      <p:sp>
        <p:nvSpPr>
          <p:cNvPr id="143" name="Google Shape;143;p5"/>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6"/>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지도 탐색: 매물·필터·POI를 한 화면에서</a:t>
            </a:r>
            <a:endParaRPr b="0" i="0" sz="2700" u="none" cap="none" strike="noStrike">
              <a:solidFill>
                <a:schemeClr val="dk1"/>
              </a:solidFill>
              <a:latin typeface="Noto Sans"/>
              <a:ea typeface="Noto Sans"/>
              <a:cs typeface="Noto Sans"/>
              <a:sym typeface="Noto Sans"/>
            </a:endParaRPr>
          </a:p>
        </p:txBody>
      </p:sp>
      <p:sp>
        <p:nvSpPr>
          <p:cNvPr id="150" name="Google Shape;150;p6"/>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Naver Maps를 중심으로 매물 군집, 조건 필터, 상세정보와 주변 생활 인프라를 결합했습니다.</a:t>
            </a:r>
            <a:endParaRPr b="0" i="0" sz="1450" u="none" cap="none" strike="noStrike">
              <a:solidFill>
                <a:schemeClr val="dk1"/>
              </a:solidFill>
              <a:latin typeface="Noto Sans"/>
              <a:ea typeface="Noto Sans"/>
              <a:cs typeface="Noto Sans"/>
              <a:sym typeface="Noto Sans"/>
            </a:endParaRPr>
          </a:p>
        </p:txBody>
      </p:sp>
      <p:sp>
        <p:nvSpPr>
          <p:cNvPr id="151" name="Google Shape;151;p6"/>
          <p:cNvSpPr/>
          <p:nvPr/>
        </p:nvSpPr>
        <p:spPr>
          <a:xfrm>
            <a:off x="9930384" y="804672"/>
            <a:ext cx="1755648" cy="384048"/>
          </a:xfrm>
          <a:prstGeom prst="roundRect">
            <a:avLst>
              <a:gd fmla="val 19048" name="adj"/>
            </a:avLst>
          </a:prstGeom>
          <a:solidFill>
            <a:srgbClr val="EAF9F6"/>
          </a:solidFill>
          <a:ln cap="flat" cmpd="sng" w="12700">
            <a:solidFill>
              <a:srgbClr val="BFE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10021824" y="859536"/>
            <a:ext cx="157276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7F74"/>
              </a:buClr>
              <a:buSzPts val="1050"/>
              <a:buFont typeface="Noto Sans"/>
              <a:buNone/>
            </a:pPr>
            <a:r>
              <a:rPr b="1" i="0" lang="en-US" sz="1050" u="none" cap="none" strike="noStrike">
                <a:solidFill>
                  <a:srgbClr val="187F74"/>
                </a:solidFill>
                <a:latin typeface="Noto Sans"/>
                <a:ea typeface="Noto Sans"/>
                <a:cs typeface="Noto Sans"/>
                <a:sym typeface="Noto Sans"/>
              </a:rPr>
              <a:t>PART 2 · 지도 탐색 + AI</a:t>
            </a:r>
            <a:endParaRPr b="0" i="0" sz="1050" u="none" cap="none" strike="noStrike">
              <a:solidFill>
                <a:schemeClr val="dk1"/>
              </a:solidFill>
              <a:latin typeface="Noto Sans"/>
              <a:ea typeface="Noto Sans"/>
              <a:cs typeface="Noto Sans"/>
              <a:sym typeface="Noto Sans"/>
            </a:endParaRPr>
          </a:p>
        </p:txBody>
      </p:sp>
      <p:sp>
        <p:nvSpPr>
          <p:cNvPr id="153" name="Google Shape;153;p6"/>
          <p:cNvSpPr/>
          <p:nvPr/>
        </p:nvSpPr>
        <p:spPr>
          <a:xfrm>
            <a:off x="621792" y="1847088"/>
            <a:ext cx="5413248" cy="2578608"/>
          </a:xfrm>
          <a:prstGeom prst="roundRect">
            <a:avLst>
              <a:gd fmla="val 2128"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713232" y="1938528"/>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795528" y="1993392"/>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매물 군집/목록</a:t>
            </a:r>
            <a:endParaRPr b="0" i="0" sz="1050" u="none" cap="none" strike="noStrike">
              <a:solidFill>
                <a:schemeClr val="dk1"/>
              </a:solidFill>
              <a:latin typeface="Noto Sans"/>
              <a:ea typeface="Noto Sans"/>
              <a:cs typeface="Noto Sans"/>
              <a:sym typeface="Noto Sans"/>
            </a:endParaRPr>
          </a:p>
        </p:txBody>
      </p:sp>
      <p:pic>
        <p:nvPicPr>
          <p:cNvPr descr="/mnt/data/ppt_image_extracted/2.png" id="156" name="Google Shape;156;p6"/>
          <p:cNvPicPr preferRelativeResize="0"/>
          <p:nvPr/>
        </p:nvPicPr>
        <p:blipFill rotWithShape="1">
          <a:blip r:embed="rId3">
            <a:alphaModFix/>
          </a:blip>
          <a:srcRect b="0" l="0" r="0" t="0"/>
          <a:stretch/>
        </p:blipFill>
        <p:spPr>
          <a:xfrm>
            <a:off x="676656" y="1901952"/>
            <a:ext cx="5303520" cy="2468880"/>
          </a:xfrm>
          <a:prstGeom prst="rect">
            <a:avLst/>
          </a:prstGeom>
          <a:noFill/>
          <a:ln>
            <a:noFill/>
          </a:ln>
        </p:spPr>
      </p:pic>
      <p:sp>
        <p:nvSpPr>
          <p:cNvPr id="157" name="Google Shape;157;p6"/>
          <p:cNvSpPr/>
          <p:nvPr/>
        </p:nvSpPr>
        <p:spPr>
          <a:xfrm>
            <a:off x="6163056" y="1847088"/>
            <a:ext cx="5413248" cy="2578608"/>
          </a:xfrm>
          <a:prstGeom prst="roundRect">
            <a:avLst>
              <a:gd fmla="val 2128"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a:off x="6254496" y="1938528"/>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6336792" y="1993392"/>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POI 표시</a:t>
            </a:r>
            <a:endParaRPr b="0" i="0" sz="1050" u="none" cap="none" strike="noStrike">
              <a:solidFill>
                <a:schemeClr val="dk1"/>
              </a:solidFill>
              <a:latin typeface="Noto Sans"/>
              <a:ea typeface="Noto Sans"/>
              <a:cs typeface="Noto Sans"/>
              <a:sym typeface="Noto Sans"/>
            </a:endParaRPr>
          </a:p>
        </p:txBody>
      </p:sp>
      <p:pic>
        <p:nvPicPr>
          <p:cNvPr descr="/mnt/data/ppt_image_extracted/3.png" id="160" name="Google Shape;160;p6"/>
          <p:cNvPicPr preferRelativeResize="0"/>
          <p:nvPr/>
        </p:nvPicPr>
        <p:blipFill rotWithShape="1">
          <a:blip r:embed="rId4">
            <a:alphaModFix/>
          </a:blip>
          <a:srcRect b="0" l="0" r="0" t="0"/>
          <a:stretch/>
        </p:blipFill>
        <p:spPr>
          <a:xfrm>
            <a:off x="6217920" y="1901952"/>
            <a:ext cx="5303520" cy="2468880"/>
          </a:xfrm>
          <a:prstGeom prst="rect">
            <a:avLst/>
          </a:prstGeom>
          <a:noFill/>
          <a:ln>
            <a:noFill/>
          </a:ln>
        </p:spPr>
      </p:pic>
      <p:sp>
        <p:nvSpPr>
          <p:cNvPr id="161" name="Google Shape;161;p6"/>
          <p:cNvSpPr/>
          <p:nvPr/>
        </p:nvSpPr>
        <p:spPr>
          <a:xfrm>
            <a:off x="640080" y="4645152"/>
            <a:ext cx="2743200" cy="1298448"/>
          </a:xfrm>
          <a:prstGeom prst="roundRect">
            <a:avLst>
              <a:gd fmla="val 5634"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640080" y="4645152"/>
            <a:ext cx="73152" cy="1298448"/>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822960" y="4809744"/>
            <a:ext cx="23774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확대 단계별 표현</a:t>
            </a:r>
            <a:endParaRPr b="0" i="0" sz="1750" u="none" cap="none" strike="noStrike">
              <a:solidFill>
                <a:schemeClr val="dk1"/>
              </a:solidFill>
              <a:latin typeface="Noto Sans"/>
              <a:ea typeface="Noto Sans"/>
              <a:cs typeface="Noto Sans"/>
              <a:sym typeface="Noto Sans"/>
            </a:endParaRPr>
          </a:p>
        </p:txBody>
      </p:sp>
      <p:sp>
        <p:nvSpPr>
          <p:cNvPr id="164" name="Google Shape;164;p6"/>
          <p:cNvSpPr/>
          <p:nvPr/>
        </p:nvSpPr>
        <p:spPr>
          <a:xfrm>
            <a:off x="822960" y="5212080"/>
            <a:ext cx="2377440" cy="585216"/>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420"/>
              <a:buFont typeface="Noto Sans"/>
              <a:buNone/>
            </a:pPr>
            <a:r>
              <a:rPr b="0" i="0" lang="en-US" sz="1420" u="none" cap="none" strike="noStrike">
                <a:solidFill>
                  <a:srgbClr val="64778A"/>
                </a:solidFill>
                <a:latin typeface="Noto Sans"/>
                <a:ea typeface="Noto Sans"/>
                <a:cs typeface="Noto Sans"/>
                <a:sym typeface="Noto Sans"/>
              </a:rPr>
              <a:t>시군구 → 동 → 개별 매물로 표현 수준을 바꾸고 Supercluster로 마커 과밀을 제어합니다.</a:t>
            </a:r>
            <a:endParaRPr b="0" i="0" sz="1420" u="none" cap="none" strike="noStrike">
              <a:solidFill>
                <a:schemeClr val="dk1"/>
              </a:solidFill>
              <a:latin typeface="Noto Sans"/>
              <a:ea typeface="Noto Sans"/>
              <a:cs typeface="Noto Sans"/>
              <a:sym typeface="Noto Sans"/>
            </a:endParaRPr>
          </a:p>
        </p:txBody>
      </p:sp>
      <p:sp>
        <p:nvSpPr>
          <p:cNvPr id="165" name="Google Shape;165;p6"/>
          <p:cNvSpPr/>
          <p:nvPr/>
        </p:nvSpPr>
        <p:spPr>
          <a:xfrm>
            <a:off x="3547872" y="4645152"/>
            <a:ext cx="2743200" cy="1298448"/>
          </a:xfrm>
          <a:prstGeom prst="roundRect">
            <a:avLst>
              <a:gd fmla="val 5634"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a:off x="3547872" y="4645152"/>
            <a:ext cx="73152" cy="1298448"/>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3730752" y="4809744"/>
            <a:ext cx="237744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검색·필터·상세</a:t>
            </a:r>
            <a:endParaRPr b="0" i="0" sz="1750" u="none" cap="none" strike="noStrike">
              <a:solidFill>
                <a:schemeClr val="dk1"/>
              </a:solidFill>
              <a:latin typeface="Noto Sans"/>
              <a:ea typeface="Noto Sans"/>
              <a:cs typeface="Noto Sans"/>
              <a:sym typeface="Noto Sans"/>
            </a:endParaRPr>
          </a:p>
        </p:txBody>
      </p:sp>
      <p:sp>
        <p:nvSpPr>
          <p:cNvPr id="168" name="Google Shape;168;p6"/>
          <p:cNvSpPr/>
          <p:nvPr/>
        </p:nvSpPr>
        <p:spPr>
          <a:xfrm>
            <a:off x="3730752" y="5212080"/>
            <a:ext cx="2377440" cy="585216"/>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420"/>
              <a:buFont typeface="Noto Sans"/>
              <a:buNone/>
            </a:pPr>
            <a:r>
              <a:rPr b="0" i="0" lang="en-US" sz="1420" u="none" cap="none" strike="noStrike">
                <a:solidFill>
                  <a:srgbClr val="64778A"/>
                </a:solidFill>
                <a:latin typeface="Noto Sans"/>
                <a:ea typeface="Noto Sans"/>
                <a:cs typeface="Noto Sans"/>
                <a:sym typeface="Noto Sans"/>
              </a:rPr>
              <a:t>주소/단지명 검색과 가격·면적·준공연수 필터, 매물 상세와 가격 이력을 제공합니다.</a:t>
            </a:r>
            <a:endParaRPr b="0" i="0" sz="1420" u="none" cap="none" strike="noStrike">
              <a:solidFill>
                <a:schemeClr val="dk1"/>
              </a:solidFill>
              <a:latin typeface="Noto Sans"/>
              <a:ea typeface="Noto Sans"/>
              <a:cs typeface="Noto Sans"/>
              <a:sym typeface="Noto Sans"/>
            </a:endParaRPr>
          </a:p>
        </p:txBody>
      </p:sp>
      <p:sp>
        <p:nvSpPr>
          <p:cNvPr id="169" name="Google Shape;169;p6"/>
          <p:cNvSpPr/>
          <p:nvPr/>
        </p:nvSpPr>
        <p:spPr>
          <a:xfrm>
            <a:off x="6455664" y="4645152"/>
            <a:ext cx="2423160" cy="1298448"/>
          </a:xfrm>
          <a:prstGeom prst="roundRect">
            <a:avLst>
              <a:gd fmla="val 5634"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6455664" y="4645152"/>
            <a:ext cx="73152" cy="1298448"/>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6638544" y="4809744"/>
            <a:ext cx="20574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생활 인프라</a:t>
            </a:r>
            <a:endParaRPr b="0" i="0" sz="1750" u="none" cap="none" strike="noStrike">
              <a:solidFill>
                <a:schemeClr val="dk1"/>
              </a:solidFill>
              <a:latin typeface="Noto Sans"/>
              <a:ea typeface="Noto Sans"/>
              <a:cs typeface="Noto Sans"/>
              <a:sym typeface="Noto Sans"/>
            </a:endParaRPr>
          </a:p>
        </p:txBody>
      </p:sp>
      <p:sp>
        <p:nvSpPr>
          <p:cNvPr id="172" name="Google Shape;172;p6"/>
          <p:cNvSpPr/>
          <p:nvPr/>
        </p:nvSpPr>
        <p:spPr>
          <a:xfrm>
            <a:off x="6638544" y="5212080"/>
            <a:ext cx="2057400" cy="585216"/>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420"/>
              <a:buFont typeface="Noto Sans"/>
              <a:buNone/>
            </a:pPr>
            <a:r>
              <a:rPr b="0" i="0" lang="en-US" sz="1420" u="none" cap="none" strike="noStrike">
                <a:solidFill>
                  <a:srgbClr val="64778A"/>
                </a:solidFill>
                <a:latin typeface="Noto Sans"/>
                <a:ea typeface="Noto Sans"/>
                <a:cs typeface="Noto Sans"/>
                <a:sym typeface="Noto Sans"/>
              </a:rPr>
              <a:t>교육·의료·교통·공공·중개 POI를 카테고리별로 확인할 수 있습니다.</a:t>
            </a:r>
            <a:endParaRPr b="0" i="0" sz="1420" u="none" cap="none" strike="noStrike">
              <a:solidFill>
                <a:schemeClr val="dk1"/>
              </a:solidFill>
              <a:latin typeface="Noto Sans"/>
              <a:ea typeface="Noto Sans"/>
              <a:cs typeface="Noto Sans"/>
              <a:sym typeface="Noto Sans"/>
            </a:endParaRPr>
          </a:p>
        </p:txBody>
      </p:sp>
      <p:sp>
        <p:nvSpPr>
          <p:cNvPr id="173" name="Google Shape;173;p6"/>
          <p:cNvSpPr/>
          <p:nvPr/>
        </p:nvSpPr>
        <p:spPr>
          <a:xfrm>
            <a:off x="9043416" y="4645152"/>
            <a:ext cx="2532888" cy="1298448"/>
          </a:xfrm>
          <a:prstGeom prst="roundRect">
            <a:avLst>
              <a:gd fmla="val 5634"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9043416" y="4645152"/>
            <a:ext cx="73152" cy="1298448"/>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6"/>
          <p:cNvSpPr/>
          <p:nvPr/>
        </p:nvSpPr>
        <p:spPr>
          <a:xfrm>
            <a:off x="9226296" y="4809744"/>
            <a:ext cx="2167128"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성능 보호</a:t>
            </a:r>
            <a:endParaRPr b="0" i="0" sz="1750" u="none" cap="none" strike="noStrike">
              <a:solidFill>
                <a:schemeClr val="dk1"/>
              </a:solidFill>
              <a:latin typeface="Noto Sans"/>
              <a:ea typeface="Noto Sans"/>
              <a:cs typeface="Noto Sans"/>
              <a:sym typeface="Noto Sans"/>
            </a:endParaRPr>
          </a:p>
        </p:txBody>
      </p:sp>
      <p:sp>
        <p:nvSpPr>
          <p:cNvPr id="176" name="Google Shape;176;p6"/>
          <p:cNvSpPr/>
          <p:nvPr/>
        </p:nvSpPr>
        <p:spPr>
          <a:xfrm>
            <a:off x="9226296" y="5212080"/>
            <a:ext cx="2167128" cy="585216"/>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420"/>
              <a:buFont typeface="Noto Sans"/>
              <a:buNone/>
            </a:pPr>
            <a:r>
              <a:rPr b="0" i="0" lang="en-US" sz="1420" u="none" cap="none" strike="noStrike">
                <a:solidFill>
                  <a:srgbClr val="64778A"/>
                </a:solidFill>
                <a:latin typeface="Noto Sans"/>
                <a:ea typeface="Noto Sans"/>
                <a:cs typeface="Noto Sans"/>
                <a:sym typeface="Noto Sans"/>
              </a:rPr>
              <a:t>마커·목록·POI 표시 상한을 두어 브라우저 렌더링 부하를 제어합니다.</a:t>
            </a:r>
            <a:endParaRPr b="0" i="0" sz="1420" u="none" cap="none" strike="noStrike">
              <a:solidFill>
                <a:schemeClr val="dk1"/>
              </a:solidFill>
              <a:latin typeface="Noto Sans"/>
              <a:ea typeface="Noto Sans"/>
              <a:cs typeface="Noto Sans"/>
              <a:sym typeface="Noto Sans"/>
            </a:endParaRPr>
          </a:p>
        </p:txBody>
      </p:sp>
      <p:sp>
        <p:nvSpPr>
          <p:cNvPr id="177" name="Google Shape;177;p6"/>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7"/>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AI Agent: 자연어를 실제 지도 동작으로 연결</a:t>
            </a:r>
            <a:endParaRPr b="0" i="0" sz="2700" u="none" cap="none" strike="noStrike">
              <a:solidFill>
                <a:schemeClr val="dk1"/>
              </a:solidFill>
              <a:latin typeface="Noto Sans"/>
              <a:ea typeface="Noto Sans"/>
              <a:cs typeface="Noto Sans"/>
              <a:sym typeface="Noto Sans"/>
            </a:endParaRPr>
          </a:p>
        </p:txBody>
      </p:sp>
      <p:sp>
        <p:nvSpPr>
          <p:cNvPr id="184" name="Google Shape;184;p7"/>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단순 답변이 아니라 Agent가 Tool을 선택하고 검증된 UI Action으로 지도를 직접 제어합니다.</a:t>
            </a:r>
            <a:endParaRPr b="0" i="0" sz="1450" u="none" cap="none" strike="noStrike">
              <a:solidFill>
                <a:schemeClr val="dk1"/>
              </a:solidFill>
              <a:latin typeface="Noto Sans"/>
              <a:ea typeface="Noto Sans"/>
              <a:cs typeface="Noto Sans"/>
              <a:sym typeface="Noto Sans"/>
            </a:endParaRPr>
          </a:p>
        </p:txBody>
      </p:sp>
      <p:sp>
        <p:nvSpPr>
          <p:cNvPr id="185" name="Google Shape;185;p7"/>
          <p:cNvSpPr/>
          <p:nvPr/>
        </p:nvSpPr>
        <p:spPr>
          <a:xfrm>
            <a:off x="9930384" y="804672"/>
            <a:ext cx="1755648" cy="384048"/>
          </a:xfrm>
          <a:prstGeom prst="roundRect">
            <a:avLst>
              <a:gd fmla="val 19048" name="adj"/>
            </a:avLst>
          </a:prstGeom>
          <a:solidFill>
            <a:srgbClr val="EAF9F6"/>
          </a:solidFill>
          <a:ln cap="flat" cmpd="sng" w="12700">
            <a:solidFill>
              <a:srgbClr val="BFE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7"/>
          <p:cNvSpPr/>
          <p:nvPr/>
        </p:nvSpPr>
        <p:spPr>
          <a:xfrm>
            <a:off x="10021824" y="859536"/>
            <a:ext cx="157276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7F74"/>
              </a:buClr>
              <a:buSzPts val="1050"/>
              <a:buFont typeface="Noto Sans"/>
              <a:buNone/>
            </a:pPr>
            <a:r>
              <a:rPr b="1" i="0" lang="en-US" sz="1050" u="none" cap="none" strike="noStrike">
                <a:solidFill>
                  <a:srgbClr val="187F74"/>
                </a:solidFill>
                <a:latin typeface="Noto Sans"/>
                <a:ea typeface="Noto Sans"/>
                <a:cs typeface="Noto Sans"/>
                <a:sym typeface="Noto Sans"/>
              </a:rPr>
              <a:t>PART 2 · 지도 탐색 + AI</a:t>
            </a:r>
            <a:endParaRPr b="0" i="0" sz="1050" u="none" cap="none" strike="noStrike">
              <a:solidFill>
                <a:schemeClr val="dk1"/>
              </a:solidFill>
              <a:latin typeface="Noto Sans"/>
              <a:ea typeface="Noto Sans"/>
              <a:cs typeface="Noto Sans"/>
              <a:sym typeface="Noto Sans"/>
            </a:endParaRPr>
          </a:p>
        </p:txBody>
      </p:sp>
      <p:sp>
        <p:nvSpPr>
          <p:cNvPr id="187" name="Google Shape;187;p7"/>
          <p:cNvSpPr/>
          <p:nvPr/>
        </p:nvSpPr>
        <p:spPr>
          <a:xfrm>
            <a:off x="640080" y="1847088"/>
            <a:ext cx="5120640" cy="3063240"/>
          </a:xfrm>
          <a:prstGeom prst="roundRect">
            <a:avLst>
              <a:gd fmla="val 1791"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731520" y="1938528"/>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7"/>
          <p:cNvSpPr/>
          <p:nvPr/>
        </p:nvSpPr>
        <p:spPr>
          <a:xfrm>
            <a:off x="813816" y="1993392"/>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AI 매물 검색 + 지도 Action</a:t>
            </a:r>
            <a:endParaRPr b="0" i="0" sz="1050" u="none" cap="none" strike="noStrike">
              <a:solidFill>
                <a:schemeClr val="dk1"/>
              </a:solidFill>
              <a:latin typeface="Noto Sans"/>
              <a:ea typeface="Noto Sans"/>
              <a:cs typeface="Noto Sans"/>
              <a:sym typeface="Noto Sans"/>
            </a:endParaRPr>
          </a:p>
        </p:txBody>
      </p:sp>
      <p:pic>
        <p:nvPicPr>
          <p:cNvPr descr="/mnt/data/ppt_image_extracted/4.png" id="190" name="Google Shape;190;p7"/>
          <p:cNvPicPr preferRelativeResize="0"/>
          <p:nvPr/>
        </p:nvPicPr>
        <p:blipFill rotWithShape="1">
          <a:blip r:embed="rId3">
            <a:alphaModFix/>
          </a:blip>
          <a:srcRect b="0" l="0" r="0" t="0"/>
          <a:stretch/>
        </p:blipFill>
        <p:spPr>
          <a:xfrm>
            <a:off x="694944" y="1901952"/>
            <a:ext cx="5010912" cy="2953512"/>
          </a:xfrm>
          <a:prstGeom prst="rect">
            <a:avLst/>
          </a:prstGeom>
          <a:noFill/>
          <a:ln>
            <a:noFill/>
          </a:ln>
        </p:spPr>
      </p:pic>
      <p:sp>
        <p:nvSpPr>
          <p:cNvPr id="191" name="Google Shape;191;p7"/>
          <p:cNvSpPr/>
          <p:nvPr/>
        </p:nvSpPr>
        <p:spPr>
          <a:xfrm>
            <a:off x="6089904" y="1920240"/>
            <a:ext cx="5349240" cy="841248"/>
          </a:xfrm>
          <a:prstGeom prst="roundRect">
            <a:avLst>
              <a:gd fmla="val 6522" name="adj"/>
            </a:avLst>
          </a:prstGeom>
          <a:solidFill>
            <a:srgbClr val="FFFFFF"/>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a:off x="6236208" y="2103120"/>
            <a:ext cx="457200" cy="457200"/>
          </a:xfrm>
          <a:prstGeom prst="ellipse">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
          <p:cNvSpPr/>
          <p:nvPr/>
        </p:nvSpPr>
        <p:spPr>
          <a:xfrm>
            <a:off x="6236208" y="2208276"/>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01</a:t>
            </a:r>
            <a:endParaRPr b="0" i="0" sz="1050" u="none" cap="none" strike="noStrike">
              <a:solidFill>
                <a:schemeClr val="dk1"/>
              </a:solidFill>
              <a:latin typeface="Noto Sans"/>
              <a:ea typeface="Noto Sans"/>
              <a:cs typeface="Noto Sans"/>
              <a:sym typeface="Noto Sans"/>
            </a:endParaRPr>
          </a:p>
        </p:txBody>
      </p:sp>
      <p:sp>
        <p:nvSpPr>
          <p:cNvPr id="194" name="Google Shape;194;p7"/>
          <p:cNvSpPr/>
          <p:nvPr/>
        </p:nvSpPr>
        <p:spPr>
          <a:xfrm>
            <a:off x="6821424" y="2075688"/>
            <a:ext cx="447141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550"/>
              <a:buFont typeface="Noto Sans"/>
              <a:buNone/>
            </a:pPr>
            <a:r>
              <a:rPr b="1" i="0" lang="en-US" sz="1550" u="none" cap="none" strike="noStrike">
                <a:solidFill>
                  <a:srgbClr val="17324D"/>
                </a:solidFill>
                <a:latin typeface="Noto Sans"/>
                <a:ea typeface="Noto Sans"/>
                <a:cs typeface="Noto Sans"/>
                <a:sym typeface="Noto Sans"/>
              </a:rPr>
              <a:t>사용자 자연어</a:t>
            </a:r>
            <a:endParaRPr b="0" i="0" sz="1550" u="none" cap="none" strike="noStrike">
              <a:solidFill>
                <a:schemeClr val="dk1"/>
              </a:solidFill>
              <a:latin typeface="Noto Sans"/>
              <a:ea typeface="Noto Sans"/>
              <a:cs typeface="Noto Sans"/>
              <a:sym typeface="Noto Sans"/>
            </a:endParaRPr>
          </a:p>
        </p:txBody>
      </p:sp>
      <p:sp>
        <p:nvSpPr>
          <p:cNvPr id="195" name="Google Shape;195;p7"/>
          <p:cNvSpPr/>
          <p:nvPr/>
        </p:nvSpPr>
        <p:spPr>
          <a:xfrm>
            <a:off x="6821424" y="2359152"/>
            <a:ext cx="4471416"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4778A"/>
              </a:buClr>
              <a:buSzPts val="1250"/>
              <a:buFont typeface="Noto Sans"/>
              <a:buNone/>
            </a:pPr>
            <a:r>
              <a:rPr b="0" i="0" lang="en-US" sz="1250" u="none" cap="none" strike="noStrike">
                <a:solidFill>
                  <a:srgbClr val="64778A"/>
                </a:solidFill>
                <a:latin typeface="Noto Sans"/>
                <a:ea typeface="Noto Sans"/>
                <a:cs typeface="Noto Sans"/>
                <a:sym typeface="Noto Sans"/>
              </a:rPr>
              <a:t>“판교역 8억 이하 아파트 보여줘”</a:t>
            </a:r>
            <a:endParaRPr b="0" i="0" sz="1250" u="none" cap="none" strike="noStrike">
              <a:solidFill>
                <a:schemeClr val="dk1"/>
              </a:solidFill>
              <a:latin typeface="Noto Sans"/>
              <a:ea typeface="Noto Sans"/>
              <a:cs typeface="Noto Sans"/>
              <a:sym typeface="Noto Sans"/>
            </a:endParaRPr>
          </a:p>
        </p:txBody>
      </p:sp>
      <p:sp>
        <p:nvSpPr>
          <p:cNvPr id="196" name="Google Shape;196;p7"/>
          <p:cNvSpPr/>
          <p:nvPr/>
        </p:nvSpPr>
        <p:spPr>
          <a:xfrm>
            <a:off x="6089904" y="2889504"/>
            <a:ext cx="5349240" cy="841248"/>
          </a:xfrm>
          <a:prstGeom prst="roundRect">
            <a:avLst>
              <a:gd fmla="val 6522" name="adj"/>
            </a:avLst>
          </a:prstGeom>
          <a:solidFill>
            <a:srgbClr val="FFFFFF"/>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7"/>
          <p:cNvSpPr/>
          <p:nvPr/>
        </p:nvSpPr>
        <p:spPr>
          <a:xfrm>
            <a:off x="6236208" y="3072384"/>
            <a:ext cx="457200" cy="457200"/>
          </a:xfrm>
          <a:prstGeom prst="ellipse">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6236208" y="3177540"/>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02</a:t>
            </a:r>
            <a:endParaRPr b="0" i="0" sz="1050" u="none" cap="none" strike="noStrike">
              <a:solidFill>
                <a:schemeClr val="dk1"/>
              </a:solidFill>
              <a:latin typeface="Noto Sans"/>
              <a:ea typeface="Noto Sans"/>
              <a:cs typeface="Noto Sans"/>
              <a:sym typeface="Noto Sans"/>
            </a:endParaRPr>
          </a:p>
        </p:txBody>
      </p:sp>
      <p:sp>
        <p:nvSpPr>
          <p:cNvPr id="199" name="Google Shape;199;p7"/>
          <p:cNvSpPr/>
          <p:nvPr/>
        </p:nvSpPr>
        <p:spPr>
          <a:xfrm>
            <a:off x="6821424" y="3044952"/>
            <a:ext cx="447141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550"/>
              <a:buFont typeface="Noto Sans"/>
              <a:buNone/>
            </a:pPr>
            <a:r>
              <a:rPr b="1" i="0" lang="en-US" sz="1550" u="none" cap="none" strike="noStrike">
                <a:solidFill>
                  <a:srgbClr val="17324D"/>
                </a:solidFill>
                <a:latin typeface="Noto Sans"/>
                <a:ea typeface="Noto Sans"/>
                <a:cs typeface="Noto Sans"/>
                <a:sym typeface="Noto Sans"/>
              </a:rPr>
              <a:t>App State</a:t>
            </a:r>
            <a:endParaRPr b="0" i="0" sz="1550" u="none" cap="none" strike="noStrike">
              <a:solidFill>
                <a:schemeClr val="dk1"/>
              </a:solidFill>
              <a:latin typeface="Noto Sans"/>
              <a:ea typeface="Noto Sans"/>
              <a:cs typeface="Noto Sans"/>
              <a:sym typeface="Noto Sans"/>
            </a:endParaRPr>
          </a:p>
        </p:txBody>
      </p:sp>
      <p:sp>
        <p:nvSpPr>
          <p:cNvPr id="200" name="Google Shape;200;p7"/>
          <p:cNvSpPr/>
          <p:nvPr/>
        </p:nvSpPr>
        <p:spPr>
          <a:xfrm>
            <a:off x="6821424" y="3328416"/>
            <a:ext cx="4471416"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4778A"/>
              </a:buClr>
              <a:buSzPts val="1250"/>
              <a:buFont typeface="Noto Sans"/>
              <a:buNone/>
            </a:pPr>
            <a:r>
              <a:rPr b="0" i="0" lang="en-US" sz="1250" u="none" cap="none" strike="noStrike">
                <a:solidFill>
                  <a:srgbClr val="64778A"/>
                </a:solidFill>
                <a:latin typeface="Noto Sans"/>
                <a:ea typeface="Noto Sans"/>
                <a:cs typeface="Noto Sans"/>
                <a:sym typeface="Noto Sans"/>
              </a:rPr>
              <a:t>현재 지도·선택 지역·선택 매물·관심매물</a:t>
            </a:r>
            <a:endParaRPr b="0" i="0" sz="1250" u="none" cap="none" strike="noStrike">
              <a:solidFill>
                <a:schemeClr val="dk1"/>
              </a:solidFill>
              <a:latin typeface="Noto Sans"/>
              <a:ea typeface="Noto Sans"/>
              <a:cs typeface="Noto Sans"/>
              <a:sym typeface="Noto Sans"/>
            </a:endParaRPr>
          </a:p>
        </p:txBody>
      </p:sp>
      <p:sp>
        <p:nvSpPr>
          <p:cNvPr id="201" name="Google Shape;201;p7"/>
          <p:cNvSpPr/>
          <p:nvPr/>
        </p:nvSpPr>
        <p:spPr>
          <a:xfrm>
            <a:off x="6089904" y="3858768"/>
            <a:ext cx="5349240" cy="841248"/>
          </a:xfrm>
          <a:prstGeom prst="roundRect">
            <a:avLst>
              <a:gd fmla="val 6522" name="adj"/>
            </a:avLst>
          </a:prstGeom>
          <a:solidFill>
            <a:srgbClr val="FFFFFF"/>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
          <p:cNvSpPr/>
          <p:nvPr/>
        </p:nvSpPr>
        <p:spPr>
          <a:xfrm>
            <a:off x="6236208" y="4041648"/>
            <a:ext cx="457200" cy="457200"/>
          </a:xfrm>
          <a:prstGeom prst="ellipse">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a:off x="6236208" y="4146804"/>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03</a:t>
            </a:r>
            <a:endParaRPr b="0" i="0" sz="1050" u="none" cap="none" strike="noStrike">
              <a:solidFill>
                <a:schemeClr val="dk1"/>
              </a:solidFill>
              <a:latin typeface="Noto Sans"/>
              <a:ea typeface="Noto Sans"/>
              <a:cs typeface="Noto Sans"/>
              <a:sym typeface="Noto Sans"/>
            </a:endParaRPr>
          </a:p>
        </p:txBody>
      </p:sp>
      <p:sp>
        <p:nvSpPr>
          <p:cNvPr id="204" name="Google Shape;204;p7"/>
          <p:cNvSpPr/>
          <p:nvPr/>
        </p:nvSpPr>
        <p:spPr>
          <a:xfrm>
            <a:off x="6821424" y="4014216"/>
            <a:ext cx="447141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550"/>
              <a:buFont typeface="Noto Sans"/>
              <a:buNone/>
            </a:pPr>
            <a:r>
              <a:rPr b="1" i="0" lang="en-US" sz="1550" u="none" cap="none" strike="noStrike">
                <a:solidFill>
                  <a:srgbClr val="17324D"/>
                </a:solidFill>
                <a:latin typeface="Noto Sans"/>
                <a:ea typeface="Noto Sans"/>
                <a:cs typeface="Noto Sans"/>
                <a:sym typeface="Noto Sans"/>
              </a:rPr>
              <a:t>Agent Tool</a:t>
            </a:r>
            <a:endParaRPr b="0" i="0" sz="1550" u="none" cap="none" strike="noStrike">
              <a:solidFill>
                <a:schemeClr val="dk1"/>
              </a:solidFill>
              <a:latin typeface="Noto Sans"/>
              <a:ea typeface="Noto Sans"/>
              <a:cs typeface="Noto Sans"/>
              <a:sym typeface="Noto Sans"/>
            </a:endParaRPr>
          </a:p>
        </p:txBody>
      </p:sp>
      <p:sp>
        <p:nvSpPr>
          <p:cNvPr id="205" name="Google Shape;205;p7"/>
          <p:cNvSpPr/>
          <p:nvPr/>
        </p:nvSpPr>
        <p:spPr>
          <a:xfrm>
            <a:off x="6821424" y="4297680"/>
            <a:ext cx="4471416"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4778A"/>
              </a:buClr>
              <a:buSzPts val="1250"/>
              <a:buFont typeface="Noto Sans"/>
              <a:buNone/>
            </a:pPr>
            <a:r>
              <a:rPr b="0" i="0" lang="en-US" sz="1250" u="none" cap="none" strike="noStrike">
                <a:solidFill>
                  <a:srgbClr val="64778A"/>
                </a:solidFill>
                <a:latin typeface="Noto Sans"/>
                <a:ea typeface="Noto Sans"/>
                <a:cs typeface="Noto Sans"/>
                <a:sym typeface="Noto Sans"/>
              </a:rPr>
              <a:t>매물·POI·역·법률 검색 등 16개 Tool</a:t>
            </a:r>
            <a:endParaRPr b="0" i="0" sz="1250" u="none" cap="none" strike="noStrike">
              <a:solidFill>
                <a:schemeClr val="dk1"/>
              </a:solidFill>
              <a:latin typeface="Noto Sans"/>
              <a:ea typeface="Noto Sans"/>
              <a:cs typeface="Noto Sans"/>
              <a:sym typeface="Noto Sans"/>
            </a:endParaRPr>
          </a:p>
        </p:txBody>
      </p:sp>
      <p:sp>
        <p:nvSpPr>
          <p:cNvPr id="206" name="Google Shape;206;p7"/>
          <p:cNvSpPr/>
          <p:nvPr/>
        </p:nvSpPr>
        <p:spPr>
          <a:xfrm>
            <a:off x="6089904" y="4828032"/>
            <a:ext cx="5349240" cy="841248"/>
          </a:xfrm>
          <a:prstGeom prst="roundRect">
            <a:avLst>
              <a:gd fmla="val 6522" name="adj"/>
            </a:avLst>
          </a:prstGeom>
          <a:solidFill>
            <a:srgbClr val="FFFFFF"/>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6236208" y="5010912"/>
            <a:ext cx="457200" cy="457200"/>
          </a:xfrm>
          <a:prstGeom prst="ellipse">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p:nvPr/>
        </p:nvSpPr>
        <p:spPr>
          <a:xfrm>
            <a:off x="6236208" y="5116068"/>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04</a:t>
            </a:r>
            <a:endParaRPr b="0" i="0" sz="1050" u="none" cap="none" strike="noStrike">
              <a:solidFill>
                <a:schemeClr val="dk1"/>
              </a:solidFill>
              <a:latin typeface="Noto Sans"/>
              <a:ea typeface="Noto Sans"/>
              <a:cs typeface="Noto Sans"/>
              <a:sym typeface="Noto Sans"/>
            </a:endParaRPr>
          </a:p>
        </p:txBody>
      </p:sp>
      <p:sp>
        <p:nvSpPr>
          <p:cNvPr id="209" name="Google Shape;209;p7"/>
          <p:cNvSpPr/>
          <p:nvPr/>
        </p:nvSpPr>
        <p:spPr>
          <a:xfrm>
            <a:off x="6821424" y="4983480"/>
            <a:ext cx="447141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550"/>
              <a:buFont typeface="Noto Sans"/>
              <a:buNone/>
            </a:pPr>
            <a:r>
              <a:rPr b="1" i="0" lang="en-US" sz="1550" u="none" cap="none" strike="noStrike">
                <a:solidFill>
                  <a:srgbClr val="17324D"/>
                </a:solidFill>
                <a:latin typeface="Noto Sans"/>
                <a:ea typeface="Noto Sans"/>
                <a:cs typeface="Noto Sans"/>
                <a:sym typeface="Noto Sans"/>
              </a:rPr>
              <a:t>UI Action</a:t>
            </a:r>
            <a:endParaRPr b="0" i="0" sz="1550" u="none" cap="none" strike="noStrike">
              <a:solidFill>
                <a:schemeClr val="dk1"/>
              </a:solidFill>
              <a:latin typeface="Noto Sans"/>
              <a:ea typeface="Noto Sans"/>
              <a:cs typeface="Noto Sans"/>
              <a:sym typeface="Noto Sans"/>
            </a:endParaRPr>
          </a:p>
        </p:txBody>
      </p:sp>
      <p:sp>
        <p:nvSpPr>
          <p:cNvPr id="210" name="Google Shape;210;p7"/>
          <p:cNvSpPr/>
          <p:nvPr/>
        </p:nvSpPr>
        <p:spPr>
          <a:xfrm>
            <a:off x="6821424" y="5266944"/>
            <a:ext cx="4471416"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4778A"/>
              </a:buClr>
              <a:buSzPts val="1250"/>
              <a:buFont typeface="Noto Sans"/>
              <a:buNone/>
            </a:pPr>
            <a:r>
              <a:rPr b="0" i="0" lang="en-US" sz="1250" u="none" cap="none" strike="noStrike">
                <a:solidFill>
                  <a:srgbClr val="64778A"/>
                </a:solidFill>
                <a:latin typeface="Noto Sans"/>
                <a:ea typeface="Noto Sans"/>
                <a:cs typeface="Noto Sans"/>
                <a:sym typeface="Noto Sans"/>
              </a:rPr>
              <a:t>이동·범위 맞춤·강조·상세 열기</a:t>
            </a:r>
            <a:endParaRPr b="0" i="0" sz="1250" u="none" cap="none" strike="noStrike">
              <a:solidFill>
                <a:schemeClr val="dk1"/>
              </a:solidFill>
              <a:latin typeface="Noto Sans"/>
              <a:ea typeface="Noto Sans"/>
              <a:cs typeface="Noto Sans"/>
              <a:sym typeface="Noto Sans"/>
            </a:endParaRPr>
          </a:p>
        </p:txBody>
      </p:sp>
      <p:sp>
        <p:nvSpPr>
          <p:cNvPr id="211" name="Google Shape;211;p7"/>
          <p:cNvSpPr/>
          <p:nvPr/>
        </p:nvSpPr>
        <p:spPr>
          <a:xfrm>
            <a:off x="6089904" y="5833872"/>
            <a:ext cx="5349240" cy="438912"/>
          </a:xfrm>
          <a:prstGeom prst="roundRect">
            <a:avLst>
              <a:gd fmla="val 10417" name="adj"/>
            </a:avLst>
          </a:prstGeom>
          <a:solidFill>
            <a:srgbClr val="EAF5FD"/>
          </a:solidFill>
          <a:ln cap="flat" cmpd="sng" w="12700">
            <a:solidFill>
              <a:srgbClr val="C7E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7"/>
          <p:cNvSpPr/>
          <p:nvPr/>
        </p:nvSpPr>
        <p:spPr>
          <a:xfrm>
            <a:off x="6309360" y="5934456"/>
            <a:ext cx="48920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320"/>
              <a:buFont typeface="Noto Sans"/>
              <a:buNone/>
            </a:pPr>
            <a:r>
              <a:rPr b="1" i="0" lang="en-US" sz="1320" u="none" cap="none" strike="noStrike">
                <a:solidFill>
                  <a:srgbClr val="17324D"/>
                </a:solidFill>
                <a:latin typeface="Noto Sans"/>
                <a:ea typeface="Noto Sans"/>
                <a:cs typeface="Noto Sans"/>
                <a:sym typeface="Noto Sans"/>
              </a:rPr>
              <a:t>모델이 임의 JavaScript를 실행하지 않고, 허용된 Action 타입만 프론트에서 실행</a:t>
            </a:r>
            <a:endParaRPr b="0" i="0" sz="1320" u="none" cap="none" strike="noStrike">
              <a:solidFill>
                <a:schemeClr val="dk1"/>
              </a:solidFill>
              <a:latin typeface="Noto Sans"/>
              <a:ea typeface="Noto Sans"/>
              <a:cs typeface="Noto Sans"/>
              <a:sym typeface="Noto Sans"/>
            </a:endParaRPr>
          </a:p>
        </p:txBody>
      </p:sp>
      <p:sp>
        <p:nvSpPr>
          <p:cNvPr id="213" name="Google Shape;213;p7"/>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8"/>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Multi-turn: “그중”, “그 매물”, “거기”를 이어서 이해</a:t>
            </a:r>
            <a:endParaRPr b="0" i="0" sz="2700" u="none" cap="none" strike="noStrike">
              <a:solidFill>
                <a:schemeClr val="dk1"/>
              </a:solidFill>
              <a:latin typeface="Noto Sans"/>
              <a:ea typeface="Noto Sans"/>
              <a:cs typeface="Noto Sans"/>
              <a:sym typeface="Noto Sans"/>
            </a:endParaRPr>
          </a:p>
        </p:txBody>
      </p:sp>
      <p:sp>
        <p:nvSpPr>
          <p:cNvPr id="220" name="Google Shape;220;p8"/>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최근 대화와 구조화된 매물 문맥을 함께 전달해 단발성 검색을 대화형 탐색으로 확장했습니다.</a:t>
            </a:r>
            <a:endParaRPr b="0" i="0" sz="1450" u="none" cap="none" strike="noStrike">
              <a:solidFill>
                <a:schemeClr val="dk1"/>
              </a:solidFill>
              <a:latin typeface="Noto Sans"/>
              <a:ea typeface="Noto Sans"/>
              <a:cs typeface="Noto Sans"/>
              <a:sym typeface="Noto Sans"/>
            </a:endParaRPr>
          </a:p>
        </p:txBody>
      </p:sp>
      <p:sp>
        <p:nvSpPr>
          <p:cNvPr id="221" name="Google Shape;221;p8"/>
          <p:cNvSpPr/>
          <p:nvPr/>
        </p:nvSpPr>
        <p:spPr>
          <a:xfrm>
            <a:off x="9930384" y="804672"/>
            <a:ext cx="1755648" cy="384048"/>
          </a:xfrm>
          <a:prstGeom prst="roundRect">
            <a:avLst>
              <a:gd fmla="val 19048" name="adj"/>
            </a:avLst>
          </a:prstGeom>
          <a:solidFill>
            <a:srgbClr val="EAF9F6"/>
          </a:solidFill>
          <a:ln cap="flat" cmpd="sng" w="12700">
            <a:solidFill>
              <a:srgbClr val="BFE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10021824" y="859536"/>
            <a:ext cx="157276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7F74"/>
              </a:buClr>
              <a:buSzPts val="1050"/>
              <a:buFont typeface="Noto Sans"/>
              <a:buNone/>
            </a:pPr>
            <a:r>
              <a:rPr b="1" i="0" lang="en-US" sz="1050" u="none" cap="none" strike="noStrike">
                <a:solidFill>
                  <a:srgbClr val="187F74"/>
                </a:solidFill>
                <a:latin typeface="Noto Sans"/>
                <a:ea typeface="Noto Sans"/>
                <a:cs typeface="Noto Sans"/>
                <a:sym typeface="Noto Sans"/>
              </a:rPr>
              <a:t>PART 2 · 지도 탐색 + AI</a:t>
            </a:r>
            <a:endParaRPr b="0" i="0" sz="1050" u="none" cap="none" strike="noStrike">
              <a:solidFill>
                <a:schemeClr val="dk1"/>
              </a:solidFill>
              <a:latin typeface="Noto Sans"/>
              <a:ea typeface="Noto Sans"/>
              <a:cs typeface="Noto Sans"/>
              <a:sym typeface="Noto Sans"/>
            </a:endParaRPr>
          </a:p>
        </p:txBody>
      </p:sp>
      <p:sp>
        <p:nvSpPr>
          <p:cNvPr id="223" name="Google Shape;223;p8"/>
          <p:cNvSpPr/>
          <p:nvPr/>
        </p:nvSpPr>
        <p:spPr>
          <a:xfrm>
            <a:off x="640080" y="1874520"/>
            <a:ext cx="5029200" cy="3090672"/>
          </a:xfrm>
          <a:prstGeom prst="roundRect">
            <a:avLst>
              <a:gd fmla="val 1775"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731520" y="1965960"/>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813816" y="2020824"/>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선택 매물 + 후속 대화</a:t>
            </a:r>
            <a:endParaRPr b="0" i="0" sz="1050" u="none" cap="none" strike="noStrike">
              <a:solidFill>
                <a:schemeClr val="dk1"/>
              </a:solidFill>
              <a:latin typeface="Noto Sans"/>
              <a:ea typeface="Noto Sans"/>
              <a:cs typeface="Noto Sans"/>
              <a:sym typeface="Noto Sans"/>
            </a:endParaRPr>
          </a:p>
        </p:txBody>
      </p:sp>
      <p:pic>
        <p:nvPicPr>
          <p:cNvPr descr="/mnt/data/ppt_image_extracted/5.png" id="226" name="Google Shape;226;p8"/>
          <p:cNvPicPr preferRelativeResize="0"/>
          <p:nvPr/>
        </p:nvPicPr>
        <p:blipFill rotWithShape="1">
          <a:blip r:embed="rId3">
            <a:alphaModFix/>
          </a:blip>
          <a:srcRect b="0" l="0" r="0" t="0"/>
          <a:stretch/>
        </p:blipFill>
        <p:spPr>
          <a:xfrm>
            <a:off x="694944" y="1929384"/>
            <a:ext cx="4919472" cy="2980944"/>
          </a:xfrm>
          <a:prstGeom prst="rect">
            <a:avLst/>
          </a:prstGeom>
          <a:noFill/>
          <a:ln>
            <a:noFill/>
          </a:ln>
        </p:spPr>
      </p:pic>
      <p:sp>
        <p:nvSpPr>
          <p:cNvPr id="227" name="Google Shape;227;p8"/>
          <p:cNvSpPr/>
          <p:nvPr/>
        </p:nvSpPr>
        <p:spPr>
          <a:xfrm>
            <a:off x="5989320" y="1874520"/>
            <a:ext cx="2560320" cy="1371600"/>
          </a:xfrm>
          <a:prstGeom prst="roundRect">
            <a:avLst>
              <a:gd fmla="val 5333"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8"/>
          <p:cNvSpPr/>
          <p:nvPr/>
        </p:nvSpPr>
        <p:spPr>
          <a:xfrm>
            <a:off x="5989320" y="1874520"/>
            <a:ext cx="73152" cy="1371600"/>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6172200" y="2039112"/>
            <a:ext cx="21945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대화 history</a:t>
            </a:r>
            <a:endParaRPr b="0" i="0" sz="1750" u="none" cap="none" strike="noStrike">
              <a:solidFill>
                <a:schemeClr val="dk1"/>
              </a:solidFill>
              <a:latin typeface="Noto Sans"/>
              <a:ea typeface="Noto Sans"/>
              <a:cs typeface="Noto Sans"/>
              <a:sym typeface="Noto Sans"/>
            </a:endParaRPr>
          </a:p>
        </p:txBody>
      </p:sp>
      <p:sp>
        <p:nvSpPr>
          <p:cNvPr id="230" name="Google Shape;230;p8"/>
          <p:cNvSpPr/>
          <p:nvPr/>
        </p:nvSpPr>
        <p:spPr>
          <a:xfrm>
            <a:off x="6172200" y="2441448"/>
            <a:ext cx="2194560" cy="658368"/>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420"/>
              <a:buFont typeface="Noto Sans"/>
              <a:buNone/>
            </a:pPr>
            <a:r>
              <a:rPr b="0" i="0" lang="en-US" sz="1420" u="none" cap="none" strike="noStrike">
                <a:solidFill>
                  <a:srgbClr val="64778A"/>
                </a:solidFill>
                <a:latin typeface="Noto Sans"/>
                <a:ea typeface="Noto Sans"/>
                <a:cs typeface="Noto Sans"/>
                <a:sym typeface="Noto Sans"/>
              </a:rPr>
              <a:t>최근 8개 메시지, 총 8,000자 이내로 제한해 매 요청에 전달합니다.</a:t>
            </a:r>
            <a:endParaRPr b="0" i="0" sz="1420" u="none" cap="none" strike="noStrike">
              <a:solidFill>
                <a:schemeClr val="dk1"/>
              </a:solidFill>
              <a:latin typeface="Noto Sans"/>
              <a:ea typeface="Noto Sans"/>
              <a:cs typeface="Noto Sans"/>
              <a:sym typeface="Noto Sans"/>
            </a:endParaRPr>
          </a:p>
        </p:txBody>
      </p:sp>
      <p:sp>
        <p:nvSpPr>
          <p:cNvPr id="231" name="Google Shape;231;p8"/>
          <p:cNvSpPr/>
          <p:nvPr/>
        </p:nvSpPr>
        <p:spPr>
          <a:xfrm>
            <a:off x="8823960" y="1874520"/>
            <a:ext cx="2560320" cy="1371600"/>
          </a:xfrm>
          <a:prstGeom prst="roundRect">
            <a:avLst>
              <a:gd fmla="val 5333"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8823960" y="1874520"/>
            <a:ext cx="73152" cy="1371600"/>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9006840" y="2039112"/>
            <a:ext cx="21945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recentContext</a:t>
            </a:r>
            <a:endParaRPr b="0" i="0" sz="1750" u="none" cap="none" strike="noStrike">
              <a:solidFill>
                <a:schemeClr val="dk1"/>
              </a:solidFill>
              <a:latin typeface="Noto Sans"/>
              <a:ea typeface="Noto Sans"/>
              <a:cs typeface="Noto Sans"/>
              <a:sym typeface="Noto Sans"/>
            </a:endParaRPr>
          </a:p>
        </p:txBody>
      </p:sp>
      <p:sp>
        <p:nvSpPr>
          <p:cNvPr id="234" name="Google Shape;234;p8"/>
          <p:cNvSpPr/>
          <p:nvPr/>
        </p:nvSpPr>
        <p:spPr>
          <a:xfrm>
            <a:off x="9006840" y="2441448"/>
            <a:ext cx="2194560" cy="658368"/>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420"/>
              <a:buFont typeface="Noto Sans"/>
              <a:buNone/>
            </a:pPr>
            <a:r>
              <a:rPr b="0" i="0" lang="en-US" sz="1420" u="none" cap="none" strike="noStrike">
                <a:solidFill>
                  <a:srgbClr val="64778A"/>
                </a:solidFill>
                <a:latin typeface="Noto Sans"/>
                <a:ea typeface="Noto Sans"/>
                <a:cs typeface="Noto Sans"/>
                <a:sym typeface="Noto Sans"/>
              </a:rPr>
              <a:t>최근 제시한 매물 ID 순서, 마지막 참조 매물, 최근 매물 요약을 유지합니다.</a:t>
            </a:r>
            <a:endParaRPr b="0" i="0" sz="1420" u="none" cap="none" strike="noStrike">
              <a:solidFill>
                <a:schemeClr val="dk1"/>
              </a:solidFill>
              <a:latin typeface="Noto Sans"/>
              <a:ea typeface="Noto Sans"/>
              <a:cs typeface="Noto Sans"/>
              <a:sym typeface="Noto Sans"/>
            </a:endParaRPr>
          </a:p>
        </p:txBody>
      </p:sp>
      <p:sp>
        <p:nvSpPr>
          <p:cNvPr id="235" name="Google Shape;235;p8"/>
          <p:cNvSpPr/>
          <p:nvPr/>
        </p:nvSpPr>
        <p:spPr>
          <a:xfrm>
            <a:off x="5989320" y="3529584"/>
            <a:ext cx="2560320" cy="1371600"/>
          </a:xfrm>
          <a:prstGeom prst="roundRect">
            <a:avLst>
              <a:gd fmla="val 5333"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5989320" y="3529584"/>
            <a:ext cx="73152" cy="1371600"/>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a:off x="6172200" y="3694176"/>
            <a:ext cx="21945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현재 App State</a:t>
            </a:r>
            <a:endParaRPr b="0" i="0" sz="1750" u="none" cap="none" strike="noStrike">
              <a:solidFill>
                <a:schemeClr val="dk1"/>
              </a:solidFill>
              <a:latin typeface="Noto Sans"/>
              <a:ea typeface="Noto Sans"/>
              <a:cs typeface="Noto Sans"/>
              <a:sym typeface="Noto Sans"/>
            </a:endParaRPr>
          </a:p>
        </p:txBody>
      </p:sp>
      <p:sp>
        <p:nvSpPr>
          <p:cNvPr id="238" name="Google Shape;238;p8"/>
          <p:cNvSpPr/>
          <p:nvPr/>
        </p:nvSpPr>
        <p:spPr>
          <a:xfrm>
            <a:off x="6172200" y="4096512"/>
            <a:ext cx="2194560" cy="658368"/>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420"/>
              <a:buFont typeface="Noto Sans"/>
              <a:buNone/>
            </a:pPr>
            <a:r>
              <a:rPr b="0" i="0" lang="en-US" sz="1420" u="none" cap="none" strike="noStrike">
                <a:solidFill>
                  <a:srgbClr val="64778A"/>
                </a:solidFill>
                <a:latin typeface="Noto Sans"/>
                <a:ea typeface="Noto Sans"/>
                <a:cs typeface="Noto Sans"/>
                <a:sym typeface="Noto Sans"/>
              </a:rPr>
              <a:t>지도 중심/범위, 선택 지역·매물, 관심매물 ID와 일부 필터를 함께 전달합니다.</a:t>
            </a:r>
            <a:endParaRPr b="0" i="0" sz="1420" u="none" cap="none" strike="noStrike">
              <a:solidFill>
                <a:schemeClr val="dk1"/>
              </a:solidFill>
              <a:latin typeface="Noto Sans"/>
              <a:ea typeface="Noto Sans"/>
              <a:cs typeface="Noto Sans"/>
              <a:sym typeface="Noto Sans"/>
            </a:endParaRPr>
          </a:p>
        </p:txBody>
      </p:sp>
      <p:sp>
        <p:nvSpPr>
          <p:cNvPr id="239" name="Google Shape;239;p8"/>
          <p:cNvSpPr/>
          <p:nvPr/>
        </p:nvSpPr>
        <p:spPr>
          <a:xfrm>
            <a:off x="8823960" y="3529584"/>
            <a:ext cx="2560320" cy="1371600"/>
          </a:xfrm>
          <a:prstGeom prst="roundRect">
            <a:avLst>
              <a:gd fmla="val 5333"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a:off x="8823960" y="3529584"/>
            <a:ext cx="73152" cy="1371600"/>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9006840" y="3694176"/>
            <a:ext cx="21945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세션 중심 설계</a:t>
            </a:r>
            <a:endParaRPr b="0" i="0" sz="1750" u="none" cap="none" strike="noStrike">
              <a:solidFill>
                <a:schemeClr val="dk1"/>
              </a:solidFill>
              <a:latin typeface="Noto Sans"/>
              <a:ea typeface="Noto Sans"/>
              <a:cs typeface="Noto Sans"/>
              <a:sym typeface="Noto Sans"/>
            </a:endParaRPr>
          </a:p>
        </p:txBody>
      </p:sp>
      <p:sp>
        <p:nvSpPr>
          <p:cNvPr id="242" name="Google Shape;242;p8"/>
          <p:cNvSpPr/>
          <p:nvPr/>
        </p:nvSpPr>
        <p:spPr>
          <a:xfrm>
            <a:off x="9006840" y="4096512"/>
            <a:ext cx="2194560" cy="658368"/>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420"/>
              <a:buFont typeface="Noto Sans"/>
              <a:buNone/>
            </a:pPr>
            <a:r>
              <a:rPr b="0" i="0" lang="en-US" sz="1420" u="none" cap="none" strike="noStrike">
                <a:solidFill>
                  <a:srgbClr val="64778A"/>
                </a:solidFill>
                <a:latin typeface="Noto Sans"/>
                <a:ea typeface="Noto Sans"/>
                <a:cs typeface="Noto Sans"/>
                <a:sym typeface="Noto Sans"/>
              </a:rPr>
              <a:t>대화 원문은 서버 DB나 OpenAI에 저장하지 않고 새 대화·새로고침에서 초기화됩니다.</a:t>
            </a:r>
            <a:endParaRPr b="0" i="0" sz="1420" u="none" cap="none" strike="noStrike">
              <a:solidFill>
                <a:schemeClr val="dk1"/>
              </a:solidFill>
              <a:latin typeface="Noto Sans"/>
              <a:ea typeface="Noto Sans"/>
              <a:cs typeface="Noto Sans"/>
              <a:sym typeface="Noto Sans"/>
            </a:endParaRPr>
          </a:p>
        </p:txBody>
      </p:sp>
      <p:sp>
        <p:nvSpPr>
          <p:cNvPr id="243" name="Google Shape;243;p8"/>
          <p:cNvSpPr/>
          <p:nvPr/>
        </p:nvSpPr>
        <p:spPr>
          <a:xfrm>
            <a:off x="777240" y="5596128"/>
            <a:ext cx="10652760" cy="530352"/>
          </a:xfrm>
          <a:prstGeom prst="roundRect">
            <a:avLst>
              <a:gd fmla="val 10345" name="adj"/>
            </a:avLst>
          </a:prstGeom>
          <a:solidFill>
            <a:srgbClr val="103354"/>
          </a:solidFill>
          <a:ln cap="flat" cmpd="sng" w="12700">
            <a:solidFill>
              <a:srgbClr val="10335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1005840" y="5705856"/>
            <a:ext cx="10195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50"/>
              <a:buFont typeface="Noto Sans"/>
              <a:buNone/>
            </a:pPr>
            <a:r>
              <a:rPr b="1" i="0" lang="en-US" sz="1650" u="none" cap="none" strike="noStrike">
                <a:solidFill>
                  <a:srgbClr val="FFFFFF"/>
                </a:solidFill>
                <a:latin typeface="Noto Sans"/>
                <a:ea typeface="Noto Sans"/>
                <a:cs typeface="Noto Sans"/>
                <a:sym typeface="Noto Sans"/>
              </a:rPr>
              <a:t>예 · “분당 6억 이하 찾아줘” → “그중 가장 싼 건?” → “그 매물 지도에서 보여줘”</a:t>
            </a:r>
            <a:endParaRPr b="0" i="0" sz="1650" u="none" cap="none" strike="noStrike">
              <a:solidFill>
                <a:schemeClr val="dk1"/>
              </a:solidFill>
              <a:latin typeface="Noto Sans"/>
              <a:ea typeface="Noto Sans"/>
              <a:cs typeface="Noto Sans"/>
              <a:sym typeface="Noto Sans"/>
            </a:endParaRPr>
          </a:p>
        </p:txBody>
      </p:sp>
      <p:sp>
        <p:nvSpPr>
          <p:cNvPr id="245" name="Google Shape;245;p8"/>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9"/>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법률 RAG: 법 이름을 몰라도 관련 조문을 찾아 설명</a:t>
            </a:r>
            <a:endParaRPr b="0" i="0" sz="2700" u="none" cap="none" strike="noStrike">
              <a:solidFill>
                <a:schemeClr val="dk1"/>
              </a:solidFill>
              <a:latin typeface="Noto Sans"/>
              <a:ea typeface="Noto Sans"/>
              <a:cs typeface="Noto Sans"/>
              <a:sym typeface="Noto Sans"/>
            </a:endParaRPr>
          </a:p>
        </p:txBody>
      </p:sp>
      <p:sp>
        <p:nvSpPr>
          <p:cNvPr id="252" name="Google Shape;252;p9"/>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일반 사용자의 자연어를 정제된 검색 Query로 바꾸고 정확검색과 의미검색을 결합했습니다.</a:t>
            </a:r>
            <a:endParaRPr b="0" i="0" sz="1450" u="none" cap="none" strike="noStrike">
              <a:solidFill>
                <a:schemeClr val="dk1"/>
              </a:solidFill>
              <a:latin typeface="Noto Sans"/>
              <a:ea typeface="Noto Sans"/>
              <a:cs typeface="Noto Sans"/>
              <a:sym typeface="Noto Sans"/>
            </a:endParaRPr>
          </a:p>
        </p:txBody>
      </p:sp>
      <p:sp>
        <p:nvSpPr>
          <p:cNvPr id="253" name="Google Shape;253;p9"/>
          <p:cNvSpPr/>
          <p:nvPr/>
        </p:nvSpPr>
        <p:spPr>
          <a:xfrm>
            <a:off x="9930384" y="804672"/>
            <a:ext cx="1755648" cy="384048"/>
          </a:xfrm>
          <a:prstGeom prst="roundRect">
            <a:avLst>
              <a:gd fmla="val 19048" name="adj"/>
            </a:avLst>
          </a:prstGeom>
          <a:solidFill>
            <a:srgbClr val="EAF9F6"/>
          </a:solidFill>
          <a:ln cap="flat" cmpd="sng" w="12700">
            <a:solidFill>
              <a:srgbClr val="BFE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10021824" y="859536"/>
            <a:ext cx="157276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7F74"/>
              </a:buClr>
              <a:buSzPts val="1050"/>
              <a:buFont typeface="Noto Sans"/>
              <a:buNone/>
            </a:pPr>
            <a:r>
              <a:rPr b="1" i="0" lang="en-US" sz="1050" u="none" cap="none" strike="noStrike">
                <a:solidFill>
                  <a:srgbClr val="187F74"/>
                </a:solidFill>
                <a:latin typeface="Noto Sans"/>
                <a:ea typeface="Noto Sans"/>
                <a:cs typeface="Noto Sans"/>
                <a:sym typeface="Noto Sans"/>
              </a:rPr>
              <a:t>PART 2 · 지도 탐색 + AI</a:t>
            </a:r>
            <a:endParaRPr b="0" i="0" sz="1050" u="none" cap="none" strike="noStrike">
              <a:solidFill>
                <a:schemeClr val="dk1"/>
              </a:solidFill>
              <a:latin typeface="Noto Sans"/>
              <a:ea typeface="Noto Sans"/>
              <a:cs typeface="Noto Sans"/>
              <a:sym typeface="Noto Sans"/>
            </a:endParaRPr>
          </a:p>
        </p:txBody>
      </p:sp>
      <p:sp>
        <p:nvSpPr>
          <p:cNvPr id="255" name="Google Shape;255;p9"/>
          <p:cNvSpPr/>
          <p:nvPr/>
        </p:nvSpPr>
        <p:spPr>
          <a:xfrm>
            <a:off x="640080" y="1847088"/>
            <a:ext cx="4736592" cy="3584448"/>
          </a:xfrm>
          <a:prstGeom prst="roundRect">
            <a:avLst>
              <a:gd fmla="val 1531"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9"/>
          <p:cNvSpPr/>
          <p:nvPr/>
        </p:nvSpPr>
        <p:spPr>
          <a:xfrm>
            <a:off x="731520" y="1938528"/>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9"/>
          <p:cNvSpPr/>
          <p:nvPr/>
        </p:nvSpPr>
        <p:spPr>
          <a:xfrm>
            <a:off x="813816" y="1993392"/>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자연어 법률 질문 → 근거 답변</a:t>
            </a:r>
            <a:endParaRPr b="0" i="0" sz="1050" u="none" cap="none" strike="noStrike">
              <a:solidFill>
                <a:schemeClr val="dk1"/>
              </a:solidFill>
              <a:latin typeface="Noto Sans"/>
              <a:ea typeface="Noto Sans"/>
              <a:cs typeface="Noto Sans"/>
              <a:sym typeface="Noto Sans"/>
            </a:endParaRPr>
          </a:p>
        </p:txBody>
      </p:sp>
      <p:pic>
        <p:nvPicPr>
          <p:cNvPr descr="/mnt/data/ppt_image_extracted/6.png" id="258" name="Google Shape;258;p9"/>
          <p:cNvPicPr preferRelativeResize="0"/>
          <p:nvPr/>
        </p:nvPicPr>
        <p:blipFill rotWithShape="1">
          <a:blip r:embed="rId3">
            <a:alphaModFix/>
          </a:blip>
          <a:srcRect b="0" l="0" r="0" t="0"/>
          <a:stretch/>
        </p:blipFill>
        <p:spPr>
          <a:xfrm>
            <a:off x="694944" y="1901952"/>
            <a:ext cx="4626864" cy="3474720"/>
          </a:xfrm>
          <a:prstGeom prst="rect">
            <a:avLst/>
          </a:prstGeom>
          <a:noFill/>
          <a:ln>
            <a:noFill/>
          </a:ln>
        </p:spPr>
      </p:pic>
      <p:sp>
        <p:nvSpPr>
          <p:cNvPr id="259" name="Google Shape;259;p9"/>
          <p:cNvSpPr/>
          <p:nvPr/>
        </p:nvSpPr>
        <p:spPr>
          <a:xfrm>
            <a:off x="5650992" y="1847088"/>
            <a:ext cx="5577840" cy="841248"/>
          </a:xfrm>
          <a:prstGeom prst="roundRect">
            <a:avLst>
              <a:gd fmla="val 6522" name="adj"/>
            </a:avLst>
          </a:prstGeom>
          <a:solidFill>
            <a:srgbClr val="FFFFFF"/>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9"/>
          <p:cNvSpPr/>
          <p:nvPr/>
        </p:nvSpPr>
        <p:spPr>
          <a:xfrm>
            <a:off x="5797296" y="2029968"/>
            <a:ext cx="457200" cy="457200"/>
          </a:xfrm>
          <a:prstGeom prst="ellipse">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9"/>
          <p:cNvSpPr/>
          <p:nvPr/>
        </p:nvSpPr>
        <p:spPr>
          <a:xfrm>
            <a:off x="5797296" y="2135124"/>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01</a:t>
            </a:r>
            <a:endParaRPr b="0" i="0" sz="1050" u="none" cap="none" strike="noStrike">
              <a:solidFill>
                <a:schemeClr val="dk1"/>
              </a:solidFill>
              <a:latin typeface="Noto Sans"/>
              <a:ea typeface="Noto Sans"/>
              <a:cs typeface="Noto Sans"/>
              <a:sym typeface="Noto Sans"/>
            </a:endParaRPr>
          </a:p>
        </p:txBody>
      </p:sp>
      <p:sp>
        <p:nvSpPr>
          <p:cNvPr id="262" name="Google Shape;262;p9"/>
          <p:cNvSpPr/>
          <p:nvPr/>
        </p:nvSpPr>
        <p:spPr>
          <a:xfrm>
            <a:off x="6382512" y="2002536"/>
            <a:ext cx="470001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550"/>
              <a:buFont typeface="Noto Sans"/>
              <a:buNone/>
            </a:pPr>
            <a:r>
              <a:rPr b="1" i="0" lang="en-US" sz="1550" u="none" cap="none" strike="noStrike">
                <a:solidFill>
                  <a:srgbClr val="17324D"/>
                </a:solidFill>
                <a:latin typeface="Noto Sans"/>
                <a:ea typeface="Noto Sans"/>
                <a:cs typeface="Noto Sans"/>
                <a:sym typeface="Noto Sans"/>
              </a:rPr>
              <a:t>자연어 질문</a:t>
            </a:r>
            <a:endParaRPr b="0" i="0" sz="1550" u="none" cap="none" strike="noStrike">
              <a:solidFill>
                <a:schemeClr val="dk1"/>
              </a:solidFill>
              <a:latin typeface="Noto Sans"/>
              <a:ea typeface="Noto Sans"/>
              <a:cs typeface="Noto Sans"/>
              <a:sym typeface="Noto Sans"/>
            </a:endParaRPr>
          </a:p>
        </p:txBody>
      </p:sp>
      <p:sp>
        <p:nvSpPr>
          <p:cNvPr id="263" name="Google Shape;263;p9"/>
          <p:cNvSpPr/>
          <p:nvPr/>
        </p:nvSpPr>
        <p:spPr>
          <a:xfrm>
            <a:off x="6382512" y="2286000"/>
            <a:ext cx="4700016"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4778A"/>
              </a:buClr>
              <a:buSzPts val="1250"/>
              <a:buFont typeface="Noto Sans"/>
              <a:buNone/>
            </a:pPr>
            <a:r>
              <a:rPr b="0" i="0" lang="en-US" sz="1250" u="none" cap="none" strike="noStrike">
                <a:solidFill>
                  <a:srgbClr val="64778A"/>
                </a:solidFill>
                <a:latin typeface="Noto Sans"/>
                <a:ea typeface="Noto Sans"/>
                <a:cs typeface="Noto Sans"/>
                <a:sym typeface="Noto Sans"/>
              </a:rPr>
              <a:t>“보증금 못 받고 이사해야 해요”</a:t>
            </a:r>
            <a:endParaRPr b="0" i="0" sz="1250" u="none" cap="none" strike="noStrike">
              <a:solidFill>
                <a:schemeClr val="dk1"/>
              </a:solidFill>
              <a:latin typeface="Noto Sans"/>
              <a:ea typeface="Noto Sans"/>
              <a:cs typeface="Noto Sans"/>
              <a:sym typeface="Noto Sans"/>
            </a:endParaRPr>
          </a:p>
        </p:txBody>
      </p:sp>
      <p:sp>
        <p:nvSpPr>
          <p:cNvPr id="264" name="Google Shape;264;p9"/>
          <p:cNvSpPr/>
          <p:nvPr/>
        </p:nvSpPr>
        <p:spPr>
          <a:xfrm>
            <a:off x="5650992" y="2788920"/>
            <a:ext cx="5577840" cy="841248"/>
          </a:xfrm>
          <a:prstGeom prst="roundRect">
            <a:avLst>
              <a:gd fmla="val 6522" name="adj"/>
            </a:avLst>
          </a:prstGeom>
          <a:solidFill>
            <a:srgbClr val="FFFFFF"/>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9"/>
          <p:cNvSpPr/>
          <p:nvPr/>
        </p:nvSpPr>
        <p:spPr>
          <a:xfrm>
            <a:off x="5797296" y="2971800"/>
            <a:ext cx="457200" cy="457200"/>
          </a:xfrm>
          <a:prstGeom prst="ellipse">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9"/>
          <p:cNvSpPr/>
          <p:nvPr/>
        </p:nvSpPr>
        <p:spPr>
          <a:xfrm>
            <a:off x="5797296" y="3076956"/>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02</a:t>
            </a:r>
            <a:endParaRPr b="0" i="0" sz="1050" u="none" cap="none" strike="noStrike">
              <a:solidFill>
                <a:schemeClr val="dk1"/>
              </a:solidFill>
              <a:latin typeface="Noto Sans"/>
              <a:ea typeface="Noto Sans"/>
              <a:cs typeface="Noto Sans"/>
              <a:sym typeface="Noto Sans"/>
            </a:endParaRPr>
          </a:p>
        </p:txBody>
      </p:sp>
      <p:sp>
        <p:nvSpPr>
          <p:cNvPr id="267" name="Google Shape;267;p9"/>
          <p:cNvSpPr/>
          <p:nvPr/>
        </p:nvSpPr>
        <p:spPr>
          <a:xfrm>
            <a:off x="6382512" y="2944368"/>
            <a:ext cx="470001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550"/>
              <a:buFont typeface="Noto Sans"/>
              <a:buNone/>
            </a:pPr>
            <a:r>
              <a:rPr b="1" i="0" lang="en-US" sz="1550" u="none" cap="none" strike="noStrike">
                <a:solidFill>
                  <a:srgbClr val="17324D"/>
                </a:solidFill>
                <a:latin typeface="Noto Sans"/>
                <a:ea typeface="Noto Sans"/>
                <a:cs typeface="Noto Sans"/>
                <a:sym typeface="Noto Sans"/>
              </a:rPr>
              <a:t>법령/조문 단서 탐지</a:t>
            </a:r>
            <a:endParaRPr b="0" i="0" sz="1550" u="none" cap="none" strike="noStrike">
              <a:solidFill>
                <a:schemeClr val="dk1"/>
              </a:solidFill>
              <a:latin typeface="Noto Sans"/>
              <a:ea typeface="Noto Sans"/>
              <a:cs typeface="Noto Sans"/>
              <a:sym typeface="Noto Sans"/>
            </a:endParaRPr>
          </a:p>
        </p:txBody>
      </p:sp>
      <p:sp>
        <p:nvSpPr>
          <p:cNvPr id="268" name="Google Shape;268;p9"/>
          <p:cNvSpPr/>
          <p:nvPr/>
        </p:nvSpPr>
        <p:spPr>
          <a:xfrm>
            <a:off x="6382512" y="3227832"/>
            <a:ext cx="4700016"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4778A"/>
              </a:buClr>
              <a:buSzPts val="1250"/>
              <a:buFont typeface="Noto Sans"/>
              <a:buNone/>
            </a:pPr>
            <a:r>
              <a:rPr b="0" i="0" lang="en-US" sz="1250" u="none" cap="none" strike="noStrike">
                <a:solidFill>
                  <a:srgbClr val="64778A"/>
                </a:solidFill>
                <a:latin typeface="Noto Sans"/>
                <a:ea typeface="Noto Sans"/>
                <a:cs typeface="Noto Sans"/>
                <a:sym typeface="Noto Sans"/>
              </a:rPr>
              <a:t>법령명·제N조가 있으면 우선 활용</a:t>
            </a:r>
            <a:endParaRPr b="0" i="0" sz="1250" u="none" cap="none" strike="noStrike">
              <a:solidFill>
                <a:schemeClr val="dk1"/>
              </a:solidFill>
              <a:latin typeface="Noto Sans"/>
              <a:ea typeface="Noto Sans"/>
              <a:cs typeface="Noto Sans"/>
              <a:sym typeface="Noto Sans"/>
            </a:endParaRPr>
          </a:p>
        </p:txBody>
      </p:sp>
      <p:sp>
        <p:nvSpPr>
          <p:cNvPr id="269" name="Google Shape;269;p9"/>
          <p:cNvSpPr/>
          <p:nvPr/>
        </p:nvSpPr>
        <p:spPr>
          <a:xfrm>
            <a:off x="5650992" y="3730752"/>
            <a:ext cx="5577840" cy="841248"/>
          </a:xfrm>
          <a:prstGeom prst="roundRect">
            <a:avLst>
              <a:gd fmla="val 6522" name="adj"/>
            </a:avLst>
          </a:prstGeom>
          <a:solidFill>
            <a:srgbClr val="FFFFFF"/>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9"/>
          <p:cNvSpPr/>
          <p:nvPr/>
        </p:nvSpPr>
        <p:spPr>
          <a:xfrm>
            <a:off x="5797296" y="3913632"/>
            <a:ext cx="457200" cy="457200"/>
          </a:xfrm>
          <a:prstGeom prst="ellipse">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9"/>
          <p:cNvSpPr/>
          <p:nvPr/>
        </p:nvSpPr>
        <p:spPr>
          <a:xfrm>
            <a:off x="5797296" y="4018788"/>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03</a:t>
            </a:r>
            <a:endParaRPr b="0" i="0" sz="1050" u="none" cap="none" strike="noStrike">
              <a:solidFill>
                <a:schemeClr val="dk1"/>
              </a:solidFill>
              <a:latin typeface="Noto Sans"/>
              <a:ea typeface="Noto Sans"/>
              <a:cs typeface="Noto Sans"/>
              <a:sym typeface="Noto Sans"/>
            </a:endParaRPr>
          </a:p>
        </p:txBody>
      </p:sp>
      <p:sp>
        <p:nvSpPr>
          <p:cNvPr id="272" name="Google Shape;272;p9"/>
          <p:cNvSpPr/>
          <p:nvPr/>
        </p:nvSpPr>
        <p:spPr>
          <a:xfrm>
            <a:off x="6382512" y="3886200"/>
            <a:ext cx="470001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550"/>
              <a:buFont typeface="Noto Sans"/>
              <a:buNone/>
            </a:pPr>
            <a:r>
              <a:rPr b="1" i="0" lang="en-US" sz="1550" u="none" cap="none" strike="noStrike">
                <a:solidFill>
                  <a:srgbClr val="17324D"/>
                </a:solidFill>
                <a:latin typeface="Noto Sans"/>
                <a:ea typeface="Noto Sans"/>
                <a:cs typeface="Noto Sans"/>
                <a:sym typeface="Noto Sans"/>
              </a:rPr>
              <a:t>정확검색 + 의미검색</a:t>
            </a:r>
            <a:endParaRPr b="0" i="0" sz="1550" u="none" cap="none" strike="noStrike">
              <a:solidFill>
                <a:schemeClr val="dk1"/>
              </a:solidFill>
              <a:latin typeface="Noto Sans"/>
              <a:ea typeface="Noto Sans"/>
              <a:cs typeface="Noto Sans"/>
              <a:sym typeface="Noto Sans"/>
            </a:endParaRPr>
          </a:p>
        </p:txBody>
      </p:sp>
      <p:sp>
        <p:nvSpPr>
          <p:cNvPr id="273" name="Google Shape;273;p9"/>
          <p:cNvSpPr/>
          <p:nvPr/>
        </p:nvSpPr>
        <p:spPr>
          <a:xfrm>
            <a:off x="6382512" y="4169664"/>
            <a:ext cx="4700016"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4778A"/>
              </a:buClr>
              <a:buSzPts val="1250"/>
              <a:buFont typeface="Noto Sans"/>
              <a:buNone/>
            </a:pPr>
            <a:r>
              <a:rPr b="0" i="0" lang="en-US" sz="1250" u="none" cap="none" strike="noStrike">
                <a:solidFill>
                  <a:srgbClr val="64778A"/>
                </a:solidFill>
                <a:latin typeface="Noto Sans"/>
                <a:ea typeface="Noto Sans"/>
                <a:cs typeface="Noto Sans"/>
                <a:sym typeface="Noto Sans"/>
              </a:rPr>
              <a:t>metadata filter + 정제 Query Semantic Search</a:t>
            </a:r>
            <a:endParaRPr b="0" i="0" sz="1250" u="none" cap="none" strike="noStrike">
              <a:solidFill>
                <a:schemeClr val="dk1"/>
              </a:solidFill>
              <a:latin typeface="Noto Sans"/>
              <a:ea typeface="Noto Sans"/>
              <a:cs typeface="Noto Sans"/>
              <a:sym typeface="Noto Sans"/>
            </a:endParaRPr>
          </a:p>
        </p:txBody>
      </p:sp>
      <p:sp>
        <p:nvSpPr>
          <p:cNvPr id="274" name="Google Shape;274;p9"/>
          <p:cNvSpPr/>
          <p:nvPr/>
        </p:nvSpPr>
        <p:spPr>
          <a:xfrm>
            <a:off x="5650992" y="4672584"/>
            <a:ext cx="5577840" cy="841248"/>
          </a:xfrm>
          <a:prstGeom prst="roundRect">
            <a:avLst>
              <a:gd fmla="val 6522" name="adj"/>
            </a:avLst>
          </a:prstGeom>
          <a:solidFill>
            <a:srgbClr val="FFFFFF"/>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9"/>
          <p:cNvSpPr/>
          <p:nvPr/>
        </p:nvSpPr>
        <p:spPr>
          <a:xfrm>
            <a:off x="5797296" y="4855464"/>
            <a:ext cx="457200" cy="457200"/>
          </a:xfrm>
          <a:prstGeom prst="ellipse">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9"/>
          <p:cNvSpPr/>
          <p:nvPr/>
        </p:nvSpPr>
        <p:spPr>
          <a:xfrm>
            <a:off x="5797296" y="4960620"/>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04</a:t>
            </a:r>
            <a:endParaRPr b="0" i="0" sz="1050" u="none" cap="none" strike="noStrike">
              <a:solidFill>
                <a:schemeClr val="dk1"/>
              </a:solidFill>
              <a:latin typeface="Noto Sans"/>
              <a:ea typeface="Noto Sans"/>
              <a:cs typeface="Noto Sans"/>
              <a:sym typeface="Noto Sans"/>
            </a:endParaRPr>
          </a:p>
        </p:txBody>
      </p:sp>
      <p:sp>
        <p:nvSpPr>
          <p:cNvPr id="277" name="Google Shape;277;p9"/>
          <p:cNvSpPr/>
          <p:nvPr/>
        </p:nvSpPr>
        <p:spPr>
          <a:xfrm>
            <a:off x="6382512" y="4828032"/>
            <a:ext cx="470001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550"/>
              <a:buFont typeface="Noto Sans"/>
              <a:buNone/>
            </a:pPr>
            <a:r>
              <a:rPr b="1" i="0" lang="en-US" sz="1550" u="none" cap="none" strike="noStrike">
                <a:solidFill>
                  <a:srgbClr val="17324D"/>
                </a:solidFill>
                <a:latin typeface="Noto Sans"/>
                <a:ea typeface="Noto Sans"/>
                <a:cs typeface="Noto Sans"/>
                <a:sym typeface="Noto Sans"/>
              </a:rPr>
              <a:t>Agent 답변</a:t>
            </a:r>
            <a:endParaRPr b="0" i="0" sz="1550" u="none" cap="none" strike="noStrike">
              <a:solidFill>
                <a:schemeClr val="dk1"/>
              </a:solidFill>
              <a:latin typeface="Noto Sans"/>
              <a:ea typeface="Noto Sans"/>
              <a:cs typeface="Noto Sans"/>
              <a:sym typeface="Noto Sans"/>
            </a:endParaRPr>
          </a:p>
        </p:txBody>
      </p:sp>
      <p:sp>
        <p:nvSpPr>
          <p:cNvPr id="278" name="Google Shape;278;p9"/>
          <p:cNvSpPr/>
          <p:nvPr/>
        </p:nvSpPr>
        <p:spPr>
          <a:xfrm>
            <a:off x="6382512" y="5111496"/>
            <a:ext cx="4700016"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4778A"/>
              </a:buClr>
              <a:buSzPts val="1250"/>
              <a:buFont typeface="Noto Sans"/>
              <a:buNone/>
            </a:pPr>
            <a:r>
              <a:rPr b="0" i="0" lang="en-US" sz="1250" u="none" cap="none" strike="noStrike">
                <a:solidFill>
                  <a:srgbClr val="64778A"/>
                </a:solidFill>
                <a:latin typeface="Noto Sans"/>
                <a:ea typeface="Noto Sans"/>
                <a:cs typeface="Noto Sans"/>
                <a:sym typeface="Noto Sans"/>
              </a:rPr>
              <a:t>검색 근거와 일반 설명을 구분하고 공식 출처 연결</a:t>
            </a:r>
            <a:endParaRPr b="0" i="0" sz="1250" u="none" cap="none" strike="noStrike">
              <a:solidFill>
                <a:schemeClr val="dk1"/>
              </a:solidFill>
              <a:latin typeface="Noto Sans"/>
              <a:ea typeface="Noto Sans"/>
              <a:cs typeface="Noto Sans"/>
              <a:sym typeface="Noto Sans"/>
            </a:endParaRPr>
          </a:p>
        </p:txBody>
      </p:sp>
      <p:sp>
        <p:nvSpPr>
          <p:cNvPr id="279" name="Google Shape;279;p9"/>
          <p:cNvSpPr/>
          <p:nvPr/>
        </p:nvSpPr>
        <p:spPr>
          <a:xfrm>
            <a:off x="5650992" y="5669280"/>
            <a:ext cx="5577840" cy="640080"/>
          </a:xfrm>
          <a:prstGeom prst="roundRect">
            <a:avLst>
              <a:gd fmla="val 8571"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9"/>
          <p:cNvSpPr/>
          <p:nvPr/>
        </p:nvSpPr>
        <p:spPr>
          <a:xfrm>
            <a:off x="5852150" y="5706088"/>
            <a:ext cx="5175600" cy="57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Noto Sans"/>
              <a:buNone/>
            </a:pPr>
            <a:r>
              <a:rPr b="1" i="0" lang="en-US" sz="1500" u="none" cap="none" strike="noStrike">
                <a:solidFill>
                  <a:srgbClr val="FFFFFF"/>
                </a:solidFill>
                <a:latin typeface="Noto Sans"/>
                <a:ea typeface="Noto Sans"/>
                <a:cs typeface="Noto Sans"/>
                <a:sym typeface="Noto Sans"/>
              </a:rPr>
              <a:t>2025 </a:t>
            </a:r>
            <a:r>
              <a:rPr b="1" lang="en-US" sz="1500">
                <a:solidFill>
                  <a:srgbClr val="FFFFFF"/>
                </a:solidFill>
                <a:latin typeface="Noto Sans"/>
                <a:ea typeface="Noto Sans"/>
                <a:cs typeface="Noto Sans"/>
                <a:sym typeface="Noto Sans"/>
              </a:rPr>
              <a:t>공인중개사 시험</a:t>
            </a:r>
            <a:r>
              <a:rPr b="1" i="0" lang="en-US" sz="1500" u="none" cap="none" strike="noStrike">
                <a:solidFill>
                  <a:srgbClr val="FFFFFF"/>
                </a:solidFill>
                <a:latin typeface="Noto Sans"/>
                <a:ea typeface="Noto Sans"/>
                <a:cs typeface="Noto Sans"/>
                <a:sym typeface="Noto Sans"/>
              </a:rPr>
              <a:t> 40문항 </a:t>
            </a:r>
            <a:r>
              <a:rPr b="1" lang="en-US" sz="1500">
                <a:solidFill>
                  <a:srgbClr val="FFFFFF"/>
                </a:solidFill>
                <a:latin typeface="Noto Sans"/>
                <a:ea typeface="Noto Sans"/>
                <a:cs typeface="Noto Sans"/>
                <a:sym typeface="Noto Sans"/>
              </a:rPr>
              <a:t>테스트</a:t>
            </a:r>
            <a:br>
              <a:rPr b="1" lang="en-US" sz="1500">
                <a:solidFill>
                  <a:srgbClr val="FFFFFF"/>
                </a:solidFill>
                <a:latin typeface="Noto Sans"/>
                <a:ea typeface="Noto Sans"/>
                <a:cs typeface="Noto Sans"/>
                <a:sym typeface="Noto Sans"/>
              </a:rPr>
            </a:br>
            <a:r>
              <a:rPr b="1" i="0" lang="en-US" sz="1500" u="none" cap="none" strike="noStrike">
                <a:solidFill>
                  <a:srgbClr val="FFFFFF"/>
                </a:solidFill>
                <a:latin typeface="Noto Sans"/>
                <a:ea typeface="Noto Sans"/>
                <a:cs typeface="Noto Sans"/>
                <a:sym typeface="Noto Sans"/>
              </a:rPr>
              <a:t>  36 / 40  ·  Overall 90.0%</a:t>
            </a:r>
            <a:endParaRPr b="0" i="0" sz="1500" u="none" cap="none" strike="noStrike">
              <a:solidFill>
                <a:schemeClr val="dk1"/>
              </a:solidFill>
              <a:latin typeface="Noto Sans"/>
              <a:ea typeface="Noto Sans"/>
              <a:cs typeface="Noto Sans"/>
              <a:sym typeface="Noto Sans"/>
            </a:endParaRPr>
          </a:p>
        </p:txBody>
      </p:sp>
      <p:sp>
        <p:nvSpPr>
          <p:cNvPr id="281" name="Google Shape;281;p9"/>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10"/>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부동산 분석: 가격을 넘어 시장 흐름을 함께 확인</a:t>
            </a:r>
            <a:endParaRPr b="0" i="0" sz="2700" u="none" cap="none" strike="noStrike">
              <a:solidFill>
                <a:schemeClr val="dk1"/>
              </a:solidFill>
              <a:latin typeface="Noto Sans"/>
              <a:ea typeface="Noto Sans"/>
              <a:cs typeface="Noto Sans"/>
              <a:sym typeface="Noto Sans"/>
            </a:endParaRPr>
          </a:p>
        </p:txBody>
      </p:sp>
      <p:sp>
        <p:nvSpPr>
          <p:cNvPr id="288" name="Google Shape;288;p10"/>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국토교통부 실거래 요약을 중심으로 지역·가격·거래·비용을 여러 관점에서 비교하는 분석 허브입니다.</a:t>
            </a:r>
            <a:endParaRPr b="0" i="0" sz="1450" u="none" cap="none" strike="noStrike">
              <a:solidFill>
                <a:schemeClr val="dk1"/>
              </a:solidFill>
              <a:latin typeface="Noto Sans"/>
              <a:ea typeface="Noto Sans"/>
              <a:cs typeface="Noto Sans"/>
              <a:sym typeface="Noto Sans"/>
            </a:endParaRPr>
          </a:p>
        </p:txBody>
      </p:sp>
      <p:sp>
        <p:nvSpPr>
          <p:cNvPr id="289" name="Google Shape;289;p10"/>
          <p:cNvSpPr/>
          <p:nvPr/>
        </p:nvSpPr>
        <p:spPr>
          <a:xfrm>
            <a:off x="9930384" y="804672"/>
            <a:ext cx="1755648" cy="384048"/>
          </a:xfrm>
          <a:prstGeom prst="roundRect">
            <a:avLst>
              <a:gd fmla="val 19048" name="adj"/>
            </a:avLst>
          </a:prstGeom>
          <a:solidFill>
            <a:srgbClr val="EAF9F6"/>
          </a:solidFill>
          <a:ln cap="flat" cmpd="sng" w="12700">
            <a:solidFill>
              <a:srgbClr val="BFE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0"/>
          <p:cNvSpPr/>
          <p:nvPr/>
        </p:nvSpPr>
        <p:spPr>
          <a:xfrm>
            <a:off x="10021824" y="859536"/>
            <a:ext cx="157276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7F74"/>
              </a:buClr>
              <a:buSzPts val="1050"/>
              <a:buFont typeface="Noto Sans"/>
              <a:buNone/>
            </a:pPr>
            <a:r>
              <a:rPr b="1" i="0" lang="en-US" sz="1050" u="none" cap="none" strike="noStrike">
                <a:solidFill>
                  <a:srgbClr val="187F74"/>
                </a:solidFill>
                <a:latin typeface="Noto Sans"/>
                <a:ea typeface="Noto Sans"/>
                <a:cs typeface="Noto Sans"/>
                <a:sym typeface="Noto Sans"/>
              </a:rPr>
              <a:t>PART 3 · 부동산 분석</a:t>
            </a:r>
            <a:endParaRPr b="0" i="0" sz="1050" u="none" cap="none" strike="noStrike">
              <a:solidFill>
                <a:schemeClr val="dk1"/>
              </a:solidFill>
              <a:latin typeface="Noto Sans"/>
              <a:ea typeface="Noto Sans"/>
              <a:cs typeface="Noto Sans"/>
              <a:sym typeface="Noto Sans"/>
            </a:endParaRPr>
          </a:p>
        </p:txBody>
      </p:sp>
      <p:sp>
        <p:nvSpPr>
          <p:cNvPr id="291" name="Google Shape;291;p10"/>
          <p:cNvSpPr/>
          <p:nvPr/>
        </p:nvSpPr>
        <p:spPr>
          <a:xfrm>
            <a:off x="640080" y="1847088"/>
            <a:ext cx="5102352" cy="3090672"/>
          </a:xfrm>
          <a:prstGeom prst="roundRect">
            <a:avLst>
              <a:gd fmla="val 1775"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0"/>
          <p:cNvSpPr/>
          <p:nvPr/>
        </p:nvSpPr>
        <p:spPr>
          <a:xfrm>
            <a:off x="731520" y="1938528"/>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0"/>
          <p:cNvSpPr/>
          <p:nvPr/>
        </p:nvSpPr>
        <p:spPr>
          <a:xfrm>
            <a:off x="813816" y="1993392"/>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분석 허브</a:t>
            </a:r>
            <a:endParaRPr b="0" i="0" sz="1050" u="none" cap="none" strike="noStrike">
              <a:solidFill>
                <a:schemeClr val="dk1"/>
              </a:solidFill>
              <a:latin typeface="Noto Sans"/>
              <a:ea typeface="Noto Sans"/>
              <a:cs typeface="Noto Sans"/>
              <a:sym typeface="Noto Sans"/>
            </a:endParaRPr>
          </a:p>
        </p:txBody>
      </p:sp>
      <p:pic>
        <p:nvPicPr>
          <p:cNvPr descr="/mnt/data/ppt_image_extracted/7.png" id="294" name="Google Shape;294;p10"/>
          <p:cNvPicPr preferRelativeResize="0"/>
          <p:nvPr/>
        </p:nvPicPr>
        <p:blipFill rotWithShape="1">
          <a:blip r:embed="rId3">
            <a:alphaModFix/>
          </a:blip>
          <a:srcRect b="0" l="0" r="0" t="0"/>
          <a:stretch/>
        </p:blipFill>
        <p:spPr>
          <a:xfrm>
            <a:off x="694944" y="1901952"/>
            <a:ext cx="4992624" cy="2980944"/>
          </a:xfrm>
          <a:prstGeom prst="rect">
            <a:avLst/>
          </a:prstGeom>
          <a:noFill/>
          <a:ln>
            <a:noFill/>
          </a:ln>
        </p:spPr>
      </p:pic>
      <p:sp>
        <p:nvSpPr>
          <p:cNvPr id="295" name="Google Shape;295;p10"/>
          <p:cNvSpPr/>
          <p:nvPr/>
        </p:nvSpPr>
        <p:spPr>
          <a:xfrm>
            <a:off x="6016752" y="1847088"/>
            <a:ext cx="2578608" cy="1298448"/>
          </a:xfrm>
          <a:prstGeom prst="roundRect">
            <a:avLst>
              <a:gd fmla="val 5634"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0"/>
          <p:cNvSpPr/>
          <p:nvPr/>
        </p:nvSpPr>
        <p:spPr>
          <a:xfrm>
            <a:off x="6016752" y="1847088"/>
            <a:ext cx="73152" cy="1298448"/>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0"/>
          <p:cNvSpPr/>
          <p:nvPr/>
        </p:nvSpPr>
        <p:spPr>
          <a:xfrm>
            <a:off x="6199632" y="2011680"/>
            <a:ext cx="221284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실거래 요약</a:t>
            </a:r>
            <a:endParaRPr b="0" i="0" sz="1750" u="none" cap="none" strike="noStrike">
              <a:solidFill>
                <a:schemeClr val="dk1"/>
              </a:solidFill>
              <a:latin typeface="Noto Sans"/>
              <a:ea typeface="Noto Sans"/>
              <a:cs typeface="Noto Sans"/>
              <a:sym typeface="Noto Sans"/>
            </a:endParaRPr>
          </a:p>
        </p:txBody>
      </p:sp>
      <p:sp>
        <p:nvSpPr>
          <p:cNvPr id="298" name="Google Shape;298;p10"/>
          <p:cNvSpPr/>
          <p:nvPr/>
        </p:nvSpPr>
        <p:spPr>
          <a:xfrm>
            <a:off x="6199632" y="2414016"/>
            <a:ext cx="2212848" cy="58521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410"/>
              <a:buFont typeface="Noto Sans"/>
              <a:buNone/>
            </a:pPr>
            <a:r>
              <a:rPr b="0" i="0" lang="en-US" sz="1410" u="none" cap="none" strike="noStrike">
                <a:solidFill>
                  <a:srgbClr val="64778A"/>
                </a:solidFill>
                <a:latin typeface="Noto Sans"/>
                <a:ea typeface="Noto Sans"/>
                <a:cs typeface="Noto Sans"/>
                <a:sym typeface="Noto Sans"/>
              </a:rPr>
              <a:t>매매·전월세 평균, 전월 대비 변화와 최근 거래 예시를 제공합니다.</a:t>
            </a:r>
            <a:endParaRPr b="0" i="0" sz="1410" u="none" cap="none" strike="noStrike">
              <a:solidFill>
                <a:schemeClr val="dk1"/>
              </a:solidFill>
              <a:latin typeface="Noto Sans"/>
              <a:ea typeface="Noto Sans"/>
              <a:cs typeface="Noto Sans"/>
              <a:sym typeface="Noto Sans"/>
            </a:endParaRPr>
          </a:p>
        </p:txBody>
      </p:sp>
      <p:sp>
        <p:nvSpPr>
          <p:cNvPr id="299" name="Google Shape;299;p10"/>
          <p:cNvSpPr/>
          <p:nvPr/>
        </p:nvSpPr>
        <p:spPr>
          <a:xfrm>
            <a:off x="8796528" y="1847088"/>
            <a:ext cx="2578608" cy="1298448"/>
          </a:xfrm>
          <a:prstGeom prst="roundRect">
            <a:avLst>
              <a:gd fmla="val 5634"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0"/>
          <p:cNvSpPr/>
          <p:nvPr/>
        </p:nvSpPr>
        <p:spPr>
          <a:xfrm>
            <a:off x="8796528" y="1847088"/>
            <a:ext cx="73152" cy="1298448"/>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0"/>
          <p:cNvSpPr/>
          <p:nvPr/>
        </p:nvSpPr>
        <p:spPr>
          <a:xfrm>
            <a:off x="8979408" y="2011680"/>
            <a:ext cx="221284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지역 비교</a:t>
            </a:r>
            <a:endParaRPr b="0" i="0" sz="1750" u="none" cap="none" strike="noStrike">
              <a:solidFill>
                <a:schemeClr val="dk1"/>
              </a:solidFill>
              <a:latin typeface="Noto Sans"/>
              <a:ea typeface="Noto Sans"/>
              <a:cs typeface="Noto Sans"/>
              <a:sym typeface="Noto Sans"/>
            </a:endParaRPr>
          </a:p>
        </p:txBody>
      </p:sp>
      <p:sp>
        <p:nvSpPr>
          <p:cNvPr id="302" name="Google Shape;302;p10"/>
          <p:cNvSpPr/>
          <p:nvPr/>
        </p:nvSpPr>
        <p:spPr>
          <a:xfrm>
            <a:off x="8979408" y="2414016"/>
            <a:ext cx="2212848" cy="58521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410"/>
              <a:buFont typeface="Noto Sans"/>
              <a:buNone/>
            </a:pPr>
            <a:r>
              <a:rPr b="0" i="0" lang="en-US" sz="1410" u="none" cap="none" strike="noStrike">
                <a:solidFill>
                  <a:srgbClr val="64778A"/>
                </a:solidFill>
                <a:latin typeface="Noto Sans"/>
                <a:ea typeface="Noto Sans"/>
                <a:cs typeface="Noto Sans"/>
                <a:sym typeface="Noto Sans"/>
              </a:rPr>
              <a:t>기준 지역과 비교 지역의 가격·유동성·안정성 지표를 비교합니다.</a:t>
            </a:r>
            <a:endParaRPr b="0" i="0" sz="1410" u="none" cap="none" strike="noStrike">
              <a:solidFill>
                <a:schemeClr val="dk1"/>
              </a:solidFill>
              <a:latin typeface="Noto Sans"/>
              <a:ea typeface="Noto Sans"/>
              <a:cs typeface="Noto Sans"/>
              <a:sym typeface="Noto Sans"/>
            </a:endParaRPr>
          </a:p>
        </p:txBody>
      </p:sp>
      <p:sp>
        <p:nvSpPr>
          <p:cNvPr id="303" name="Google Shape;303;p10"/>
          <p:cNvSpPr/>
          <p:nvPr/>
        </p:nvSpPr>
        <p:spPr>
          <a:xfrm>
            <a:off x="6016752" y="3401568"/>
            <a:ext cx="2578608" cy="1298448"/>
          </a:xfrm>
          <a:prstGeom prst="roundRect">
            <a:avLst>
              <a:gd fmla="val 5634"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0"/>
          <p:cNvSpPr/>
          <p:nvPr/>
        </p:nvSpPr>
        <p:spPr>
          <a:xfrm>
            <a:off x="6016752" y="3401568"/>
            <a:ext cx="73152" cy="1298448"/>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0"/>
          <p:cNvSpPr/>
          <p:nvPr/>
        </p:nvSpPr>
        <p:spPr>
          <a:xfrm>
            <a:off x="6199632" y="3566160"/>
            <a:ext cx="221284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거래·비용</a:t>
            </a:r>
            <a:endParaRPr b="0" i="0" sz="1750" u="none" cap="none" strike="noStrike">
              <a:solidFill>
                <a:schemeClr val="dk1"/>
              </a:solidFill>
              <a:latin typeface="Noto Sans"/>
              <a:ea typeface="Noto Sans"/>
              <a:cs typeface="Noto Sans"/>
              <a:sym typeface="Noto Sans"/>
            </a:endParaRPr>
          </a:p>
        </p:txBody>
      </p:sp>
      <p:sp>
        <p:nvSpPr>
          <p:cNvPr id="306" name="Google Shape;306;p10"/>
          <p:cNvSpPr/>
          <p:nvPr/>
        </p:nvSpPr>
        <p:spPr>
          <a:xfrm>
            <a:off x="6199632" y="3968496"/>
            <a:ext cx="2212848" cy="58521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410"/>
              <a:buFont typeface="Noto Sans"/>
              <a:buNone/>
            </a:pPr>
            <a:r>
              <a:rPr b="0" i="0" lang="en-US" sz="1410" u="none" cap="none" strike="noStrike">
                <a:solidFill>
                  <a:srgbClr val="64778A"/>
                </a:solidFill>
                <a:latin typeface="Noto Sans"/>
                <a:ea typeface="Noto Sans"/>
                <a:cs typeface="Noto Sans"/>
                <a:sym typeface="Noto Sans"/>
              </a:rPr>
              <a:t>거래량과 중개보수·취득 관련 비용, 필요 현금을 계산합니다.</a:t>
            </a:r>
            <a:endParaRPr b="0" i="0" sz="1410" u="none" cap="none" strike="noStrike">
              <a:solidFill>
                <a:schemeClr val="dk1"/>
              </a:solidFill>
              <a:latin typeface="Noto Sans"/>
              <a:ea typeface="Noto Sans"/>
              <a:cs typeface="Noto Sans"/>
              <a:sym typeface="Noto Sans"/>
            </a:endParaRPr>
          </a:p>
        </p:txBody>
      </p:sp>
      <p:sp>
        <p:nvSpPr>
          <p:cNvPr id="307" name="Google Shape;307;p10"/>
          <p:cNvSpPr/>
          <p:nvPr/>
        </p:nvSpPr>
        <p:spPr>
          <a:xfrm>
            <a:off x="8796528" y="3401568"/>
            <a:ext cx="2578608" cy="1298448"/>
          </a:xfrm>
          <a:prstGeom prst="roundRect">
            <a:avLst>
              <a:gd fmla="val 5634"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0"/>
          <p:cNvSpPr/>
          <p:nvPr/>
        </p:nvSpPr>
        <p:spPr>
          <a:xfrm>
            <a:off x="8796528" y="3401568"/>
            <a:ext cx="73152" cy="1298448"/>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0"/>
          <p:cNvSpPr/>
          <p:nvPr/>
        </p:nvSpPr>
        <p:spPr>
          <a:xfrm>
            <a:off x="8979408" y="3566160"/>
            <a:ext cx="221284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확장 분석</a:t>
            </a:r>
            <a:endParaRPr b="0" i="0" sz="1750" u="none" cap="none" strike="noStrike">
              <a:solidFill>
                <a:schemeClr val="dk1"/>
              </a:solidFill>
              <a:latin typeface="Noto Sans"/>
              <a:ea typeface="Noto Sans"/>
              <a:cs typeface="Noto Sans"/>
              <a:sym typeface="Noto Sans"/>
            </a:endParaRPr>
          </a:p>
        </p:txBody>
      </p:sp>
      <p:sp>
        <p:nvSpPr>
          <p:cNvPr id="310" name="Google Shape;310;p10"/>
          <p:cNvSpPr/>
          <p:nvPr/>
        </p:nvSpPr>
        <p:spPr>
          <a:xfrm>
            <a:off x="8979408" y="3968496"/>
            <a:ext cx="2212848" cy="58521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410"/>
              <a:buFont typeface="Noto Sans"/>
              <a:buNone/>
            </a:pPr>
            <a:r>
              <a:rPr b="0" i="0" lang="en-US" sz="1410" u="none" cap="none" strike="noStrike">
                <a:solidFill>
                  <a:srgbClr val="64778A"/>
                </a:solidFill>
                <a:latin typeface="Noto Sans"/>
                <a:ea typeface="Noto Sans"/>
                <a:cs typeface="Noto Sans"/>
                <a:sym typeface="Noto Sans"/>
              </a:rPr>
              <a:t>지역 이동·금리·학군·교통·AI 리포트 등 다양한 화면을 제공합니다.</a:t>
            </a:r>
            <a:endParaRPr b="0" i="0" sz="1410" u="none" cap="none" strike="noStrike">
              <a:solidFill>
                <a:schemeClr val="dk1"/>
              </a:solidFill>
              <a:latin typeface="Noto Sans"/>
              <a:ea typeface="Noto Sans"/>
              <a:cs typeface="Noto Sans"/>
              <a:sym typeface="Noto Sans"/>
            </a:endParaRPr>
          </a:p>
        </p:txBody>
      </p:sp>
      <p:sp>
        <p:nvSpPr>
          <p:cNvPr id="311" name="Google Shape;311;p10"/>
          <p:cNvSpPr/>
          <p:nvPr/>
        </p:nvSpPr>
        <p:spPr>
          <a:xfrm>
            <a:off x="6016752" y="5102352"/>
            <a:ext cx="5358384" cy="841248"/>
          </a:xfrm>
          <a:prstGeom prst="roundRect">
            <a:avLst>
              <a:gd fmla="val 6522" name="adj"/>
            </a:avLst>
          </a:prstGeom>
          <a:solidFill>
            <a:srgbClr val="FFF4DF"/>
          </a:solidFill>
          <a:ln cap="flat" cmpd="sng" w="12700">
            <a:solidFill>
              <a:srgbClr val="F1D6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0"/>
          <p:cNvSpPr/>
          <p:nvPr/>
        </p:nvSpPr>
        <p:spPr>
          <a:xfrm>
            <a:off x="6254496" y="5398770"/>
            <a:ext cx="10791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8A21"/>
              </a:buClr>
              <a:buSzPts val="1550"/>
              <a:buFont typeface="Noto Sans"/>
              <a:buNone/>
            </a:pPr>
            <a:r>
              <a:rPr b="1" i="0" lang="en-US" sz="1550" u="none" cap="none" strike="noStrike">
                <a:solidFill>
                  <a:srgbClr val="D18A21"/>
                </a:solidFill>
                <a:latin typeface="Noto Sans"/>
                <a:ea typeface="Noto Sans"/>
                <a:cs typeface="Noto Sans"/>
                <a:sym typeface="Noto Sans"/>
              </a:rPr>
              <a:t>데이터 구분</a:t>
            </a:r>
            <a:endParaRPr b="0" i="0" sz="1550" u="none" cap="none" strike="noStrike">
              <a:solidFill>
                <a:schemeClr val="dk1"/>
              </a:solidFill>
              <a:latin typeface="Noto Sans"/>
              <a:ea typeface="Noto Sans"/>
              <a:cs typeface="Noto Sans"/>
              <a:sym typeface="Noto Sans"/>
            </a:endParaRPr>
          </a:p>
        </p:txBody>
      </p:sp>
      <p:sp>
        <p:nvSpPr>
          <p:cNvPr id="313" name="Google Shape;313;p10"/>
          <p:cNvSpPr/>
          <p:nvPr/>
        </p:nvSpPr>
        <p:spPr>
          <a:xfrm>
            <a:off x="7524421" y="5171453"/>
            <a:ext cx="3749100" cy="7041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420"/>
              <a:buFont typeface="Noto Sans"/>
              <a:buNone/>
            </a:pPr>
            <a:r>
              <a:rPr b="0" i="0" lang="en-US" sz="1420" u="none" cap="none" strike="noStrike">
                <a:solidFill>
                  <a:srgbClr val="17324D"/>
                </a:solidFill>
                <a:latin typeface="Noto Sans"/>
                <a:ea typeface="Noto Sans"/>
                <a:cs typeface="Noto Sans"/>
                <a:sym typeface="Noto Sans"/>
              </a:rPr>
              <a:t>실거래 API 기반 집계와 시각화용 합성 시계열·고정 예시 데이터 화면을 명확히 구분합니다.</a:t>
            </a:r>
            <a:endParaRPr b="0" i="0" sz="1420" u="none" cap="none" strike="noStrike">
              <a:solidFill>
                <a:schemeClr val="dk1"/>
              </a:solidFill>
              <a:latin typeface="Noto Sans"/>
              <a:ea typeface="Noto Sans"/>
              <a:cs typeface="Noto Sans"/>
              <a:sym typeface="Noto Sans"/>
            </a:endParaRPr>
          </a:p>
        </p:txBody>
      </p:sp>
      <p:sp>
        <p:nvSpPr>
          <p:cNvPr id="314" name="Google Shape;314;p10"/>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11"/>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대표 분석: 지역별 매매가격 비교</a:t>
            </a:r>
            <a:endParaRPr b="0" i="0" sz="2700" u="none" cap="none" strike="noStrike">
              <a:solidFill>
                <a:schemeClr val="dk1"/>
              </a:solidFill>
              <a:latin typeface="Noto Sans"/>
              <a:ea typeface="Noto Sans"/>
              <a:cs typeface="Noto Sans"/>
              <a:sym typeface="Noto Sans"/>
            </a:endParaRPr>
          </a:p>
        </p:txBody>
      </p:sp>
      <p:sp>
        <p:nvSpPr>
          <p:cNvPr id="321" name="Google Shape;321;p11"/>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두 지역을 선택해 평균 매매가, 변화율, 평당 추정값과 최근 거래를 같은 화면에서 비교합니다.</a:t>
            </a:r>
            <a:endParaRPr b="0" i="0" sz="1450" u="none" cap="none" strike="noStrike">
              <a:solidFill>
                <a:schemeClr val="dk1"/>
              </a:solidFill>
              <a:latin typeface="Noto Sans"/>
              <a:ea typeface="Noto Sans"/>
              <a:cs typeface="Noto Sans"/>
              <a:sym typeface="Noto Sans"/>
            </a:endParaRPr>
          </a:p>
        </p:txBody>
      </p:sp>
      <p:sp>
        <p:nvSpPr>
          <p:cNvPr id="322" name="Google Shape;322;p11"/>
          <p:cNvSpPr/>
          <p:nvPr/>
        </p:nvSpPr>
        <p:spPr>
          <a:xfrm>
            <a:off x="9930384" y="804672"/>
            <a:ext cx="1755648" cy="384048"/>
          </a:xfrm>
          <a:prstGeom prst="roundRect">
            <a:avLst>
              <a:gd fmla="val 19048" name="adj"/>
            </a:avLst>
          </a:prstGeom>
          <a:solidFill>
            <a:srgbClr val="EAF9F6"/>
          </a:solidFill>
          <a:ln cap="flat" cmpd="sng" w="12700">
            <a:solidFill>
              <a:srgbClr val="BFE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1"/>
          <p:cNvSpPr/>
          <p:nvPr/>
        </p:nvSpPr>
        <p:spPr>
          <a:xfrm>
            <a:off x="10021824" y="859536"/>
            <a:ext cx="157276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7F74"/>
              </a:buClr>
              <a:buSzPts val="1050"/>
              <a:buFont typeface="Noto Sans"/>
              <a:buNone/>
            </a:pPr>
            <a:r>
              <a:rPr b="1" i="0" lang="en-US" sz="1050" u="none" cap="none" strike="noStrike">
                <a:solidFill>
                  <a:srgbClr val="187F74"/>
                </a:solidFill>
                <a:latin typeface="Noto Sans"/>
                <a:ea typeface="Noto Sans"/>
                <a:cs typeface="Noto Sans"/>
                <a:sym typeface="Noto Sans"/>
              </a:rPr>
              <a:t>PART 3 · 부동산 분석</a:t>
            </a:r>
            <a:endParaRPr b="0" i="0" sz="1050" u="none" cap="none" strike="noStrike">
              <a:solidFill>
                <a:schemeClr val="dk1"/>
              </a:solidFill>
              <a:latin typeface="Noto Sans"/>
              <a:ea typeface="Noto Sans"/>
              <a:cs typeface="Noto Sans"/>
              <a:sym typeface="Noto Sans"/>
            </a:endParaRPr>
          </a:p>
        </p:txBody>
      </p:sp>
      <p:sp>
        <p:nvSpPr>
          <p:cNvPr id="324" name="Google Shape;324;p11"/>
          <p:cNvSpPr/>
          <p:nvPr/>
        </p:nvSpPr>
        <p:spPr>
          <a:xfrm>
            <a:off x="640080" y="1856232"/>
            <a:ext cx="5669280" cy="3218688"/>
          </a:xfrm>
          <a:prstGeom prst="roundRect">
            <a:avLst>
              <a:gd fmla="val 1705"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1"/>
          <p:cNvSpPr/>
          <p:nvPr/>
        </p:nvSpPr>
        <p:spPr>
          <a:xfrm>
            <a:off x="731520" y="1947672"/>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1"/>
          <p:cNvSpPr/>
          <p:nvPr/>
        </p:nvSpPr>
        <p:spPr>
          <a:xfrm>
            <a:off x="813816" y="2002536"/>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지역별 매매가격 비교</a:t>
            </a:r>
            <a:endParaRPr b="0" i="0" sz="1050" u="none" cap="none" strike="noStrike">
              <a:solidFill>
                <a:schemeClr val="dk1"/>
              </a:solidFill>
              <a:latin typeface="Noto Sans"/>
              <a:ea typeface="Noto Sans"/>
              <a:cs typeface="Noto Sans"/>
              <a:sym typeface="Noto Sans"/>
            </a:endParaRPr>
          </a:p>
        </p:txBody>
      </p:sp>
      <p:pic>
        <p:nvPicPr>
          <p:cNvPr descr="/mnt/data/ppt_image_extracted/8.png" id="327" name="Google Shape;327;p11"/>
          <p:cNvPicPr preferRelativeResize="0"/>
          <p:nvPr/>
        </p:nvPicPr>
        <p:blipFill rotWithShape="1">
          <a:blip r:embed="rId3">
            <a:alphaModFix/>
          </a:blip>
          <a:srcRect b="0" l="0" r="0" t="0"/>
          <a:stretch/>
        </p:blipFill>
        <p:spPr>
          <a:xfrm>
            <a:off x="694944" y="1911096"/>
            <a:ext cx="5559552" cy="3108960"/>
          </a:xfrm>
          <a:prstGeom prst="rect">
            <a:avLst/>
          </a:prstGeom>
          <a:noFill/>
          <a:ln>
            <a:noFill/>
          </a:ln>
        </p:spPr>
      </p:pic>
      <p:sp>
        <p:nvSpPr>
          <p:cNvPr id="328" name="Google Shape;328;p11"/>
          <p:cNvSpPr/>
          <p:nvPr/>
        </p:nvSpPr>
        <p:spPr>
          <a:xfrm>
            <a:off x="6656832" y="1938528"/>
            <a:ext cx="4663440" cy="2468880"/>
          </a:xfrm>
          <a:prstGeom prst="rect">
            <a:avLst/>
          </a:prstGeom>
          <a:noFill/>
          <a:ln>
            <a:noFill/>
          </a:ln>
        </p:spPr>
        <p:txBody>
          <a:bodyPr anchorCtr="0" anchor="ctr" bIns="250" lIns="250" spcFirstLastPara="1" rIns="250" wrap="square" tIns="250">
            <a:normAutofit/>
          </a:bodyPr>
          <a:lstStyle/>
          <a:p>
            <a:pPr indent="-228600" lvl="0" marL="228600" marR="0" rtl="0" algn="l">
              <a:spcBef>
                <a:spcPts val="0"/>
              </a:spcBef>
              <a:spcAft>
                <a:spcPts val="0"/>
              </a:spcAft>
              <a:buClr>
                <a:srgbClr val="17324D"/>
              </a:buClr>
              <a:buSzPts val="1610"/>
              <a:buFont typeface="Noto Sans"/>
              <a:buChar char="•"/>
            </a:pPr>
            <a:r>
              <a:rPr b="0" i="0" lang="en-US" sz="1610" u="none" cap="none" strike="noStrike">
                <a:solidFill>
                  <a:srgbClr val="17324D"/>
                </a:solidFill>
                <a:latin typeface="Noto Sans"/>
                <a:ea typeface="Noto Sans"/>
                <a:cs typeface="Noto Sans"/>
                <a:sym typeface="Noto Sans"/>
              </a:rPr>
              <a:t>지역·면적·기간·비교 지역을 선택해 동일 조건으로 비교</a:t>
            </a:r>
            <a:endParaRPr b="0" i="0" sz="1610" u="none" cap="none" strike="noStrike">
              <a:solidFill>
                <a:schemeClr val="dk1"/>
              </a:solidFill>
              <a:latin typeface="Noto Sans"/>
              <a:ea typeface="Noto Sans"/>
              <a:cs typeface="Noto Sans"/>
              <a:sym typeface="Noto Sans"/>
            </a:endParaRPr>
          </a:p>
          <a:p>
            <a:pPr indent="-228600" lvl="0" marL="228600" marR="0" rtl="0" algn="l">
              <a:spcBef>
                <a:spcPts val="0"/>
              </a:spcBef>
              <a:spcAft>
                <a:spcPts val="0"/>
              </a:spcAft>
              <a:buClr>
                <a:srgbClr val="17324D"/>
              </a:buClr>
              <a:buSzPts val="1610"/>
              <a:buFont typeface="Noto Sans"/>
              <a:buChar char="•"/>
            </a:pPr>
            <a:r>
              <a:rPr b="0" i="0" lang="en-US" sz="1610" u="none" cap="none" strike="noStrike">
                <a:solidFill>
                  <a:srgbClr val="17324D"/>
                </a:solidFill>
                <a:latin typeface="Noto Sans"/>
                <a:ea typeface="Noto Sans"/>
                <a:cs typeface="Noto Sans"/>
                <a:sym typeface="Noto Sans"/>
              </a:rPr>
              <a:t>평균 매매가, 전월 변화율, 지역 간 격차, 평당 추정값을 핵심 카드로 요약</a:t>
            </a:r>
            <a:endParaRPr b="0" i="0" sz="1610" u="none" cap="none" strike="noStrike">
              <a:solidFill>
                <a:schemeClr val="dk1"/>
              </a:solidFill>
              <a:latin typeface="Noto Sans"/>
              <a:ea typeface="Noto Sans"/>
              <a:cs typeface="Noto Sans"/>
              <a:sym typeface="Noto Sans"/>
            </a:endParaRPr>
          </a:p>
          <a:p>
            <a:pPr indent="-228600" lvl="0" marL="228600" marR="0" rtl="0" algn="l">
              <a:spcBef>
                <a:spcPts val="0"/>
              </a:spcBef>
              <a:spcAft>
                <a:spcPts val="0"/>
              </a:spcAft>
              <a:buClr>
                <a:srgbClr val="17324D"/>
              </a:buClr>
              <a:buSzPts val="1610"/>
              <a:buFont typeface="Noto Sans"/>
              <a:buChar char="•"/>
            </a:pPr>
            <a:r>
              <a:rPr b="0" i="0" lang="en-US" sz="1610" u="none" cap="none" strike="noStrike">
                <a:solidFill>
                  <a:srgbClr val="17324D"/>
                </a:solidFill>
                <a:latin typeface="Noto Sans"/>
                <a:ea typeface="Noto Sans"/>
                <a:cs typeface="Noto Sans"/>
                <a:sym typeface="Noto Sans"/>
              </a:rPr>
              <a:t>최근 실거래 예시를 함께 표시해 “지표 → 개별 거래”로 이어서 확인</a:t>
            </a:r>
            <a:endParaRPr b="0" i="0" sz="1610" u="none" cap="none" strike="noStrike">
              <a:solidFill>
                <a:schemeClr val="dk1"/>
              </a:solidFill>
              <a:latin typeface="Noto Sans"/>
              <a:ea typeface="Noto Sans"/>
              <a:cs typeface="Noto Sans"/>
              <a:sym typeface="Noto Sans"/>
            </a:endParaRPr>
          </a:p>
          <a:p>
            <a:pPr indent="-228600" lvl="0" marL="228600" marR="0" rtl="0" algn="l">
              <a:spcBef>
                <a:spcPts val="0"/>
              </a:spcBef>
              <a:spcAft>
                <a:spcPts val="0"/>
              </a:spcAft>
              <a:buClr>
                <a:srgbClr val="17324D"/>
              </a:buClr>
              <a:buSzPts val="1610"/>
              <a:buFont typeface="Noto Sans"/>
              <a:buChar char="•"/>
            </a:pPr>
            <a:r>
              <a:rPr b="0" i="0" lang="en-US" sz="1610" u="none" cap="none" strike="noStrike">
                <a:solidFill>
                  <a:srgbClr val="17324D"/>
                </a:solidFill>
                <a:latin typeface="Noto Sans"/>
                <a:ea typeface="Noto Sans"/>
                <a:cs typeface="Noto Sans"/>
                <a:sym typeface="Noto Sans"/>
              </a:rPr>
              <a:t>기간별 선 그래프는 현재값과 변화율을 기반으로 만든 시각화용 합성 series</a:t>
            </a:r>
            <a:endParaRPr b="0" i="0" sz="1610" u="none" cap="none" strike="noStrike">
              <a:solidFill>
                <a:schemeClr val="dk1"/>
              </a:solidFill>
              <a:latin typeface="Noto Sans"/>
              <a:ea typeface="Noto Sans"/>
              <a:cs typeface="Noto Sans"/>
              <a:sym typeface="Noto Sans"/>
            </a:endParaRPr>
          </a:p>
        </p:txBody>
      </p:sp>
      <p:sp>
        <p:nvSpPr>
          <p:cNvPr id="329" name="Google Shape;329;p11"/>
          <p:cNvSpPr/>
          <p:nvPr/>
        </p:nvSpPr>
        <p:spPr>
          <a:xfrm>
            <a:off x="6656832" y="4828032"/>
            <a:ext cx="4663440" cy="1078992"/>
          </a:xfrm>
          <a:prstGeom prst="roundRect">
            <a:avLst>
              <a:gd fmla="val 6780"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1"/>
          <p:cNvSpPr/>
          <p:nvPr/>
        </p:nvSpPr>
        <p:spPr>
          <a:xfrm>
            <a:off x="6656832" y="4828032"/>
            <a:ext cx="73152" cy="1078992"/>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1"/>
          <p:cNvSpPr/>
          <p:nvPr/>
        </p:nvSpPr>
        <p:spPr>
          <a:xfrm>
            <a:off x="6839712" y="4992624"/>
            <a:ext cx="42976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핵심 의미</a:t>
            </a:r>
            <a:endParaRPr b="0" i="0" sz="1750" u="none" cap="none" strike="noStrike">
              <a:solidFill>
                <a:schemeClr val="dk1"/>
              </a:solidFill>
              <a:latin typeface="Noto Sans"/>
              <a:ea typeface="Noto Sans"/>
              <a:cs typeface="Noto Sans"/>
              <a:sym typeface="Noto Sans"/>
            </a:endParaRPr>
          </a:p>
        </p:txBody>
      </p:sp>
      <p:sp>
        <p:nvSpPr>
          <p:cNvPr id="332" name="Google Shape;332;p11"/>
          <p:cNvSpPr/>
          <p:nvPr/>
        </p:nvSpPr>
        <p:spPr>
          <a:xfrm>
            <a:off x="6839712" y="5394960"/>
            <a:ext cx="4297680" cy="365760"/>
          </a:xfrm>
          <a:prstGeom prst="rect">
            <a:avLst/>
          </a:prstGeom>
          <a:noFill/>
          <a:ln>
            <a:noFill/>
          </a:ln>
        </p:spPr>
        <p:txBody>
          <a:bodyPr anchorCtr="0" anchor="ctr" bIns="250" lIns="250" spcFirstLastPara="1" rIns="250" wrap="square" tIns="250">
            <a:normAutofit/>
          </a:bodyPr>
          <a:lstStyle/>
          <a:p>
            <a:pPr indent="0" lvl="0" marL="0" marR="0" rtl="0" algn="l">
              <a:spcBef>
                <a:spcPts val="0"/>
              </a:spcBef>
              <a:spcAft>
                <a:spcPts val="0"/>
              </a:spcAft>
              <a:buClr>
                <a:srgbClr val="64778A"/>
              </a:buClr>
              <a:buSzPts val="1460"/>
              <a:buFont typeface="Noto Sans"/>
              <a:buNone/>
            </a:pPr>
            <a:r>
              <a:rPr b="0" i="0" lang="en-US" sz="1460" u="none" cap="none" strike="noStrike">
                <a:solidFill>
                  <a:srgbClr val="64778A"/>
                </a:solidFill>
                <a:latin typeface="Noto Sans"/>
                <a:ea typeface="Noto Sans"/>
                <a:cs typeface="Noto Sans"/>
                <a:sym typeface="Noto Sans"/>
              </a:rPr>
              <a:t>한 화면에서 수치와 개별 거래를 함께 보면서 지역 간 가격 수준과 거래 조건을 빠르게 비교할 수 있습니다.</a:t>
            </a:r>
            <a:endParaRPr b="0" i="0" sz="1460" u="none" cap="none" strike="noStrike">
              <a:solidFill>
                <a:schemeClr val="dk1"/>
              </a:solidFill>
              <a:latin typeface="Noto Sans"/>
              <a:ea typeface="Noto Sans"/>
              <a:cs typeface="Noto Sans"/>
              <a:sym typeface="Noto Sans"/>
            </a:endParaRPr>
          </a:p>
        </p:txBody>
      </p:sp>
      <p:sp>
        <p:nvSpPr>
          <p:cNvPr id="333" name="Google Shape;333;p11"/>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2"/>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거래 판단을 돕는 비용·생활 분석</a:t>
            </a:r>
            <a:endParaRPr b="0" i="0" sz="2700" u="none" cap="none" strike="noStrike">
              <a:solidFill>
                <a:schemeClr val="dk1"/>
              </a:solidFill>
              <a:latin typeface="Noto Sans"/>
              <a:ea typeface="Noto Sans"/>
              <a:cs typeface="Noto Sans"/>
              <a:sym typeface="Noto Sans"/>
            </a:endParaRPr>
          </a:p>
        </p:txBody>
      </p:sp>
      <p:sp>
        <p:nvSpPr>
          <p:cNvPr id="340" name="Google Shape;340;p12"/>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실거래 비교와 함께 계약 전 필요한 비용 계산, 학군·교통·금리 등 생활 관점의 화면도 제공합니다.</a:t>
            </a:r>
            <a:endParaRPr b="0" i="0" sz="1450" u="none" cap="none" strike="noStrike">
              <a:solidFill>
                <a:schemeClr val="dk1"/>
              </a:solidFill>
              <a:latin typeface="Noto Sans"/>
              <a:ea typeface="Noto Sans"/>
              <a:cs typeface="Noto Sans"/>
              <a:sym typeface="Noto Sans"/>
            </a:endParaRPr>
          </a:p>
        </p:txBody>
      </p:sp>
      <p:sp>
        <p:nvSpPr>
          <p:cNvPr id="341" name="Google Shape;341;p12"/>
          <p:cNvSpPr/>
          <p:nvPr/>
        </p:nvSpPr>
        <p:spPr>
          <a:xfrm>
            <a:off x="9930384" y="804672"/>
            <a:ext cx="1755648" cy="384048"/>
          </a:xfrm>
          <a:prstGeom prst="roundRect">
            <a:avLst>
              <a:gd fmla="val 19048" name="adj"/>
            </a:avLst>
          </a:prstGeom>
          <a:solidFill>
            <a:srgbClr val="EAF9F6"/>
          </a:solidFill>
          <a:ln cap="flat" cmpd="sng" w="12700">
            <a:solidFill>
              <a:srgbClr val="BFE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2"/>
          <p:cNvSpPr/>
          <p:nvPr/>
        </p:nvSpPr>
        <p:spPr>
          <a:xfrm>
            <a:off x="10021824" y="859536"/>
            <a:ext cx="157276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7F74"/>
              </a:buClr>
              <a:buSzPts val="1050"/>
              <a:buFont typeface="Noto Sans"/>
              <a:buNone/>
            </a:pPr>
            <a:r>
              <a:rPr b="1" i="0" lang="en-US" sz="1050" u="none" cap="none" strike="noStrike">
                <a:solidFill>
                  <a:srgbClr val="187F74"/>
                </a:solidFill>
                <a:latin typeface="Noto Sans"/>
                <a:ea typeface="Noto Sans"/>
                <a:cs typeface="Noto Sans"/>
                <a:sym typeface="Noto Sans"/>
              </a:rPr>
              <a:t>PART 3 · 부동산 분석</a:t>
            </a:r>
            <a:endParaRPr b="0" i="0" sz="1050" u="none" cap="none" strike="noStrike">
              <a:solidFill>
                <a:schemeClr val="dk1"/>
              </a:solidFill>
              <a:latin typeface="Noto Sans"/>
              <a:ea typeface="Noto Sans"/>
              <a:cs typeface="Noto Sans"/>
              <a:sym typeface="Noto Sans"/>
            </a:endParaRPr>
          </a:p>
        </p:txBody>
      </p:sp>
      <p:sp>
        <p:nvSpPr>
          <p:cNvPr id="343" name="Google Shape;343;p12"/>
          <p:cNvSpPr/>
          <p:nvPr/>
        </p:nvSpPr>
        <p:spPr>
          <a:xfrm>
            <a:off x="640080" y="1856232"/>
            <a:ext cx="5166360" cy="3218688"/>
          </a:xfrm>
          <a:prstGeom prst="roundRect">
            <a:avLst>
              <a:gd fmla="val 1705"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2"/>
          <p:cNvSpPr/>
          <p:nvPr/>
        </p:nvSpPr>
        <p:spPr>
          <a:xfrm>
            <a:off x="731520" y="1947672"/>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2"/>
          <p:cNvSpPr/>
          <p:nvPr/>
        </p:nvSpPr>
        <p:spPr>
          <a:xfrm>
            <a:off x="813816" y="2002536"/>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비용 계산</a:t>
            </a:r>
            <a:endParaRPr b="0" i="0" sz="1050" u="none" cap="none" strike="noStrike">
              <a:solidFill>
                <a:schemeClr val="dk1"/>
              </a:solidFill>
              <a:latin typeface="Noto Sans"/>
              <a:ea typeface="Noto Sans"/>
              <a:cs typeface="Noto Sans"/>
              <a:sym typeface="Noto Sans"/>
            </a:endParaRPr>
          </a:p>
        </p:txBody>
      </p:sp>
      <p:pic>
        <p:nvPicPr>
          <p:cNvPr descr="/mnt/data/ppt_image_extracted/9.png" id="346" name="Google Shape;346;p12"/>
          <p:cNvPicPr preferRelativeResize="0"/>
          <p:nvPr/>
        </p:nvPicPr>
        <p:blipFill rotWithShape="1">
          <a:blip r:embed="rId3">
            <a:alphaModFix/>
          </a:blip>
          <a:srcRect b="0" l="0" r="0" t="0"/>
          <a:stretch/>
        </p:blipFill>
        <p:spPr>
          <a:xfrm>
            <a:off x="694944" y="1911096"/>
            <a:ext cx="5056632" cy="3108960"/>
          </a:xfrm>
          <a:prstGeom prst="rect">
            <a:avLst/>
          </a:prstGeom>
          <a:noFill/>
          <a:ln>
            <a:noFill/>
          </a:ln>
        </p:spPr>
      </p:pic>
      <p:sp>
        <p:nvSpPr>
          <p:cNvPr id="347" name="Google Shape;347;p12"/>
          <p:cNvSpPr/>
          <p:nvPr/>
        </p:nvSpPr>
        <p:spPr>
          <a:xfrm>
            <a:off x="6108192" y="1856232"/>
            <a:ext cx="2523744" cy="1389888"/>
          </a:xfrm>
          <a:prstGeom prst="roundRect">
            <a:avLst>
              <a:gd fmla="val 5263"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2"/>
          <p:cNvSpPr/>
          <p:nvPr/>
        </p:nvSpPr>
        <p:spPr>
          <a:xfrm>
            <a:off x="6108192" y="1856232"/>
            <a:ext cx="73152" cy="1389888"/>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2"/>
          <p:cNvSpPr/>
          <p:nvPr/>
        </p:nvSpPr>
        <p:spPr>
          <a:xfrm>
            <a:off x="6291072" y="2020824"/>
            <a:ext cx="2157984"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비용 계산기</a:t>
            </a:r>
            <a:endParaRPr b="0" i="0" sz="1750" u="none" cap="none" strike="noStrike">
              <a:solidFill>
                <a:schemeClr val="dk1"/>
              </a:solidFill>
              <a:latin typeface="Noto Sans"/>
              <a:ea typeface="Noto Sans"/>
              <a:cs typeface="Noto Sans"/>
              <a:sym typeface="Noto Sans"/>
            </a:endParaRPr>
          </a:p>
        </p:txBody>
      </p:sp>
      <p:sp>
        <p:nvSpPr>
          <p:cNvPr id="350" name="Google Shape;350;p12"/>
          <p:cNvSpPr/>
          <p:nvPr/>
        </p:nvSpPr>
        <p:spPr>
          <a:xfrm>
            <a:off x="6291072" y="2423160"/>
            <a:ext cx="2157984" cy="67665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380"/>
              <a:buFont typeface="Noto Sans"/>
              <a:buNone/>
            </a:pPr>
            <a:r>
              <a:rPr b="0" i="0" lang="en-US" sz="1380" u="none" cap="none" strike="noStrike">
                <a:solidFill>
                  <a:srgbClr val="64778A"/>
                </a:solidFill>
                <a:latin typeface="Noto Sans"/>
                <a:ea typeface="Noto Sans"/>
                <a:cs typeface="Noto Sans"/>
                <a:sym typeface="Noto Sans"/>
              </a:rPr>
              <a:t>거래 유형·가격·주택 수·면적·대출 예정액을 입력해 중개보수 상한, 취득 관련 세금과 필요 현금을 계산합니다.</a:t>
            </a:r>
            <a:endParaRPr b="0" i="0" sz="1380" u="none" cap="none" strike="noStrike">
              <a:solidFill>
                <a:schemeClr val="dk1"/>
              </a:solidFill>
              <a:latin typeface="Noto Sans"/>
              <a:ea typeface="Noto Sans"/>
              <a:cs typeface="Noto Sans"/>
              <a:sym typeface="Noto Sans"/>
            </a:endParaRPr>
          </a:p>
        </p:txBody>
      </p:sp>
      <p:sp>
        <p:nvSpPr>
          <p:cNvPr id="351" name="Google Shape;351;p12"/>
          <p:cNvSpPr/>
          <p:nvPr/>
        </p:nvSpPr>
        <p:spPr>
          <a:xfrm>
            <a:off x="8869680" y="1856232"/>
            <a:ext cx="2523744" cy="1389888"/>
          </a:xfrm>
          <a:prstGeom prst="roundRect">
            <a:avLst>
              <a:gd fmla="val 5263"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2"/>
          <p:cNvSpPr/>
          <p:nvPr/>
        </p:nvSpPr>
        <p:spPr>
          <a:xfrm>
            <a:off x="8869680" y="1856232"/>
            <a:ext cx="73152" cy="1389888"/>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2"/>
          <p:cNvSpPr/>
          <p:nvPr/>
        </p:nvSpPr>
        <p:spPr>
          <a:xfrm>
            <a:off x="9052560" y="2020824"/>
            <a:ext cx="2157984"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지역 비교</a:t>
            </a:r>
            <a:endParaRPr b="0" i="0" sz="1750" u="none" cap="none" strike="noStrike">
              <a:solidFill>
                <a:schemeClr val="dk1"/>
              </a:solidFill>
              <a:latin typeface="Noto Sans"/>
              <a:ea typeface="Noto Sans"/>
              <a:cs typeface="Noto Sans"/>
              <a:sym typeface="Noto Sans"/>
            </a:endParaRPr>
          </a:p>
        </p:txBody>
      </p:sp>
      <p:sp>
        <p:nvSpPr>
          <p:cNvPr id="354" name="Google Shape;354;p12"/>
          <p:cNvSpPr/>
          <p:nvPr/>
        </p:nvSpPr>
        <p:spPr>
          <a:xfrm>
            <a:off x="9052560" y="2423160"/>
            <a:ext cx="2157984" cy="67665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380"/>
              <a:buFont typeface="Noto Sans"/>
              <a:buNone/>
            </a:pPr>
            <a:r>
              <a:rPr b="0" i="0" lang="en-US" sz="1380" u="none" cap="none" strike="noStrike">
                <a:solidFill>
                  <a:srgbClr val="64778A"/>
                </a:solidFill>
                <a:latin typeface="Noto Sans"/>
                <a:ea typeface="Noto Sans"/>
                <a:cs typeface="Noto Sans"/>
                <a:sym typeface="Noto Sans"/>
              </a:rPr>
              <a:t>가격·거래량뿐 아니라 유동성·안정성·가치 점수를 자체 산식으로 비교합니다.</a:t>
            </a:r>
            <a:endParaRPr b="0" i="0" sz="1380" u="none" cap="none" strike="noStrike">
              <a:solidFill>
                <a:schemeClr val="dk1"/>
              </a:solidFill>
              <a:latin typeface="Noto Sans"/>
              <a:ea typeface="Noto Sans"/>
              <a:cs typeface="Noto Sans"/>
              <a:sym typeface="Noto Sans"/>
            </a:endParaRPr>
          </a:p>
        </p:txBody>
      </p:sp>
      <p:sp>
        <p:nvSpPr>
          <p:cNvPr id="355" name="Google Shape;355;p12"/>
          <p:cNvSpPr/>
          <p:nvPr/>
        </p:nvSpPr>
        <p:spPr>
          <a:xfrm>
            <a:off x="6108192" y="3547872"/>
            <a:ext cx="2523744" cy="1389888"/>
          </a:xfrm>
          <a:prstGeom prst="roundRect">
            <a:avLst>
              <a:gd fmla="val 5263"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2"/>
          <p:cNvSpPr/>
          <p:nvPr/>
        </p:nvSpPr>
        <p:spPr>
          <a:xfrm>
            <a:off x="6108192" y="3547872"/>
            <a:ext cx="73152" cy="1389888"/>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2"/>
          <p:cNvSpPr/>
          <p:nvPr/>
        </p:nvSpPr>
        <p:spPr>
          <a:xfrm>
            <a:off x="6291072" y="3712464"/>
            <a:ext cx="2157984"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생활 분석</a:t>
            </a:r>
            <a:endParaRPr b="0" i="0" sz="1750" u="none" cap="none" strike="noStrike">
              <a:solidFill>
                <a:schemeClr val="dk1"/>
              </a:solidFill>
              <a:latin typeface="Noto Sans"/>
              <a:ea typeface="Noto Sans"/>
              <a:cs typeface="Noto Sans"/>
              <a:sym typeface="Noto Sans"/>
            </a:endParaRPr>
          </a:p>
        </p:txBody>
      </p:sp>
      <p:sp>
        <p:nvSpPr>
          <p:cNvPr id="358" name="Google Shape;358;p12"/>
          <p:cNvSpPr/>
          <p:nvPr/>
        </p:nvSpPr>
        <p:spPr>
          <a:xfrm>
            <a:off x="6291072" y="4114800"/>
            <a:ext cx="2157984" cy="67665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380"/>
              <a:buFont typeface="Noto Sans"/>
              <a:buNone/>
            </a:pPr>
            <a:r>
              <a:rPr b="0" i="0" lang="en-US" sz="1380" u="none" cap="none" strike="noStrike">
                <a:solidFill>
                  <a:srgbClr val="64778A"/>
                </a:solidFill>
                <a:latin typeface="Noto Sans"/>
                <a:ea typeface="Noto Sans"/>
                <a:cs typeface="Noto Sans"/>
                <a:sym typeface="Noto Sans"/>
              </a:rPr>
              <a:t>학군·교통·금리·지역 이동 흐름을 별도 화면으로 구성해 주거 선택 관점을 확장했습니다.</a:t>
            </a:r>
            <a:endParaRPr b="0" i="0" sz="1380" u="none" cap="none" strike="noStrike">
              <a:solidFill>
                <a:schemeClr val="dk1"/>
              </a:solidFill>
              <a:latin typeface="Noto Sans"/>
              <a:ea typeface="Noto Sans"/>
              <a:cs typeface="Noto Sans"/>
              <a:sym typeface="Noto Sans"/>
            </a:endParaRPr>
          </a:p>
        </p:txBody>
      </p:sp>
      <p:sp>
        <p:nvSpPr>
          <p:cNvPr id="359" name="Google Shape;359;p12"/>
          <p:cNvSpPr/>
          <p:nvPr/>
        </p:nvSpPr>
        <p:spPr>
          <a:xfrm>
            <a:off x="8869680" y="3547872"/>
            <a:ext cx="2523744" cy="1389888"/>
          </a:xfrm>
          <a:prstGeom prst="roundRect">
            <a:avLst>
              <a:gd fmla="val 5263"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2"/>
          <p:cNvSpPr/>
          <p:nvPr/>
        </p:nvSpPr>
        <p:spPr>
          <a:xfrm>
            <a:off x="8869680" y="3547872"/>
            <a:ext cx="73152" cy="1389888"/>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2"/>
          <p:cNvSpPr/>
          <p:nvPr/>
        </p:nvSpPr>
        <p:spPr>
          <a:xfrm>
            <a:off x="9052560" y="3712464"/>
            <a:ext cx="2157984"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AI 리포트 UI</a:t>
            </a:r>
            <a:endParaRPr b="0" i="0" sz="1750" u="none" cap="none" strike="noStrike">
              <a:solidFill>
                <a:schemeClr val="dk1"/>
              </a:solidFill>
              <a:latin typeface="Noto Sans"/>
              <a:ea typeface="Noto Sans"/>
              <a:cs typeface="Noto Sans"/>
              <a:sym typeface="Noto Sans"/>
            </a:endParaRPr>
          </a:p>
        </p:txBody>
      </p:sp>
      <p:sp>
        <p:nvSpPr>
          <p:cNvPr id="362" name="Google Shape;362;p12"/>
          <p:cNvSpPr/>
          <p:nvPr/>
        </p:nvSpPr>
        <p:spPr>
          <a:xfrm>
            <a:off x="9052560" y="4114800"/>
            <a:ext cx="2157984" cy="676656"/>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380"/>
              <a:buFont typeface="Noto Sans"/>
              <a:buNone/>
            </a:pPr>
            <a:r>
              <a:rPr b="0" i="0" lang="en-US" sz="1380" u="none" cap="none" strike="noStrike">
                <a:solidFill>
                  <a:srgbClr val="64778A"/>
                </a:solidFill>
                <a:latin typeface="Noto Sans"/>
                <a:ea typeface="Noto Sans"/>
                <a:cs typeface="Noto Sans"/>
                <a:sym typeface="Noto Sans"/>
              </a:rPr>
              <a:t>지역 전망과 전략 카드를 보여주는 데모 UI이며 현재는 고정 예시 데이터 기반입니다.</a:t>
            </a:r>
            <a:endParaRPr b="0" i="0" sz="1380" u="none" cap="none" strike="noStrike">
              <a:solidFill>
                <a:schemeClr val="dk1"/>
              </a:solidFill>
              <a:latin typeface="Noto Sans"/>
              <a:ea typeface="Noto Sans"/>
              <a:cs typeface="Noto Sans"/>
              <a:sym typeface="Noto Sans"/>
            </a:endParaRPr>
          </a:p>
        </p:txBody>
      </p:sp>
      <p:sp>
        <p:nvSpPr>
          <p:cNvPr id="363" name="Google Shape;363;p12"/>
          <p:cNvSpPr/>
          <p:nvPr/>
        </p:nvSpPr>
        <p:spPr>
          <a:xfrm>
            <a:off x="777240" y="5513832"/>
            <a:ext cx="10652760" cy="530352"/>
          </a:xfrm>
          <a:prstGeom prst="roundRect">
            <a:avLst>
              <a:gd fmla="val 10345" name="adj"/>
            </a:avLst>
          </a:prstGeom>
          <a:solidFill>
            <a:srgbClr val="103354"/>
          </a:solidFill>
          <a:ln cap="flat" cmpd="sng" w="12700">
            <a:solidFill>
              <a:srgbClr val="10335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2"/>
          <p:cNvSpPr/>
          <p:nvPr/>
        </p:nvSpPr>
        <p:spPr>
          <a:xfrm>
            <a:off x="1005840" y="5623560"/>
            <a:ext cx="10195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50"/>
              <a:buFont typeface="Noto Sans"/>
              <a:buNone/>
            </a:pPr>
            <a:r>
              <a:rPr b="1" i="0" lang="en-US" sz="1650" u="none" cap="none" strike="noStrike">
                <a:solidFill>
                  <a:srgbClr val="FFFFFF"/>
                </a:solidFill>
                <a:latin typeface="Noto Sans"/>
                <a:ea typeface="Noto Sans"/>
                <a:cs typeface="Noto Sans"/>
                <a:sym typeface="Noto Sans"/>
              </a:rPr>
              <a:t>분석은 “가격 확인”을 넘어 실제 거래 전 필요한 판단 요소를 한 서비스 안에서 함께 확인하도록 확장했습니다.</a:t>
            </a:r>
            <a:endParaRPr b="0" i="0" sz="1650" u="none" cap="none" strike="noStrike">
              <a:solidFill>
                <a:schemeClr val="dk1"/>
              </a:solidFill>
              <a:latin typeface="Noto Sans"/>
              <a:ea typeface="Noto Sans"/>
              <a:cs typeface="Noto Sans"/>
              <a:sym typeface="Noto Sans"/>
            </a:endParaRPr>
          </a:p>
        </p:txBody>
      </p:sp>
      <p:sp>
        <p:nvSpPr>
          <p:cNvPr id="365" name="Google Shape;365;p12"/>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13"/>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매물 등록: 복잡한 정보를 4단계로 나눠 입력</a:t>
            </a:r>
            <a:endParaRPr b="0" i="0" sz="2700" u="none" cap="none" strike="noStrike">
              <a:solidFill>
                <a:schemeClr val="dk1"/>
              </a:solidFill>
              <a:latin typeface="Noto Sans"/>
              <a:ea typeface="Noto Sans"/>
              <a:cs typeface="Noto Sans"/>
              <a:sym typeface="Noto Sans"/>
            </a:endParaRPr>
          </a:p>
        </p:txBody>
      </p:sp>
      <p:sp>
        <p:nvSpPr>
          <p:cNvPr id="372" name="Google Shape;372;p13"/>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회원이 직접 매물 정보를 입력하고 위치·사진·서류를 확인한 뒤 등록할 수 있도록 단계형 UI를 구성했습니다.</a:t>
            </a:r>
            <a:endParaRPr b="0" i="0" sz="1450" u="none" cap="none" strike="noStrike">
              <a:solidFill>
                <a:schemeClr val="dk1"/>
              </a:solidFill>
              <a:latin typeface="Noto Sans"/>
              <a:ea typeface="Noto Sans"/>
              <a:cs typeface="Noto Sans"/>
              <a:sym typeface="Noto Sans"/>
            </a:endParaRPr>
          </a:p>
        </p:txBody>
      </p:sp>
      <p:sp>
        <p:nvSpPr>
          <p:cNvPr id="373" name="Google Shape;373;p13"/>
          <p:cNvSpPr/>
          <p:nvPr/>
        </p:nvSpPr>
        <p:spPr>
          <a:xfrm>
            <a:off x="9930384" y="804672"/>
            <a:ext cx="1755648" cy="384048"/>
          </a:xfrm>
          <a:prstGeom prst="roundRect">
            <a:avLst>
              <a:gd fmla="val 19048" name="adj"/>
            </a:avLst>
          </a:prstGeom>
          <a:solidFill>
            <a:srgbClr val="EAF9F6"/>
          </a:solidFill>
          <a:ln cap="flat" cmpd="sng" w="12700">
            <a:solidFill>
              <a:srgbClr val="BFE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3"/>
          <p:cNvSpPr/>
          <p:nvPr/>
        </p:nvSpPr>
        <p:spPr>
          <a:xfrm>
            <a:off x="10021824" y="859536"/>
            <a:ext cx="157276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7F74"/>
              </a:buClr>
              <a:buSzPts val="1050"/>
              <a:buFont typeface="Noto Sans"/>
              <a:buNone/>
            </a:pPr>
            <a:r>
              <a:rPr b="1" i="0" lang="en-US" sz="1050" u="none" cap="none" strike="noStrike">
                <a:solidFill>
                  <a:srgbClr val="187F74"/>
                </a:solidFill>
                <a:latin typeface="Noto Sans"/>
                <a:ea typeface="Noto Sans"/>
                <a:cs typeface="Noto Sans"/>
                <a:sym typeface="Noto Sans"/>
              </a:rPr>
              <a:t>PART 4 · 등록/회원/고객센터</a:t>
            </a:r>
            <a:endParaRPr b="0" i="0" sz="1050" u="none" cap="none" strike="noStrike">
              <a:solidFill>
                <a:schemeClr val="dk1"/>
              </a:solidFill>
              <a:latin typeface="Noto Sans"/>
              <a:ea typeface="Noto Sans"/>
              <a:cs typeface="Noto Sans"/>
              <a:sym typeface="Noto Sans"/>
            </a:endParaRPr>
          </a:p>
        </p:txBody>
      </p:sp>
      <p:sp>
        <p:nvSpPr>
          <p:cNvPr id="375" name="Google Shape;375;p13"/>
          <p:cNvSpPr/>
          <p:nvPr/>
        </p:nvSpPr>
        <p:spPr>
          <a:xfrm>
            <a:off x="640080" y="1847088"/>
            <a:ext cx="5212080" cy="2487168"/>
          </a:xfrm>
          <a:prstGeom prst="roundRect">
            <a:avLst>
              <a:gd fmla="val 2206"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3"/>
          <p:cNvSpPr/>
          <p:nvPr/>
        </p:nvSpPr>
        <p:spPr>
          <a:xfrm>
            <a:off x="731520" y="1938528"/>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3"/>
          <p:cNvSpPr/>
          <p:nvPr/>
        </p:nvSpPr>
        <p:spPr>
          <a:xfrm>
            <a:off x="813816" y="1993392"/>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매물 등록 시작</a:t>
            </a:r>
            <a:endParaRPr b="0" i="0" sz="1050" u="none" cap="none" strike="noStrike">
              <a:solidFill>
                <a:schemeClr val="dk1"/>
              </a:solidFill>
              <a:latin typeface="Noto Sans"/>
              <a:ea typeface="Noto Sans"/>
              <a:cs typeface="Noto Sans"/>
              <a:sym typeface="Noto Sans"/>
            </a:endParaRPr>
          </a:p>
        </p:txBody>
      </p:sp>
      <p:pic>
        <p:nvPicPr>
          <p:cNvPr descr="/mnt/data/ppt_image_extracted/10.png" id="378" name="Google Shape;378;p13"/>
          <p:cNvPicPr preferRelativeResize="0"/>
          <p:nvPr/>
        </p:nvPicPr>
        <p:blipFill rotWithShape="1">
          <a:blip r:embed="rId3">
            <a:alphaModFix/>
          </a:blip>
          <a:srcRect b="0" l="0" r="0" t="0"/>
          <a:stretch/>
        </p:blipFill>
        <p:spPr>
          <a:xfrm>
            <a:off x="694944" y="1901952"/>
            <a:ext cx="5102352" cy="2377440"/>
          </a:xfrm>
          <a:prstGeom prst="rect">
            <a:avLst/>
          </a:prstGeom>
          <a:noFill/>
          <a:ln>
            <a:noFill/>
          </a:ln>
        </p:spPr>
      </p:pic>
      <p:sp>
        <p:nvSpPr>
          <p:cNvPr id="379" name="Google Shape;379;p13"/>
          <p:cNvSpPr/>
          <p:nvPr/>
        </p:nvSpPr>
        <p:spPr>
          <a:xfrm>
            <a:off x="6144768" y="1847088"/>
            <a:ext cx="5212080" cy="2487168"/>
          </a:xfrm>
          <a:prstGeom prst="roundRect">
            <a:avLst>
              <a:gd fmla="val 2206"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3"/>
          <p:cNvSpPr/>
          <p:nvPr/>
        </p:nvSpPr>
        <p:spPr>
          <a:xfrm>
            <a:off x="6236208" y="1938528"/>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3"/>
          <p:cNvSpPr/>
          <p:nvPr/>
        </p:nvSpPr>
        <p:spPr>
          <a:xfrm>
            <a:off x="6318504" y="1993392"/>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상세 입력 / 미리보기</a:t>
            </a:r>
            <a:endParaRPr b="0" i="0" sz="1050" u="none" cap="none" strike="noStrike">
              <a:solidFill>
                <a:schemeClr val="dk1"/>
              </a:solidFill>
              <a:latin typeface="Noto Sans"/>
              <a:ea typeface="Noto Sans"/>
              <a:cs typeface="Noto Sans"/>
              <a:sym typeface="Noto Sans"/>
            </a:endParaRPr>
          </a:p>
        </p:txBody>
      </p:sp>
      <p:pic>
        <p:nvPicPr>
          <p:cNvPr descr="/mnt/data/ppt_image_extracted/11.png" id="382" name="Google Shape;382;p13"/>
          <p:cNvPicPr preferRelativeResize="0"/>
          <p:nvPr/>
        </p:nvPicPr>
        <p:blipFill rotWithShape="1">
          <a:blip r:embed="rId4">
            <a:alphaModFix/>
          </a:blip>
          <a:srcRect b="0" l="0" r="0" t="0"/>
          <a:stretch/>
        </p:blipFill>
        <p:spPr>
          <a:xfrm>
            <a:off x="6199632" y="1901952"/>
            <a:ext cx="5102352" cy="2377440"/>
          </a:xfrm>
          <a:prstGeom prst="rect">
            <a:avLst/>
          </a:prstGeom>
          <a:noFill/>
          <a:ln>
            <a:noFill/>
          </a:ln>
        </p:spPr>
      </p:pic>
      <p:sp>
        <p:nvSpPr>
          <p:cNvPr id="383" name="Google Shape;383;p13"/>
          <p:cNvSpPr/>
          <p:nvPr/>
        </p:nvSpPr>
        <p:spPr>
          <a:xfrm>
            <a:off x="841248" y="4681728"/>
            <a:ext cx="2331720" cy="1024128"/>
          </a:xfrm>
          <a:prstGeom prst="roundRect">
            <a:avLst>
              <a:gd fmla="val 5357" name="adj"/>
            </a:avLst>
          </a:prstGeom>
          <a:solidFill>
            <a:srgbClr val="EAF5FD"/>
          </a:solidFill>
          <a:ln cap="flat" cmpd="sng" w="12700">
            <a:solidFill>
              <a:srgbClr val="C4E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3"/>
          <p:cNvSpPr/>
          <p:nvPr/>
        </p:nvSpPr>
        <p:spPr>
          <a:xfrm>
            <a:off x="987552" y="4928616"/>
            <a:ext cx="34747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98E8"/>
              </a:buClr>
              <a:buSzPts val="1500"/>
              <a:buFont typeface="Noto Sans"/>
              <a:buNone/>
            </a:pPr>
            <a:r>
              <a:rPr b="1" i="0" lang="en-US" sz="1500" u="none" cap="none" strike="noStrike">
                <a:solidFill>
                  <a:srgbClr val="2298E8"/>
                </a:solidFill>
                <a:latin typeface="Noto Sans"/>
                <a:ea typeface="Noto Sans"/>
                <a:cs typeface="Noto Sans"/>
                <a:sym typeface="Noto Sans"/>
              </a:rPr>
              <a:t>1</a:t>
            </a:r>
            <a:endParaRPr b="0" i="0" sz="1500" u="none" cap="none" strike="noStrike">
              <a:solidFill>
                <a:schemeClr val="dk1"/>
              </a:solidFill>
              <a:latin typeface="Noto Sans"/>
              <a:ea typeface="Noto Sans"/>
              <a:cs typeface="Noto Sans"/>
              <a:sym typeface="Noto Sans"/>
            </a:endParaRPr>
          </a:p>
        </p:txBody>
      </p:sp>
      <p:sp>
        <p:nvSpPr>
          <p:cNvPr id="385" name="Google Shape;385;p13"/>
          <p:cNvSpPr/>
          <p:nvPr/>
        </p:nvSpPr>
        <p:spPr>
          <a:xfrm>
            <a:off x="1371600" y="4864608"/>
            <a:ext cx="160020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00"/>
              <a:buFont typeface="Noto Sans"/>
              <a:buNone/>
            </a:pPr>
            <a:r>
              <a:rPr b="1" i="0" lang="en-US" sz="1700" u="none" cap="none" strike="noStrike">
                <a:solidFill>
                  <a:srgbClr val="17324D"/>
                </a:solidFill>
                <a:latin typeface="Noto Sans"/>
                <a:ea typeface="Noto Sans"/>
                <a:cs typeface="Noto Sans"/>
                <a:sym typeface="Noto Sans"/>
              </a:rPr>
              <a:t>기본정보</a:t>
            </a:r>
            <a:endParaRPr b="0" i="0" sz="1700" u="none" cap="none" strike="noStrike">
              <a:solidFill>
                <a:schemeClr val="dk1"/>
              </a:solidFill>
              <a:latin typeface="Noto Sans"/>
              <a:ea typeface="Noto Sans"/>
              <a:cs typeface="Noto Sans"/>
              <a:sym typeface="Noto Sans"/>
            </a:endParaRPr>
          </a:p>
        </p:txBody>
      </p:sp>
      <p:sp>
        <p:nvSpPr>
          <p:cNvPr id="386" name="Google Shape;386;p13"/>
          <p:cNvSpPr/>
          <p:nvPr/>
        </p:nvSpPr>
        <p:spPr>
          <a:xfrm>
            <a:off x="3584448" y="4681728"/>
            <a:ext cx="2331720" cy="1024128"/>
          </a:xfrm>
          <a:prstGeom prst="roundRect">
            <a:avLst>
              <a:gd fmla="val 5357" name="adj"/>
            </a:avLst>
          </a:prstGeom>
          <a:solidFill>
            <a:srgbClr val="EAF9F6"/>
          </a:solidFill>
          <a:ln cap="flat" cmpd="sng" w="12700">
            <a:solidFill>
              <a:srgbClr val="BFE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3"/>
          <p:cNvSpPr/>
          <p:nvPr/>
        </p:nvSpPr>
        <p:spPr>
          <a:xfrm>
            <a:off x="3730752" y="4928616"/>
            <a:ext cx="34747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B5A5"/>
              </a:buClr>
              <a:buSzPts val="1500"/>
              <a:buFont typeface="Noto Sans"/>
              <a:buNone/>
            </a:pPr>
            <a:r>
              <a:rPr b="1" i="0" lang="en-US" sz="1500" u="none" cap="none" strike="noStrike">
                <a:solidFill>
                  <a:srgbClr val="20B5A5"/>
                </a:solidFill>
                <a:latin typeface="Noto Sans"/>
                <a:ea typeface="Noto Sans"/>
                <a:cs typeface="Noto Sans"/>
                <a:sym typeface="Noto Sans"/>
              </a:rPr>
              <a:t>2</a:t>
            </a:r>
            <a:endParaRPr b="0" i="0" sz="1500" u="none" cap="none" strike="noStrike">
              <a:solidFill>
                <a:schemeClr val="dk1"/>
              </a:solidFill>
              <a:latin typeface="Noto Sans"/>
              <a:ea typeface="Noto Sans"/>
              <a:cs typeface="Noto Sans"/>
              <a:sym typeface="Noto Sans"/>
            </a:endParaRPr>
          </a:p>
        </p:txBody>
      </p:sp>
      <p:sp>
        <p:nvSpPr>
          <p:cNvPr id="388" name="Google Shape;388;p13"/>
          <p:cNvSpPr/>
          <p:nvPr/>
        </p:nvSpPr>
        <p:spPr>
          <a:xfrm>
            <a:off x="4114800" y="4864608"/>
            <a:ext cx="160020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00"/>
              <a:buFont typeface="Noto Sans"/>
              <a:buNone/>
            </a:pPr>
            <a:r>
              <a:rPr b="1" i="0" lang="en-US" sz="1700" u="none" cap="none" strike="noStrike">
                <a:solidFill>
                  <a:srgbClr val="17324D"/>
                </a:solidFill>
                <a:latin typeface="Noto Sans"/>
                <a:ea typeface="Noto Sans"/>
                <a:cs typeface="Noto Sans"/>
                <a:sym typeface="Noto Sans"/>
              </a:rPr>
              <a:t>상세정보</a:t>
            </a:r>
            <a:endParaRPr b="0" i="0" sz="1700" u="none" cap="none" strike="noStrike">
              <a:solidFill>
                <a:schemeClr val="dk1"/>
              </a:solidFill>
              <a:latin typeface="Noto Sans"/>
              <a:ea typeface="Noto Sans"/>
              <a:cs typeface="Noto Sans"/>
              <a:sym typeface="Noto Sans"/>
            </a:endParaRPr>
          </a:p>
        </p:txBody>
      </p:sp>
      <p:sp>
        <p:nvSpPr>
          <p:cNvPr id="389" name="Google Shape;389;p13"/>
          <p:cNvSpPr/>
          <p:nvPr/>
        </p:nvSpPr>
        <p:spPr>
          <a:xfrm>
            <a:off x="6327648" y="4681728"/>
            <a:ext cx="2331720" cy="1024128"/>
          </a:xfrm>
          <a:prstGeom prst="roundRect">
            <a:avLst>
              <a:gd fmla="val 5357" name="adj"/>
            </a:avLst>
          </a:prstGeom>
          <a:solidFill>
            <a:srgbClr val="EAF5FD"/>
          </a:solidFill>
          <a:ln cap="flat" cmpd="sng" w="12700">
            <a:solidFill>
              <a:srgbClr val="C4E1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3"/>
          <p:cNvSpPr/>
          <p:nvPr/>
        </p:nvSpPr>
        <p:spPr>
          <a:xfrm>
            <a:off x="6473952" y="4928616"/>
            <a:ext cx="34747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98E8"/>
              </a:buClr>
              <a:buSzPts val="1500"/>
              <a:buFont typeface="Noto Sans"/>
              <a:buNone/>
            </a:pPr>
            <a:r>
              <a:rPr b="1" i="0" lang="en-US" sz="1500" u="none" cap="none" strike="noStrike">
                <a:solidFill>
                  <a:srgbClr val="2298E8"/>
                </a:solidFill>
                <a:latin typeface="Noto Sans"/>
                <a:ea typeface="Noto Sans"/>
                <a:cs typeface="Noto Sans"/>
                <a:sym typeface="Noto Sans"/>
              </a:rPr>
              <a:t>3</a:t>
            </a:r>
            <a:endParaRPr b="0" i="0" sz="1500" u="none" cap="none" strike="noStrike">
              <a:solidFill>
                <a:schemeClr val="dk1"/>
              </a:solidFill>
              <a:latin typeface="Noto Sans"/>
              <a:ea typeface="Noto Sans"/>
              <a:cs typeface="Noto Sans"/>
              <a:sym typeface="Noto Sans"/>
            </a:endParaRPr>
          </a:p>
        </p:txBody>
      </p:sp>
      <p:sp>
        <p:nvSpPr>
          <p:cNvPr id="391" name="Google Shape;391;p13"/>
          <p:cNvSpPr/>
          <p:nvPr/>
        </p:nvSpPr>
        <p:spPr>
          <a:xfrm>
            <a:off x="6858000" y="4864608"/>
            <a:ext cx="160020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00"/>
              <a:buFont typeface="Noto Sans"/>
              <a:buNone/>
            </a:pPr>
            <a:r>
              <a:rPr b="1" i="0" lang="en-US" sz="1700" u="none" cap="none" strike="noStrike">
                <a:solidFill>
                  <a:srgbClr val="17324D"/>
                </a:solidFill>
                <a:latin typeface="Noto Sans"/>
                <a:ea typeface="Noto Sans"/>
                <a:cs typeface="Noto Sans"/>
                <a:sym typeface="Noto Sans"/>
              </a:rPr>
              <a:t>사진</a:t>
            </a:r>
            <a:endParaRPr b="0" i="0" sz="1700" u="none" cap="none" strike="noStrike">
              <a:solidFill>
                <a:schemeClr val="dk1"/>
              </a:solidFill>
              <a:latin typeface="Noto Sans"/>
              <a:ea typeface="Noto Sans"/>
              <a:cs typeface="Noto Sans"/>
              <a:sym typeface="Noto Sans"/>
            </a:endParaRPr>
          </a:p>
        </p:txBody>
      </p:sp>
      <p:sp>
        <p:nvSpPr>
          <p:cNvPr id="392" name="Google Shape;392;p13"/>
          <p:cNvSpPr/>
          <p:nvPr/>
        </p:nvSpPr>
        <p:spPr>
          <a:xfrm>
            <a:off x="9070848" y="4681728"/>
            <a:ext cx="2331720" cy="1024128"/>
          </a:xfrm>
          <a:prstGeom prst="roundRect">
            <a:avLst>
              <a:gd fmla="val 5357" name="adj"/>
            </a:avLst>
          </a:prstGeom>
          <a:solidFill>
            <a:srgbClr val="EAF9F6"/>
          </a:solidFill>
          <a:ln cap="flat" cmpd="sng" w="12700">
            <a:solidFill>
              <a:srgbClr val="BFE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3"/>
          <p:cNvSpPr/>
          <p:nvPr/>
        </p:nvSpPr>
        <p:spPr>
          <a:xfrm>
            <a:off x="9217152" y="4928616"/>
            <a:ext cx="347472"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B5A5"/>
              </a:buClr>
              <a:buSzPts val="1500"/>
              <a:buFont typeface="Noto Sans"/>
              <a:buNone/>
            </a:pPr>
            <a:r>
              <a:rPr b="1" i="0" lang="en-US" sz="1500" u="none" cap="none" strike="noStrike">
                <a:solidFill>
                  <a:srgbClr val="20B5A5"/>
                </a:solidFill>
                <a:latin typeface="Noto Sans"/>
                <a:ea typeface="Noto Sans"/>
                <a:cs typeface="Noto Sans"/>
                <a:sym typeface="Noto Sans"/>
              </a:rPr>
              <a:t>4</a:t>
            </a:r>
            <a:endParaRPr b="0" i="0" sz="1500" u="none" cap="none" strike="noStrike">
              <a:solidFill>
                <a:schemeClr val="dk1"/>
              </a:solidFill>
              <a:latin typeface="Noto Sans"/>
              <a:ea typeface="Noto Sans"/>
              <a:cs typeface="Noto Sans"/>
              <a:sym typeface="Noto Sans"/>
            </a:endParaRPr>
          </a:p>
        </p:txBody>
      </p:sp>
      <p:sp>
        <p:nvSpPr>
          <p:cNvPr id="394" name="Google Shape;394;p13"/>
          <p:cNvSpPr/>
          <p:nvPr/>
        </p:nvSpPr>
        <p:spPr>
          <a:xfrm>
            <a:off x="9601200" y="4864608"/>
            <a:ext cx="160020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00"/>
              <a:buFont typeface="Noto Sans"/>
              <a:buNone/>
            </a:pPr>
            <a:r>
              <a:rPr b="1" i="0" lang="en-US" sz="1700" u="none" cap="none" strike="noStrike">
                <a:solidFill>
                  <a:srgbClr val="17324D"/>
                </a:solidFill>
                <a:latin typeface="Noto Sans"/>
                <a:ea typeface="Noto Sans"/>
                <a:cs typeface="Noto Sans"/>
                <a:sym typeface="Noto Sans"/>
              </a:rPr>
              <a:t>확인·등록</a:t>
            </a:r>
            <a:endParaRPr b="0" i="0" sz="1700" u="none" cap="none" strike="noStrike">
              <a:solidFill>
                <a:schemeClr val="dk1"/>
              </a:solidFill>
              <a:latin typeface="Noto Sans"/>
              <a:ea typeface="Noto Sans"/>
              <a:cs typeface="Noto Sans"/>
              <a:sym typeface="Noto Sans"/>
            </a:endParaRPr>
          </a:p>
        </p:txBody>
      </p:sp>
      <p:sp>
        <p:nvSpPr>
          <p:cNvPr id="395" name="Google Shape;395;p13"/>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14"/>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등록 이후: 위치 확인·파일 저장·심사까지 연결</a:t>
            </a:r>
            <a:endParaRPr b="0" i="0" sz="2700" u="none" cap="none" strike="noStrike">
              <a:solidFill>
                <a:schemeClr val="dk1"/>
              </a:solidFill>
              <a:latin typeface="Noto Sans"/>
              <a:ea typeface="Noto Sans"/>
              <a:cs typeface="Noto Sans"/>
              <a:sym typeface="Noto Sans"/>
            </a:endParaRPr>
          </a:p>
        </p:txBody>
      </p:sp>
      <p:sp>
        <p:nvSpPr>
          <p:cNvPr id="402" name="Google Shape;402;p14"/>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등록 폼에서 끝나지 않고 위치 확인, 파일 저장, 내 매물 관리와 관리자 심사 흐름까지 Backend로 연결했습니다.</a:t>
            </a:r>
            <a:endParaRPr b="0" i="0" sz="1450" u="none" cap="none" strike="noStrike">
              <a:solidFill>
                <a:schemeClr val="dk1"/>
              </a:solidFill>
              <a:latin typeface="Noto Sans"/>
              <a:ea typeface="Noto Sans"/>
              <a:cs typeface="Noto Sans"/>
              <a:sym typeface="Noto Sans"/>
            </a:endParaRPr>
          </a:p>
        </p:txBody>
      </p:sp>
      <p:sp>
        <p:nvSpPr>
          <p:cNvPr id="403" name="Google Shape;403;p14"/>
          <p:cNvSpPr/>
          <p:nvPr/>
        </p:nvSpPr>
        <p:spPr>
          <a:xfrm>
            <a:off x="9930384" y="804672"/>
            <a:ext cx="1755648" cy="384048"/>
          </a:xfrm>
          <a:prstGeom prst="roundRect">
            <a:avLst>
              <a:gd fmla="val 19048" name="adj"/>
            </a:avLst>
          </a:prstGeom>
          <a:solidFill>
            <a:srgbClr val="EAF9F6"/>
          </a:solidFill>
          <a:ln cap="flat" cmpd="sng" w="12700">
            <a:solidFill>
              <a:srgbClr val="BFE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4"/>
          <p:cNvSpPr/>
          <p:nvPr/>
        </p:nvSpPr>
        <p:spPr>
          <a:xfrm>
            <a:off x="10021824" y="859536"/>
            <a:ext cx="157276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7F74"/>
              </a:buClr>
              <a:buSzPts val="1050"/>
              <a:buFont typeface="Noto Sans"/>
              <a:buNone/>
            </a:pPr>
            <a:r>
              <a:rPr b="1" i="0" lang="en-US" sz="1050" u="none" cap="none" strike="noStrike">
                <a:solidFill>
                  <a:srgbClr val="187F74"/>
                </a:solidFill>
                <a:latin typeface="Noto Sans"/>
                <a:ea typeface="Noto Sans"/>
                <a:cs typeface="Noto Sans"/>
                <a:sym typeface="Noto Sans"/>
              </a:rPr>
              <a:t>PART 4 · 등록/회원/고객센터</a:t>
            </a:r>
            <a:endParaRPr b="0" i="0" sz="1050" u="none" cap="none" strike="noStrike">
              <a:solidFill>
                <a:schemeClr val="dk1"/>
              </a:solidFill>
              <a:latin typeface="Noto Sans"/>
              <a:ea typeface="Noto Sans"/>
              <a:cs typeface="Noto Sans"/>
              <a:sym typeface="Noto Sans"/>
            </a:endParaRPr>
          </a:p>
        </p:txBody>
      </p:sp>
      <p:sp>
        <p:nvSpPr>
          <p:cNvPr id="405" name="Google Shape;405;p14"/>
          <p:cNvSpPr/>
          <p:nvPr/>
        </p:nvSpPr>
        <p:spPr>
          <a:xfrm>
            <a:off x="713232" y="1810512"/>
            <a:ext cx="10808208" cy="841248"/>
          </a:xfrm>
          <a:prstGeom prst="roundRect">
            <a:avLst>
              <a:gd fmla="val 6522" name="adj"/>
            </a:avLst>
          </a:prstGeom>
          <a:solidFill>
            <a:srgbClr val="FFFFFF"/>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4"/>
          <p:cNvSpPr/>
          <p:nvPr/>
        </p:nvSpPr>
        <p:spPr>
          <a:xfrm>
            <a:off x="859536" y="1993392"/>
            <a:ext cx="457200" cy="457200"/>
          </a:xfrm>
          <a:prstGeom prst="ellipse">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4"/>
          <p:cNvSpPr/>
          <p:nvPr/>
        </p:nvSpPr>
        <p:spPr>
          <a:xfrm>
            <a:off x="859536" y="2098548"/>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01</a:t>
            </a:r>
            <a:endParaRPr b="0" i="0" sz="1050" u="none" cap="none" strike="noStrike">
              <a:solidFill>
                <a:schemeClr val="dk1"/>
              </a:solidFill>
              <a:latin typeface="Noto Sans"/>
              <a:ea typeface="Noto Sans"/>
              <a:cs typeface="Noto Sans"/>
              <a:sym typeface="Noto Sans"/>
            </a:endParaRPr>
          </a:p>
        </p:txBody>
      </p:sp>
      <p:sp>
        <p:nvSpPr>
          <p:cNvPr id="408" name="Google Shape;408;p14"/>
          <p:cNvSpPr/>
          <p:nvPr/>
        </p:nvSpPr>
        <p:spPr>
          <a:xfrm>
            <a:off x="1444752" y="1965960"/>
            <a:ext cx="99303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550"/>
              <a:buFont typeface="Noto Sans"/>
              <a:buNone/>
            </a:pPr>
            <a:r>
              <a:rPr b="1" i="0" lang="en-US" sz="1550" u="none" cap="none" strike="noStrike">
                <a:solidFill>
                  <a:srgbClr val="17324D"/>
                </a:solidFill>
                <a:latin typeface="Noto Sans"/>
                <a:ea typeface="Noto Sans"/>
                <a:cs typeface="Noto Sans"/>
                <a:sym typeface="Noto Sans"/>
              </a:rPr>
              <a:t>주소·좌표 확인</a:t>
            </a:r>
            <a:endParaRPr b="0" i="0" sz="1550" u="none" cap="none" strike="noStrike">
              <a:solidFill>
                <a:schemeClr val="dk1"/>
              </a:solidFill>
              <a:latin typeface="Noto Sans"/>
              <a:ea typeface="Noto Sans"/>
              <a:cs typeface="Noto Sans"/>
              <a:sym typeface="Noto Sans"/>
            </a:endParaRPr>
          </a:p>
        </p:txBody>
      </p:sp>
      <p:sp>
        <p:nvSpPr>
          <p:cNvPr id="409" name="Google Shape;409;p14"/>
          <p:cNvSpPr/>
          <p:nvPr/>
        </p:nvSpPr>
        <p:spPr>
          <a:xfrm>
            <a:off x="1444752" y="2249424"/>
            <a:ext cx="9930384"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4778A"/>
              </a:buClr>
              <a:buSzPts val="1250"/>
              <a:buFont typeface="Noto Sans"/>
              <a:buNone/>
            </a:pPr>
            <a:r>
              <a:rPr b="0" i="0" lang="en-US" sz="1250" u="none" cap="none" strike="noStrike">
                <a:solidFill>
                  <a:srgbClr val="64778A"/>
                </a:solidFill>
                <a:latin typeface="Noto Sans"/>
                <a:ea typeface="Noto Sans"/>
                <a:cs typeface="Noto Sans"/>
                <a:sym typeface="Noto Sans"/>
              </a:rPr>
              <a:t>Kakao Geocoder / Places로 주소를 좌표로 변환</a:t>
            </a:r>
            <a:endParaRPr b="0" i="0" sz="1250" u="none" cap="none" strike="noStrike">
              <a:solidFill>
                <a:schemeClr val="dk1"/>
              </a:solidFill>
              <a:latin typeface="Noto Sans"/>
              <a:ea typeface="Noto Sans"/>
              <a:cs typeface="Noto Sans"/>
              <a:sym typeface="Noto Sans"/>
            </a:endParaRPr>
          </a:p>
        </p:txBody>
      </p:sp>
      <p:sp>
        <p:nvSpPr>
          <p:cNvPr id="410" name="Google Shape;410;p14"/>
          <p:cNvSpPr/>
          <p:nvPr/>
        </p:nvSpPr>
        <p:spPr>
          <a:xfrm>
            <a:off x="713232" y="2688336"/>
            <a:ext cx="10808208" cy="841248"/>
          </a:xfrm>
          <a:prstGeom prst="roundRect">
            <a:avLst>
              <a:gd fmla="val 6522" name="adj"/>
            </a:avLst>
          </a:prstGeom>
          <a:solidFill>
            <a:srgbClr val="FFFFFF"/>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4"/>
          <p:cNvSpPr/>
          <p:nvPr/>
        </p:nvSpPr>
        <p:spPr>
          <a:xfrm>
            <a:off x="859536" y="2871216"/>
            <a:ext cx="457200" cy="457200"/>
          </a:xfrm>
          <a:prstGeom prst="ellipse">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4"/>
          <p:cNvSpPr/>
          <p:nvPr/>
        </p:nvSpPr>
        <p:spPr>
          <a:xfrm>
            <a:off x="859536" y="2976372"/>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02</a:t>
            </a:r>
            <a:endParaRPr b="0" i="0" sz="1050" u="none" cap="none" strike="noStrike">
              <a:solidFill>
                <a:schemeClr val="dk1"/>
              </a:solidFill>
              <a:latin typeface="Noto Sans"/>
              <a:ea typeface="Noto Sans"/>
              <a:cs typeface="Noto Sans"/>
              <a:sym typeface="Noto Sans"/>
            </a:endParaRPr>
          </a:p>
        </p:txBody>
      </p:sp>
      <p:sp>
        <p:nvSpPr>
          <p:cNvPr id="413" name="Google Shape;413;p14"/>
          <p:cNvSpPr/>
          <p:nvPr/>
        </p:nvSpPr>
        <p:spPr>
          <a:xfrm>
            <a:off x="1444752" y="2843784"/>
            <a:ext cx="99303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550"/>
              <a:buFont typeface="Noto Sans"/>
              <a:buNone/>
            </a:pPr>
            <a:r>
              <a:rPr b="1" i="0" lang="en-US" sz="1550" u="none" cap="none" strike="noStrike">
                <a:solidFill>
                  <a:srgbClr val="17324D"/>
                </a:solidFill>
                <a:latin typeface="Noto Sans"/>
                <a:ea typeface="Noto Sans"/>
                <a:cs typeface="Noto Sans"/>
                <a:sym typeface="Noto Sans"/>
              </a:rPr>
              <a:t>주변 정보 매칭</a:t>
            </a:r>
            <a:endParaRPr b="0" i="0" sz="1550" u="none" cap="none" strike="noStrike">
              <a:solidFill>
                <a:schemeClr val="dk1"/>
              </a:solidFill>
              <a:latin typeface="Noto Sans"/>
              <a:ea typeface="Noto Sans"/>
              <a:cs typeface="Noto Sans"/>
              <a:sym typeface="Noto Sans"/>
            </a:endParaRPr>
          </a:p>
        </p:txBody>
      </p:sp>
      <p:sp>
        <p:nvSpPr>
          <p:cNvPr id="414" name="Google Shape;414;p14"/>
          <p:cNvSpPr/>
          <p:nvPr/>
        </p:nvSpPr>
        <p:spPr>
          <a:xfrm>
            <a:off x="1444752" y="3127248"/>
            <a:ext cx="9930384"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4778A"/>
              </a:buClr>
              <a:buSzPts val="1250"/>
              <a:buFont typeface="Noto Sans"/>
              <a:buNone/>
            </a:pPr>
            <a:r>
              <a:rPr b="0" i="0" lang="en-US" sz="1250" u="none" cap="none" strike="noStrike">
                <a:solidFill>
                  <a:srgbClr val="64778A"/>
                </a:solidFill>
                <a:latin typeface="Noto Sans"/>
                <a:ea typeface="Noto Sans"/>
                <a:cs typeface="Noto Sans"/>
                <a:sym typeface="Noto Sans"/>
              </a:rPr>
              <a:t>등록 위치 기준으로 지하철·버스·학군 정보를 자동 매칭</a:t>
            </a:r>
            <a:endParaRPr b="0" i="0" sz="1250" u="none" cap="none" strike="noStrike">
              <a:solidFill>
                <a:schemeClr val="dk1"/>
              </a:solidFill>
              <a:latin typeface="Noto Sans"/>
              <a:ea typeface="Noto Sans"/>
              <a:cs typeface="Noto Sans"/>
              <a:sym typeface="Noto Sans"/>
            </a:endParaRPr>
          </a:p>
        </p:txBody>
      </p:sp>
      <p:sp>
        <p:nvSpPr>
          <p:cNvPr id="415" name="Google Shape;415;p14"/>
          <p:cNvSpPr/>
          <p:nvPr/>
        </p:nvSpPr>
        <p:spPr>
          <a:xfrm>
            <a:off x="713232" y="3566160"/>
            <a:ext cx="10808208" cy="841248"/>
          </a:xfrm>
          <a:prstGeom prst="roundRect">
            <a:avLst>
              <a:gd fmla="val 6522" name="adj"/>
            </a:avLst>
          </a:prstGeom>
          <a:solidFill>
            <a:srgbClr val="FFFFFF"/>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4"/>
          <p:cNvSpPr/>
          <p:nvPr/>
        </p:nvSpPr>
        <p:spPr>
          <a:xfrm>
            <a:off x="859536" y="3749040"/>
            <a:ext cx="457200" cy="457200"/>
          </a:xfrm>
          <a:prstGeom prst="ellipse">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4"/>
          <p:cNvSpPr/>
          <p:nvPr/>
        </p:nvSpPr>
        <p:spPr>
          <a:xfrm>
            <a:off x="859536" y="3854196"/>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03</a:t>
            </a:r>
            <a:endParaRPr b="0" i="0" sz="1050" u="none" cap="none" strike="noStrike">
              <a:solidFill>
                <a:schemeClr val="dk1"/>
              </a:solidFill>
              <a:latin typeface="Noto Sans"/>
              <a:ea typeface="Noto Sans"/>
              <a:cs typeface="Noto Sans"/>
              <a:sym typeface="Noto Sans"/>
            </a:endParaRPr>
          </a:p>
        </p:txBody>
      </p:sp>
      <p:sp>
        <p:nvSpPr>
          <p:cNvPr id="418" name="Google Shape;418;p14"/>
          <p:cNvSpPr/>
          <p:nvPr/>
        </p:nvSpPr>
        <p:spPr>
          <a:xfrm>
            <a:off x="1444752" y="3721608"/>
            <a:ext cx="99303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550"/>
              <a:buFont typeface="Noto Sans"/>
              <a:buNone/>
            </a:pPr>
            <a:r>
              <a:rPr b="1" i="0" lang="en-US" sz="1550" u="none" cap="none" strike="noStrike">
                <a:solidFill>
                  <a:srgbClr val="17324D"/>
                </a:solidFill>
                <a:latin typeface="Noto Sans"/>
                <a:ea typeface="Noto Sans"/>
                <a:cs typeface="Noto Sans"/>
                <a:sym typeface="Noto Sans"/>
              </a:rPr>
              <a:t>사진·서류 저장</a:t>
            </a:r>
            <a:endParaRPr b="0" i="0" sz="1550" u="none" cap="none" strike="noStrike">
              <a:solidFill>
                <a:schemeClr val="dk1"/>
              </a:solidFill>
              <a:latin typeface="Noto Sans"/>
              <a:ea typeface="Noto Sans"/>
              <a:cs typeface="Noto Sans"/>
              <a:sym typeface="Noto Sans"/>
            </a:endParaRPr>
          </a:p>
        </p:txBody>
      </p:sp>
      <p:sp>
        <p:nvSpPr>
          <p:cNvPr id="419" name="Google Shape;419;p14"/>
          <p:cNvSpPr/>
          <p:nvPr/>
        </p:nvSpPr>
        <p:spPr>
          <a:xfrm>
            <a:off x="1444752" y="4005072"/>
            <a:ext cx="9930384"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4778A"/>
              </a:buClr>
              <a:buSzPts val="1250"/>
              <a:buFont typeface="Noto Sans"/>
              <a:buNone/>
            </a:pPr>
            <a:r>
              <a:rPr b="0" i="0" lang="en-US" sz="1250" u="none" cap="none" strike="noStrike">
                <a:solidFill>
                  <a:srgbClr val="64778A"/>
                </a:solidFill>
                <a:latin typeface="Noto Sans"/>
                <a:ea typeface="Noto Sans"/>
                <a:cs typeface="Noto Sans"/>
                <a:sym typeface="Noto Sans"/>
              </a:rPr>
              <a:t>사진 최대 10장과 서류를 Supabase Storage에 저장</a:t>
            </a:r>
            <a:endParaRPr b="0" i="0" sz="1250" u="none" cap="none" strike="noStrike">
              <a:solidFill>
                <a:schemeClr val="dk1"/>
              </a:solidFill>
              <a:latin typeface="Noto Sans"/>
              <a:ea typeface="Noto Sans"/>
              <a:cs typeface="Noto Sans"/>
              <a:sym typeface="Noto Sans"/>
            </a:endParaRPr>
          </a:p>
        </p:txBody>
      </p:sp>
      <p:sp>
        <p:nvSpPr>
          <p:cNvPr id="420" name="Google Shape;420;p14"/>
          <p:cNvSpPr/>
          <p:nvPr/>
        </p:nvSpPr>
        <p:spPr>
          <a:xfrm>
            <a:off x="713232" y="4443984"/>
            <a:ext cx="10808208" cy="841248"/>
          </a:xfrm>
          <a:prstGeom prst="roundRect">
            <a:avLst>
              <a:gd fmla="val 6522" name="adj"/>
            </a:avLst>
          </a:prstGeom>
          <a:solidFill>
            <a:srgbClr val="FFFFFF"/>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4"/>
          <p:cNvSpPr/>
          <p:nvPr/>
        </p:nvSpPr>
        <p:spPr>
          <a:xfrm>
            <a:off x="859536" y="4626864"/>
            <a:ext cx="457200" cy="457200"/>
          </a:xfrm>
          <a:prstGeom prst="ellipse">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4"/>
          <p:cNvSpPr/>
          <p:nvPr/>
        </p:nvSpPr>
        <p:spPr>
          <a:xfrm>
            <a:off x="859536" y="4732020"/>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04</a:t>
            </a:r>
            <a:endParaRPr b="0" i="0" sz="1050" u="none" cap="none" strike="noStrike">
              <a:solidFill>
                <a:schemeClr val="dk1"/>
              </a:solidFill>
              <a:latin typeface="Noto Sans"/>
              <a:ea typeface="Noto Sans"/>
              <a:cs typeface="Noto Sans"/>
              <a:sym typeface="Noto Sans"/>
            </a:endParaRPr>
          </a:p>
        </p:txBody>
      </p:sp>
      <p:sp>
        <p:nvSpPr>
          <p:cNvPr id="423" name="Google Shape;423;p14"/>
          <p:cNvSpPr/>
          <p:nvPr/>
        </p:nvSpPr>
        <p:spPr>
          <a:xfrm>
            <a:off x="1444752" y="4599432"/>
            <a:ext cx="99303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550"/>
              <a:buFont typeface="Noto Sans"/>
              <a:buNone/>
            </a:pPr>
            <a:r>
              <a:rPr b="1" i="0" lang="en-US" sz="1550" u="none" cap="none" strike="noStrike">
                <a:solidFill>
                  <a:srgbClr val="17324D"/>
                </a:solidFill>
                <a:latin typeface="Noto Sans"/>
                <a:ea typeface="Noto Sans"/>
                <a:cs typeface="Noto Sans"/>
                <a:sym typeface="Noto Sans"/>
              </a:rPr>
              <a:t>PENDING 등록</a:t>
            </a:r>
            <a:endParaRPr b="0" i="0" sz="1550" u="none" cap="none" strike="noStrike">
              <a:solidFill>
                <a:schemeClr val="dk1"/>
              </a:solidFill>
              <a:latin typeface="Noto Sans"/>
              <a:ea typeface="Noto Sans"/>
              <a:cs typeface="Noto Sans"/>
              <a:sym typeface="Noto Sans"/>
            </a:endParaRPr>
          </a:p>
        </p:txBody>
      </p:sp>
      <p:sp>
        <p:nvSpPr>
          <p:cNvPr id="424" name="Google Shape;424;p14"/>
          <p:cNvSpPr/>
          <p:nvPr/>
        </p:nvSpPr>
        <p:spPr>
          <a:xfrm>
            <a:off x="1444752" y="4882896"/>
            <a:ext cx="9930384"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4778A"/>
              </a:buClr>
              <a:buSzPts val="1250"/>
              <a:buFont typeface="Noto Sans"/>
              <a:buNone/>
            </a:pPr>
            <a:r>
              <a:rPr b="0" i="0" lang="en-US" sz="1250" u="none" cap="none" strike="noStrike">
                <a:solidFill>
                  <a:srgbClr val="64778A"/>
                </a:solidFill>
                <a:latin typeface="Noto Sans"/>
                <a:ea typeface="Noto Sans"/>
                <a:cs typeface="Noto Sans"/>
                <a:sym typeface="Noto Sans"/>
              </a:rPr>
              <a:t>member_property에 대기 상태로 저장하고 내 매물에서 관리</a:t>
            </a:r>
            <a:endParaRPr b="0" i="0" sz="1250" u="none" cap="none" strike="noStrike">
              <a:solidFill>
                <a:schemeClr val="dk1"/>
              </a:solidFill>
              <a:latin typeface="Noto Sans"/>
              <a:ea typeface="Noto Sans"/>
              <a:cs typeface="Noto Sans"/>
              <a:sym typeface="Noto Sans"/>
            </a:endParaRPr>
          </a:p>
        </p:txBody>
      </p:sp>
      <p:sp>
        <p:nvSpPr>
          <p:cNvPr id="425" name="Google Shape;425;p14"/>
          <p:cNvSpPr/>
          <p:nvPr/>
        </p:nvSpPr>
        <p:spPr>
          <a:xfrm>
            <a:off x="713232" y="5321808"/>
            <a:ext cx="10808208" cy="841248"/>
          </a:xfrm>
          <a:prstGeom prst="roundRect">
            <a:avLst>
              <a:gd fmla="val 6522" name="adj"/>
            </a:avLst>
          </a:prstGeom>
          <a:solidFill>
            <a:srgbClr val="FFFFFF"/>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4"/>
          <p:cNvSpPr/>
          <p:nvPr/>
        </p:nvSpPr>
        <p:spPr>
          <a:xfrm>
            <a:off x="859536" y="5504688"/>
            <a:ext cx="457200" cy="457200"/>
          </a:xfrm>
          <a:prstGeom prst="ellipse">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4"/>
          <p:cNvSpPr/>
          <p:nvPr/>
        </p:nvSpPr>
        <p:spPr>
          <a:xfrm>
            <a:off x="859536" y="5609844"/>
            <a:ext cx="457200"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05</a:t>
            </a:r>
            <a:endParaRPr b="0" i="0" sz="1050" u="none" cap="none" strike="noStrike">
              <a:solidFill>
                <a:schemeClr val="dk1"/>
              </a:solidFill>
              <a:latin typeface="Noto Sans"/>
              <a:ea typeface="Noto Sans"/>
              <a:cs typeface="Noto Sans"/>
              <a:sym typeface="Noto Sans"/>
            </a:endParaRPr>
          </a:p>
        </p:txBody>
      </p:sp>
      <p:sp>
        <p:nvSpPr>
          <p:cNvPr id="428" name="Google Shape;428;p14"/>
          <p:cNvSpPr/>
          <p:nvPr/>
        </p:nvSpPr>
        <p:spPr>
          <a:xfrm>
            <a:off x="1444752" y="5477256"/>
            <a:ext cx="9930384"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550"/>
              <a:buFont typeface="Noto Sans"/>
              <a:buNone/>
            </a:pPr>
            <a:r>
              <a:rPr b="1" i="0" lang="en-US" sz="1550" u="none" cap="none" strike="noStrike">
                <a:solidFill>
                  <a:srgbClr val="17324D"/>
                </a:solidFill>
                <a:latin typeface="Noto Sans"/>
                <a:ea typeface="Noto Sans"/>
                <a:cs typeface="Noto Sans"/>
                <a:sym typeface="Noto Sans"/>
              </a:rPr>
              <a:t>관리자 심사</a:t>
            </a:r>
            <a:endParaRPr b="0" i="0" sz="1550" u="none" cap="none" strike="noStrike">
              <a:solidFill>
                <a:schemeClr val="dk1"/>
              </a:solidFill>
              <a:latin typeface="Noto Sans"/>
              <a:ea typeface="Noto Sans"/>
              <a:cs typeface="Noto Sans"/>
              <a:sym typeface="Noto Sans"/>
            </a:endParaRPr>
          </a:p>
        </p:txBody>
      </p:sp>
      <p:sp>
        <p:nvSpPr>
          <p:cNvPr id="429" name="Google Shape;429;p14"/>
          <p:cNvSpPr/>
          <p:nvPr/>
        </p:nvSpPr>
        <p:spPr>
          <a:xfrm>
            <a:off x="1444752" y="5760720"/>
            <a:ext cx="9930384" cy="219456"/>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64778A"/>
              </a:buClr>
              <a:buSzPts val="1250"/>
              <a:buFont typeface="Noto Sans"/>
              <a:buNone/>
            </a:pPr>
            <a:r>
              <a:rPr b="0" i="0" lang="en-US" sz="1250" u="none" cap="none" strike="noStrike">
                <a:solidFill>
                  <a:srgbClr val="64778A"/>
                </a:solidFill>
                <a:latin typeface="Noto Sans"/>
                <a:ea typeface="Noto Sans"/>
                <a:cs typeface="Noto Sans"/>
                <a:sym typeface="Noto Sans"/>
              </a:rPr>
              <a:t>승인·반려 API와 관리자 권한 인터셉터로 심사 흐름 구성</a:t>
            </a:r>
            <a:endParaRPr b="0" i="0" sz="1250" u="none" cap="none" strike="noStrike">
              <a:solidFill>
                <a:schemeClr val="dk1"/>
              </a:solidFill>
              <a:latin typeface="Noto Sans"/>
              <a:ea typeface="Noto Sans"/>
              <a:cs typeface="Noto Sans"/>
              <a:sym typeface="Noto Sans"/>
            </a:endParaRPr>
          </a:p>
        </p:txBody>
      </p:sp>
      <p:sp>
        <p:nvSpPr>
          <p:cNvPr id="430" name="Google Shape;430;p14"/>
          <p:cNvSpPr/>
          <p:nvPr/>
        </p:nvSpPr>
        <p:spPr>
          <a:xfrm>
            <a:off x="713232" y="6236208"/>
            <a:ext cx="10808208" cy="365760"/>
          </a:xfrm>
          <a:prstGeom prst="roundRect">
            <a:avLst>
              <a:gd fmla="val 10000" name="adj"/>
            </a:avLst>
          </a:prstGeom>
          <a:solidFill>
            <a:srgbClr val="FFF4DF"/>
          </a:solidFill>
          <a:ln cap="flat" cmpd="sng" w="12700">
            <a:solidFill>
              <a:srgbClr val="F1D6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4"/>
          <p:cNvSpPr/>
          <p:nvPr/>
        </p:nvSpPr>
        <p:spPr>
          <a:xfrm>
            <a:off x="932688" y="6318504"/>
            <a:ext cx="10369296" cy="1828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350"/>
              <a:buFont typeface="Noto Sans"/>
              <a:buNone/>
            </a:pPr>
            <a:r>
              <a:rPr b="1" i="0" lang="en-US" sz="1350" u="none" cap="none" strike="noStrike">
                <a:solidFill>
                  <a:srgbClr val="17324D"/>
                </a:solidFill>
                <a:latin typeface="Noto Sans"/>
                <a:ea typeface="Noto Sans"/>
                <a:cs typeface="Noto Sans"/>
                <a:sym typeface="Noto Sans"/>
              </a:rPr>
              <a:t>현재 회원 등록 매물(member_property)과 지도 검색용 properties는 별도 구조로 관리됩니다.</a:t>
            </a:r>
            <a:endParaRPr b="0" i="0" sz="1350" u="none" cap="none" strike="noStrike">
              <a:solidFill>
                <a:schemeClr val="dk1"/>
              </a:solidFill>
              <a:latin typeface="Noto Sans"/>
              <a:ea typeface="Noto Sans"/>
              <a:cs typeface="Noto Sans"/>
              <a:sym typeface="Noto Sans"/>
            </a:endParaRPr>
          </a:p>
        </p:txBody>
      </p:sp>
      <p:sp>
        <p:nvSpPr>
          <p:cNvPr id="432" name="Google Shape;432;p14"/>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15"/>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회원·로그인·고객센터: 서비스 운영에 필요한 기능</a:t>
            </a:r>
            <a:endParaRPr b="0" i="0" sz="2700" u="none" cap="none" strike="noStrike">
              <a:solidFill>
                <a:schemeClr val="dk1"/>
              </a:solidFill>
              <a:latin typeface="Noto Sans"/>
              <a:ea typeface="Noto Sans"/>
              <a:cs typeface="Noto Sans"/>
              <a:sym typeface="Noto Sans"/>
            </a:endParaRPr>
          </a:p>
        </p:txBody>
      </p:sp>
      <p:sp>
        <p:nvSpPr>
          <p:cNvPr id="439" name="Google Shape;439;p15"/>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일반 로그인, 소셜 OAuth, 계정 관리와 FAQ·1:1 문의까지 사용자 운영 흐름을 구성했습니다.</a:t>
            </a:r>
            <a:endParaRPr b="0" i="0" sz="1450" u="none" cap="none" strike="noStrike">
              <a:solidFill>
                <a:schemeClr val="dk1"/>
              </a:solidFill>
              <a:latin typeface="Noto Sans"/>
              <a:ea typeface="Noto Sans"/>
              <a:cs typeface="Noto Sans"/>
              <a:sym typeface="Noto Sans"/>
            </a:endParaRPr>
          </a:p>
        </p:txBody>
      </p:sp>
      <p:sp>
        <p:nvSpPr>
          <p:cNvPr id="440" name="Google Shape;440;p15"/>
          <p:cNvSpPr/>
          <p:nvPr/>
        </p:nvSpPr>
        <p:spPr>
          <a:xfrm>
            <a:off x="9930384" y="804672"/>
            <a:ext cx="1755648" cy="384048"/>
          </a:xfrm>
          <a:prstGeom prst="roundRect">
            <a:avLst>
              <a:gd fmla="val 19048" name="adj"/>
            </a:avLst>
          </a:prstGeom>
          <a:solidFill>
            <a:srgbClr val="EAF9F6"/>
          </a:solidFill>
          <a:ln cap="flat" cmpd="sng" w="12700">
            <a:solidFill>
              <a:srgbClr val="BFE9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5"/>
          <p:cNvSpPr/>
          <p:nvPr/>
        </p:nvSpPr>
        <p:spPr>
          <a:xfrm>
            <a:off x="10021824" y="859536"/>
            <a:ext cx="157276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87F74"/>
              </a:buClr>
              <a:buSzPts val="1050"/>
              <a:buFont typeface="Noto Sans"/>
              <a:buNone/>
            </a:pPr>
            <a:r>
              <a:rPr b="1" i="0" lang="en-US" sz="1050" u="none" cap="none" strike="noStrike">
                <a:solidFill>
                  <a:srgbClr val="187F74"/>
                </a:solidFill>
                <a:latin typeface="Noto Sans"/>
                <a:ea typeface="Noto Sans"/>
                <a:cs typeface="Noto Sans"/>
                <a:sym typeface="Noto Sans"/>
              </a:rPr>
              <a:t>PART 4 · 등록/회원/고객센터</a:t>
            </a:r>
            <a:endParaRPr b="0" i="0" sz="1050" u="none" cap="none" strike="noStrike">
              <a:solidFill>
                <a:schemeClr val="dk1"/>
              </a:solidFill>
              <a:latin typeface="Noto Sans"/>
              <a:ea typeface="Noto Sans"/>
              <a:cs typeface="Noto Sans"/>
              <a:sym typeface="Noto Sans"/>
            </a:endParaRPr>
          </a:p>
        </p:txBody>
      </p:sp>
      <p:sp>
        <p:nvSpPr>
          <p:cNvPr id="442" name="Google Shape;442;p15"/>
          <p:cNvSpPr/>
          <p:nvPr/>
        </p:nvSpPr>
        <p:spPr>
          <a:xfrm>
            <a:off x="640080" y="1865376"/>
            <a:ext cx="5138928" cy="2542032"/>
          </a:xfrm>
          <a:prstGeom prst="roundRect">
            <a:avLst>
              <a:gd fmla="val 2158"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5"/>
          <p:cNvSpPr/>
          <p:nvPr/>
        </p:nvSpPr>
        <p:spPr>
          <a:xfrm>
            <a:off x="731520" y="1956816"/>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5"/>
          <p:cNvSpPr/>
          <p:nvPr/>
        </p:nvSpPr>
        <p:spPr>
          <a:xfrm>
            <a:off x="813816" y="2011680"/>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로그인 / 회원가입</a:t>
            </a:r>
            <a:endParaRPr b="0" i="0" sz="1050" u="none" cap="none" strike="noStrike">
              <a:solidFill>
                <a:schemeClr val="dk1"/>
              </a:solidFill>
              <a:latin typeface="Noto Sans"/>
              <a:ea typeface="Noto Sans"/>
              <a:cs typeface="Noto Sans"/>
              <a:sym typeface="Noto Sans"/>
            </a:endParaRPr>
          </a:p>
        </p:txBody>
      </p:sp>
      <p:pic>
        <p:nvPicPr>
          <p:cNvPr descr="/mnt/data/ppt_image_extracted/12.png" id="445" name="Google Shape;445;p15"/>
          <p:cNvPicPr preferRelativeResize="0"/>
          <p:nvPr/>
        </p:nvPicPr>
        <p:blipFill rotWithShape="1">
          <a:blip r:embed="rId3">
            <a:alphaModFix/>
          </a:blip>
          <a:srcRect b="0" l="0" r="0" t="0"/>
          <a:stretch/>
        </p:blipFill>
        <p:spPr>
          <a:xfrm>
            <a:off x="694944" y="1920240"/>
            <a:ext cx="5029200" cy="2432304"/>
          </a:xfrm>
          <a:prstGeom prst="rect">
            <a:avLst/>
          </a:prstGeom>
          <a:noFill/>
          <a:ln>
            <a:noFill/>
          </a:ln>
        </p:spPr>
      </p:pic>
      <p:sp>
        <p:nvSpPr>
          <p:cNvPr id="446" name="Google Shape;446;p15"/>
          <p:cNvSpPr/>
          <p:nvPr/>
        </p:nvSpPr>
        <p:spPr>
          <a:xfrm>
            <a:off x="6144768" y="1865376"/>
            <a:ext cx="5138928" cy="2542032"/>
          </a:xfrm>
          <a:prstGeom prst="roundRect">
            <a:avLst>
              <a:gd fmla="val 2158" name="adj"/>
            </a:avLst>
          </a:prstGeom>
          <a:solidFill>
            <a:srgbClr val="FFFFFF"/>
          </a:solidFill>
          <a:ln cap="flat" cmpd="sng" w="15225">
            <a:solidFill>
              <a:srgbClr val="D9E3EC"/>
            </a:solidFill>
            <a:prstDash val="solid"/>
            <a:round/>
            <a:headEnd len="sm" w="sm" type="none"/>
            <a:tailEnd len="sm" w="sm" type="none"/>
          </a:ln>
          <a:effectLst>
            <a:outerShdw blurRad="19050" rotWithShape="0" algn="bl" dir="2700000" dist="50800">
              <a:srgbClr val="AFC0C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5"/>
          <p:cNvSpPr/>
          <p:nvPr/>
        </p:nvSpPr>
        <p:spPr>
          <a:xfrm>
            <a:off x="6236208" y="1956816"/>
            <a:ext cx="2057400" cy="329184"/>
          </a:xfrm>
          <a:prstGeom prst="roundRect">
            <a:avLst>
              <a:gd fmla="val 13889" name="adj"/>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5"/>
          <p:cNvSpPr/>
          <p:nvPr/>
        </p:nvSpPr>
        <p:spPr>
          <a:xfrm>
            <a:off x="6318504" y="2011680"/>
            <a:ext cx="1847088"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Noto Sans"/>
              <a:buNone/>
            </a:pPr>
            <a:r>
              <a:rPr b="1" i="0" lang="en-US" sz="1050" u="none" cap="none" strike="noStrike">
                <a:solidFill>
                  <a:srgbClr val="FFFFFF"/>
                </a:solidFill>
                <a:latin typeface="Noto Sans"/>
                <a:ea typeface="Noto Sans"/>
                <a:cs typeface="Noto Sans"/>
                <a:sym typeface="Noto Sans"/>
              </a:rPr>
              <a:t>고객센터</a:t>
            </a:r>
            <a:endParaRPr b="0" i="0" sz="1050" u="none" cap="none" strike="noStrike">
              <a:solidFill>
                <a:schemeClr val="dk1"/>
              </a:solidFill>
              <a:latin typeface="Noto Sans"/>
              <a:ea typeface="Noto Sans"/>
              <a:cs typeface="Noto Sans"/>
              <a:sym typeface="Noto Sans"/>
            </a:endParaRPr>
          </a:p>
        </p:txBody>
      </p:sp>
      <p:pic>
        <p:nvPicPr>
          <p:cNvPr descr="/mnt/data/ppt_image_extracted/13.png" id="449" name="Google Shape;449;p15"/>
          <p:cNvPicPr preferRelativeResize="0"/>
          <p:nvPr/>
        </p:nvPicPr>
        <p:blipFill rotWithShape="1">
          <a:blip r:embed="rId4">
            <a:alphaModFix/>
          </a:blip>
          <a:srcRect b="0" l="0" r="0" t="0"/>
          <a:stretch/>
        </p:blipFill>
        <p:spPr>
          <a:xfrm>
            <a:off x="6199632" y="1920240"/>
            <a:ext cx="5029200" cy="2432304"/>
          </a:xfrm>
          <a:prstGeom prst="rect">
            <a:avLst/>
          </a:prstGeom>
          <a:noFill/>
          <a:ln>
            <a:noFill/>
          </a:ln>
        </p:spPr>
      </p:pic>
      <p:sp>
        <p:nvSpPr>
          <p:cNvPr id="450" name="Google Shape;450;p15"/>
          <p:cNvSpPr/>
          <p:nvPr/>
        </p:nvSpPr>
        <p:spPr>
          <a:xfrm>
            <a:off x="640080" y="4690872"/>
            <a:ext cx="2578608" cy="1225296"/>
          </a:xfrm>
          <a:prstGeom prst="roundRect">
            <a:avLst>
              <a:gd fmla="val 5970"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5"/>
          <p:cNvSpPr/>
          <p:nvPr/>
        </p:nvSpPr>
        <p:spPr>
          <a:xfrm>
            <a:off x="640080" y="4690872"/>
            <a:ext cx="73152" cy="1225296"/>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5"/>
          <p:cNvSpPr/>
          <p:nvPr/>
        </p:nvSpPr>
        <p:spPr>
          <a:xfrm>
            <a:off x="822960" y="4855464"/>
            <a:ext cx="221284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회원가입</a:t>
            </a:r>
            <a:endParaRPr b="0" i="0" sz="1750" u="none" cap="none" strike="noStrike">
              <a:solidFill>
                <a:schemeClr val="dk1"/>
              </a:solidFill>
              <a:latin typeface="Noto Sans"/>
              <a:ea typeface="Noto Sans"/>
              <a:cs typeface="Noto Sans"/>
              <a:sym typeface="Noto Sans"/>
            </a:endParaRPr>
          </a:p>
        </p:txBody>
      </p:sp>
      <p:sp>
        <p:nvSpPr>
          <p:cNvPr id="453" name="Google Shape;453;p15"/>
          <p:cNvSpPr/>
          <p:nvPr/>
        </p:nvSpPr>
        <p:spPr>
          <a:xfrm>
            <a:off x="822960" y="5257800"/>
            <a:ext cx="2212848" cy="5120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400"/>
              <a:buFont typeface="Noto Sans"/>
              <a:buNone/>
            </a:pPr>
            <a:r>
              <a:rPr b="0" i="0" lang="en-US" sz="1400" u="none" cap="none" strike="noStrike">
                <a:solidFill>
                  <a:srgbClr val="64778A"/>
                </a:solidFill>
                <a:latin typeface="Noto Sans"/>
                <a:ea typeface="Noto Sans"/>
                <a:cs typeface="Noto Sans"/>
                <a:sym typeface="Noto Sans"/>
              </a:rPr>
              <a:t>이메일·비밀번호·이름/전화번호 검증과 BCrypt 비밀번호 저장</a:t>
            </a:r>
            <a:endParaRPr b="0" i="0" sz="1400" u="none" cap="none" strike="noStrike">
              <a:solidFill>
                <a:schemeClr val="dk1"/>
              </a:solidFill>
              <a:latin typeface="Noto Sans"/>
              <a:ea typeface="Noto Sans"/>
              <a:cs typeface="Noto Sans"/>
              <a:sym typeface="Noto Sans"/>
            </a:endParaRPr>
          </a:p>
        </p:txBody>
      </p:sp>
      <p:sp>
        <p:nvSpPr>
          <p:cNvPr id="454" name="Google Shape;454;p15"/>
          <p:cNvSpPr/>
          <p:nvPr/>
        </p:nvSpPr>
        <p:spPr>
          <a:xfrm>
            <a:off x="3401568" y="4690872"/>
            <a:ext cx="2578608" cy="1225296"/>
          </a:xfrm>
          <a:prstGeom prst="roundRect">
            <a:avLst>
              <a:gd fmla="val 5970"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5"/>
          <p:cNvSpPr/>
          <p:nvPr/>
        </p:nvSpPr>
        <p:spPr>
          <a:xfrm>
            <a:off x="3401568" y="4690872"/>
            <a:ext cx="73152" cy="1225296"/>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5"/>
          <p:cNvSpPr/>
          <p:nvPr/>
        </p:nvSpPr>
        <p:spPr>
          <a:xfrm>
            <a:off x="3584448" y="4855464"/>
            <a:ext cx="221284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로그인·OAuth</a:t>
            </a:r>
            <a:endParaRPr b="0" i="0" sz="1750" u="none" cap="none" strike="noStrike">
              <a:solidFill>
                <a:schemeClr val="dk1"/>
              </a:solidFill>
              <a:latin typeface="Noto Sans"/>
              <a:ea typeface="Noto Sans"/>
              <a:cs typeface="Noto Sans"/>
              <a:sym typeface="Noto Sans"/>
            </a:endParaRPr>
          </a:p>
        </p:txBody>
      </p:sp>
      <p:sp>
        <p:nvSpPr>
          <p:cNvPr id="457" name="Google Shape;457;p15"/>
          <p:cNvSpPr/>
          <p:nvPr/>
        </p:nvSpPr>
        <p:spPr>
          <a:xfrm>
            <a:off x="3584448" y="5257800"/>
            <a:ext cx="2212848" cy="5120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400"/>
              <a:buFont typeface="Noto Sans"/>
              <a:buNone/>
            </a:pPr>
            <a:r>
              <a:rPr b="0" i="0" lang="en-US" sz="1400" u="none" cap="none" strike="noStrike">
                <a:solidFill>
                  <a:srgbClr val="64778A"/>
                </a:solidFill>
                <a:latin typeface="Noto Sans"/>
                <a:ea typeface="Noto Sans"/>
                <a:cs typeface="Noto Sans"/>
                <a:sym typeface="Noto Sans"/>
              </a:rPr>
              <a:t>HttpSession 기반 로그인과 Google·Naver·Kakao OAuth 코드 구현</a:t>
            </a:r>
            <a:endParaRPr b="0" i="0" sz="1400" u="none" cap="none" strike="noStrike">
              <a:solidFill>
                <a:schemeClr val="dk1"/>
              </a:solidFill>
              <a:latin typeface="Noto Sans"/>
              <a:ea typeface="Noto Sans"/>
              <a:cs typeface="Noto Sans"/>
              <a:sym typeface="Noto Sans"/>
            </a:endParaRPr>
          </a:p>
        </p:txBody>
      </p:sp>
      <p:sp>
        <p:nvSpPr>
          <p:cNvPr id="458" name="Google Shape;458;p15"/>
          <p:cNvSpPr/>
          <p:nvPr/>
        </p:nvSpPr>
        <p:spPr>
          <a:xfrm>
            <a:off x="6163056" y="4690872"/>
            <a:ext cx="2578608" cy="1225296"/>
          </a:xfrm>
          <a:prstGeom prst="roundRect">
            <a:avLst>
              <a:gd fmla="val 5970"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5"/>
          <p:cNvSpPr/>
          <p:nvPr/>
        </p:nvSpPr>
        <p:spPr>
          <a:xfrm>
            <a:off x="6163056" y="4690872"/>
            <a:ext cx="73152" cy="1225296"/>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5"/>
          <p:cNvSpPr/>
          <p:nvPr/>
        </p:nvSpPr>
        <p:spPr>
          <a:xfrm>
            <a:off x="6345936" y="4855464"/>
            <a:ext cx="221284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계정 관리</a:t>
            </a:r>
            <a:endParaRPr b="0" i="0" sz="1750" u="none" cap="none" strike="noStrike">
              <a:solidFill>
                <a:schemeClr val="dk1"/>
              </a:solidFill>
              <a:latin typeface="Noto Sans"/>
              <a:ea typeface="Noto Sans"/>
              <a:cs typeface="Noto Sans"/>
              <a:sym typeface="Noto Sans"/>
            </a:endParaRPr>
          </a:p>
        </p:txBody>
      </p:sp>
      <p:sp>
        <p:nvSpPr>
          <p:cNvPr id="461" name="Google Shape;461;p15"/>
          <p:cNvSpPr/>
          <p:nvPr/>
        </p:nvSpPr>
        <p:spPr>
          <a:xfrm>
            <a:off x="6345936" y="5257800"/>
            <a:ext cx="2212848" cy="5120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400"/>
              <a:buFont typeface="Noto Sans"/>
              <a:buNone/>
            </a:pPr>
            <a:r>
              <a:rPr b="0" i="0" lang="en-US" sz="1400" u="none" cap="none" strike="noStrike">
                <a:solidFill>
                  <a:srgbClr val="64778A"/>
                </a:solidFill>
                <a:latin typeface="Noto Sans"/>
                <a:ea typeface="Noto Sans"/>
                <a:cs typeface="Noto Sans"/>
                <a:sym typeface="Noto Sans"/>
              </a:rPr>
              <a:t>가입 방식 표시, 일반/소셜 계정 탈퇴 처리와 관리자 권한 분리</a:t>
            </a:r>
            <a:endParaRPr b="0" i="0" sz="1400" u="none" cap="none" strike="noStrike">
              <a:solidFill>
                <a:schemeClr val="dk1"/>
              </a:solidFill>
              <a:latin typeface="Noto Sans"/>
              <a:ea typeface="Noto Sans"/>
              <a:cs typeface="Noto Sans"/>
              <a:sym typeface="Noto Sans"/>
            </a:endParaRPr>
          </a:p>
        </p:txBody>
      </p:sp>
      <p:sp>
        <p:nvSpPr>
          <p:cNvPr id="462" name="Google Shape;462;p15"/>
          <p:cNvSpPr/>
          <p:nvPr/>
        </p:nvSpPr>
        <p:spPr>
          <a:xfrm>
            <a:off x="8924544" y="4690872"/>
            <a:ext cx="2578608" cy="1225296"/>
          </a:xfrm>
          <a:prstGeom prst="roundRect">
            <a:avLst>
              <a:gd fmla="val 5970"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5"/>
          <p:cNvSpPr/>
          <p:nvPr/>
        </p:nvSpPr>
        <p:spPr>
          <a:xfrm>
            <a:off x="8924544" y="4690872"/>
            <a:ext cx="73152" cy="1225296"/>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5"/>
          <p:cNvSpPr/>
          <p:nvPr/>
        </p:nvSpPr>
        <p:spPr>
          <a:xfrm>
            <a:off x="9107424" y="4855464"/>
            <a:ext cx="221284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750"/>
              <a:buFont typeface="Noto Sans"/>
              <a:buNone/>
            </a:pPr>
            <a:r>
              <a:rPr b="1" i="0" lang="en-US" sz="1750" u="none" cap="none" strike="noStrike">
                <a:solidFill>
                  <a:srgbClr val="17324D"/>
                </a:solidFill>
                <a:latin typeface="Noto Sans"/>
                <a:ea typeface="Noto Sans"/>
                <a:cs typeface="Noto Sans"/>
                <a:sym typeface="Noto Sans"/>
              </a:rPr>
              <a:t>고객센터</a:t>
            </a:r>
            <a:endParaRPr b="0" i="0" sz="1750" u="none" cap="none" strike="noStrike">
              <a:solidFill>
                <a:schemeClr val="dk1"/>
              </a:solidFill>
              <a:latin typeface="Noto Sans"/>
              <a:ea typeface="Noto Sans"/>
              <a:cs typeface="Noto Sans"/>
              <a:sym typeface="Noto Sans"/>
            </a:endParaRPr>
          </a:p>
        </p:txBody>
      </p:sp>
      <p:sp>
        <p:nvSpPr>
          <p:cNvPr id="465" name="Google Shape;465;p15"/>
          <p:cNvSpPr/>
          <p:nvPr/>
        </p:nvSpPr>
        <p:spPr>
          <a:xfrm>
            <a:off x="9107424" y="5257800"/>
            <a:ext cx="2212848" cy="512064"/>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64778A"/>
              </a:buClr>
              <a:buSzPts val="1400"/>
              <a:buFont typeface="Noto Sans"/>
              <a:buNone/>
            </a:pPr>
            <a:r>
              <a:rPr b="0" i="0" lang="en-US" sz="1400" u="none" cap="none" strike="noStrike">
                <a:solidFill>
                  <a:srgbClr val="64778A"/>
                </a:solidFill>
                <a:latin typeface="Noto Sans"/>
                <a:ea typeface="Noto Sans"/>
                <a:cs typeface="Noto Sans"/>
                <a:sym typeface="Noto Sans"/>
              </a:rPr>
              <a:t>FAQ 검색·필터와 1:1 문의 저장, 문의 상태 관리</a:t>
            </a:r>
            <a:endParaRPr b="0" i="0" sz="1400" u="none" cap="none" strike="noStrike">
              <a:solidFill>
                <a:schemeClr val="dk1"/>
              </a:solidFill>
              <a:latin typeface="Noto Sans"/>
              <a:ea typeface="Noto Sans"/>
              <a:cs typeface="Noto Sans"/>
              <a:sym typeface="Noto Sans"/>
            </a:endParaRPr>
          </a:p>
        </p:txBody>
      </p:sp>
      <p:sp>
        <p:nvSpPr>
          <p:cNvPr id="466" name="Google Shape;466;p15"/>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16"/>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전체 시스템 Architecture</a:t>
            </a:r>
            <a:endParaRPr b="0" i="0" sz="2700" u="none" cap="none" strike="noStrike">
              <a:solidFill>
                <a:schemeClr val="dk1"/>
              </a:solidFill>
              <a:latin typeface="Noto Sans"/>
              <a:ea typeface="Noto Sans"/>
              <a:cs typeface="Noto Sans"/>
              <a:sym typeface="Noto Sans"/>
            </a:endParaRPr>
          </a:p>
        </p:txBody>
      </p:sp>
      <p:sp>
        <p:nvSpPr>
          <p:cNvPr id="473" name="Google Shape;473;p16"/>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Spring Boot를 서비스 중심 Backend로, FastAPI를 AI 전용 서버로 분리하고 외부 API와 Storage를 연결했습니다.</a:t>
            </a:r>
            <a:endParaRPr b="0" i="0" sz="1450" u="none" cap="none" strike="noStrike">
              <a:solidFill>
                <a:schemeClr val="dk1"/>
              </a:solidFill>
              <a:latin typeface="Noto Sans"/>
              <a:ea typeface="Noto Sans"/>
              <a:cs typeface="Noto Sans"/>
              <a:sym typeface="Noto Sans"/>
            </a:endParaRPr>
          </a:p>
        </p:txBody>
      </p:sp>
      <p:sp>
        <p:nvSpPr>
          <p:cNvPr id="474" name="Google Shape;474;p16"/>
          <p:cNvSpPr/>
          <p:nvPr/>
        </p:nvSpPr>
        <p:spPr>
          <a:xfrm>
            <a:off x="640080" y="1883664"/>
            <a:ext cx="2148840" cy="3566160"/>
          </a:xfrm>
          <a:prstGeom prst="roundRect">
            <a:avLst>
              <a:gd fmla="val 2553" name="adj"/>
            </a:avLst>
          </a:prstGeom>
          <a:solidFill>
            <a:srgbClr val="EAF5FD"/>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6"/>
          <p:cNvSpPr/>
          <p:nvPr/>
        </p:nvSpPr>
        <p:spPr>
          <a:xfrm>
            <a:off x="804672" y="2103120"/>
            <a:ext cx="181965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850"/>
              <a:buFont typeface="Noto Sans"/>
              <a:buNone/>
            </a:pPr>
            <a:r>
              <a:rPr b="1" i="0" lang="en-US" sz="1850" u="none" cap="none" strike="noStrike">
                <a:solidFill>
                  <a:srgbClr val="17324D"/>
                </a:solidFill>
                <a:latin typeface="Noto Sans"/>
                <a:ea typeface="Noto Sans"/>
                <a:cs typeface="Noto Sans"/>
                <a:sym typeface="Noto Sans"/>
              </a:rPr>
              <a:t>Frontend</a:t>
            </a:r>
            <a:endParaRPr b="0" i="0" sz="1850" u="none" cap="none" strike="noStrike">
              <a:solidFill>
                <a:schemeClr val="dk1"/>
              </a:solidFill>
              <a:latin typeface="Noto Sans"/>
              <a:ea typeface="Noto Sans"/>
              <a:cs typeface="Noto Sans"/>
              <a:sym typeface="Noto Sans"/>
            </a:endParaRPr>
          </a:p>
        </p:txBody>
      </p:sp>
      <p:sp>
        <p:nvSpPr>
          <p:cNvPr id="476" name="Google Shape;476;p16"/>
          <p:cNvSpPr/>
          <p:nvPr/>
        </p:nvSpPr>
        <p:spPr>
          <a:xfrm>
            <a:off x="822960" y="2697480"/>
            <a:ext cx="1783080" cy="233172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Thymeleaf</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HTML / CSS / JS</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chemeClr val="dk1"/>
              </a:buClr>
              <a:buSzPts val="1520"/>
              <a:buFont typeface="Noto Sans"/>
              <a:buNone/>
            </a:pPr>
            <a:r>
              <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Naver Maps</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Kakao Maps</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Supercluster</a:t>
            </a:r>
            <a:endParaRPr b="0" i="0" sz="1520" u="none" cap="none" strike="noStrike">
              <a:solidFill>
                <a:schemeClr val="dk1"/>
              </a:solidFill>
              <a:latin typeface="Noto Sans"/>
              <a:ea typeface="Noto Sans"/>
              <a:cs typeface="Noto Sans"/>
              <a:sym typeface="Noto Sans"/>
            </a:endParaRPr>
          </a:p>
        </p:txBody>
      </p:sp>
      <p:sp>
        <p:nvSpPr>
          <p:cNvPr id="477" name="Google Shape;477;p16"/>
          <p:cNvSpPr/>
          <p:nvPr/>
        </p:nvSpPr>
        <p:spPr>
          <a:xfrm>
            <a:off x="2999232" y="1883664"/>
            <a:ext cx="2880360" cy="3566160"/>
          </a:xfrm>
          <a:prstGeom prst="roundRect">
            <a:avLst>
              <a:gd fmla="val 1905" name="adj"/>
            </a:avLst>
          </a:prstGeom>
          <a:solidFill>
            <a:srgbClr val="FFFFFF"/>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6"/>
          <p:cNvSpPr/>
          <p:nvPr/>
        </p:nvSpPr>
        <p:spPr>
          <a:xfrm>
            <a:off x="3163824" y="2103120"/>
            <a:ext cx="25511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850"/>
              <a:buFont typeface="Noto Sans"/>
              <a:buNone/>
            </a:pPr>
            <a:r>
              <a:rPr b="1" i="0" lang="en-US" sz="1850" u="none" cap="none" strike="noStrike">
                <a:solidFill>
                  <a:srgbClr val="17324D"/>
                </a:solidFill>
                <a:latin typeface="Noto Sans"/>
                <a:ea typeface="Noto Sans"/>
                <a:cs typeface="Noto Sans"/>
                <a:sym typeface="Noto Sans"/>
              </a:rPr>
              <a:t>Spring Boot :8080</a:t>
            </a:r>
            <a:endParaRPr b="0" i="0" sz="1850" u="none" cap="none" strike="noStrike">
              <a:solidFill>
                <a:schemeClr val="dk1"/>
              </a:solidFill>
              <a:latin typeface="Noto Sans"/>
              <a:ea typeface="Noto Sans"/>
              <a:cs typeface="Noto Sans"/>
              <a:sym typeface="Noto Sans"/>
            </a:endParaRPr>
          </a:p>
        </p:txBody>
      </p:sp>
      <p:sp>
        <p:nvSpPr>
          <p:cNvPr id="479" name="Google Shape;479;p16"/>
          <p:cNvSpPr/>
          <p:nvPr/>
        </p:nvSpPr>
        <p:spPr>
          <a:xfrm>
            <a:off x="3182112" y="2697480"/>
            <a:ext cx="2514600" cy="233172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지도·매물·POI REST</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회원·세션·OAuth</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회원 등록 매물·문의</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국토교통부 실거래 API</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Supabase 파일 메타</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FastAPI 중계</a:t>
            </a:r>
            <a:endParaRPr b="0" i="0" sz="1520" u="none" cap="none" strike="noStrike">
              <a:solidFill>
                <a:schemeClr val="dk1"/>
              </a:solidFill>
              <a:latin typeface="Noto Sans"/>
              <a:ea typeface="Noto Sans"/>
              <a:cs typeface="Noto Sans"/>
              <a:sym typeface="Noto Sans"/>
            </a:endParaRPr>
          </a:p>
        </p:txBody>
      </p:sp>
      <p:sp>
        <p:nvSpPr>
          <p:cNvPr id="480" name="Google Shape;480;p16"/>
          <p:cNvSpPr/>
          <p:nvPr/>
        </p:nvSpPr>
        <p:spPr>
          <a:xfrm>
            <a:off x="6108192" y="1883664"/>
            <a:ext cx="2578608" cy="3566160"/>
          </a:xfrm>
          <a:prstGeom prst="roundRect">
            <a:avLst>
              <a:gd fmla="val 2128" name="adj"/>
            </a:avLst>
          </a:prstGeom>
          <a:solidFill>
            <a:srgbClr val="EAF9F6"/>
          </a:solidFill>
          <a:ln cap="flat" cmpd="sng" w="12700">
            <a:solidFill>
              <a:srgbClr val="D9E3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6"/>
          <p:cNvSpPr/>
          <p:nvPr/>
        </p:nvSpPr>
        <p:spPr>
          <a:xfrm>
            <a:off x="6272784" y="2103120"/>
            <a:ext cx="2249424"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8879"/>
              </a:buClr>
              <a:buSzPts val="1850"/>
              <a:buFont typeface="Noto Sans"/>
              <a:buNone/>
            </a:pPr>
            <a:r>
              <a:rPr b="1" i="0" lang="en-US" sz="1850" u="none" cap="none" strike="noStrike">
                <a:solidFill>
                  <a:srgbClr val="168879"/>
                </a:solidFill>
                <a:latin typeface="Noto Sans"/>
                <a:ea typeface="Noto Sans"/>
                <a:cs typeface="Noto Sans"/>
                <a:sym typeface="Noto Sans"/>
              </a:rPr>
              <a:t>FastAPI :8000</a:t>
            </a:r>
            <a:endParaRPr b="0" i="0" sz="1850" u="none" cap="none" strike="noStrike">
              <a:solidFill>
                <a:schemeClr val="dk1"/>
              </a:solidFill>
              <a:latin typeface="Noto Sans"/>
              <a:ea typeface="Noto Sans"/>
              <a:cs typeface="Noto Sans"/>
              <a:sym typeface="Noto Sans"/>
            </a:endParaRPr>
          </a:p>
        </p:txBody>
      </p:sp>
      <p:sp>
        <p:nvSpPr>
          <p:cNvPr id="482" name="Google Shape;482;p16"/>
          <p:cNvSpPr/>
          <p:nvPr/>
        </p:nvSpPr>
        <p:spPr>
          <a:xfrm>
            <a:off x="6291072" y="2697480"/>
            <a:ext cx="2212848" cy="233172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OpenAI Responses</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Tool Calling</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App State / history</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법률 RAG</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1520"/>
              <a:buFont typeface="Noto Sans"/>
              <a:buNone/>
            </a:pPr>
            <a:r>
              <a:rPr b="0" i="0" lang="en-US" sz="1520" u="none" cap="none" strike="noStrike">
                <a:solidFill>
                  <a:srgbClr val="17324D"/>
                </a:solidFill>
                <a:latin typeface="Noto Sans"/>
                <a:ea typeface="Noto Sans"/>
                <a:cs typeface="Noto Sans"/>
                <a:sym typeface="Noto Sans"/>
              </a:rPr>
              <a:t>Pydantic Action 검증</a:t>
            </a:r>
            <a:endParaRPr b="0" i="0" sz="1520" u="none" cap="none" strike="noStrike">
              <a:solidFill>
                <a:schemeClr val="dk1"/>
              </a:solidFill>
              <a:latin typeface="Noto Sans"/>
              <a:ea typeface="Noto Sans"/>
              <a:cs typeface="Noto Sans"/>
              <a:sym typeface="Noto Sans"/>
            </a:endParaRPr>
          </a:p>
        </p:txBody>
      </p:sp>
      <p:sp>
        <p:nvSpPr>
          <p:cNvPr id="483" name="Google Shape;483;p16"/>
          <p:cNvSpPr/>
          <p:nvPr/>
        </p:nvSpPr>
        <p:spPr>
          <a:xfrm>
            <a:off x="8906256" y="1883664"/>
            <a:ext cx="2615184" cy="3566160"/>
          </a:xfrm>
          <a:prstGeom prst="roundRect">
            <a:avLst>
              <a:gd fmla="val 2098" name="adj"/>
            </a:avLst>
          </a:prstGeom>
          <a:solidFill>
            <a:srgbClr val="0C2846"/>
          </a:solidFill>
          <a:ln cap="flat" cmpd="sng" w="12700">
            <a:solidFill>
              <a:srgbClr val="0C284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6"/>
          <p:cNvSpPr/>
          <p:nvPr/>
        </p:nvSpPr>
        <p:spPr>
          <a:xfrm>
            <a:off x="9070848" y="2103120"/>
            <a:ext cx="228600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50"/>
              <a:buFont typeface="Noto Sans"/>
              <a:buNone/>
            </a:pPr>
            <a:r>
              <a:rPr b="1" i="0" lang="en-US" sz="1850" u="none" cap="none" strike="noStrike">
                <a:solidFill>
                  <a:srgbClr val="FFFFFF"/>
                </a:solidFill>
                <a:latin typeface="Noto Sans"/>
                <a:ea typeface="Noto Sans"/>
                <a:cs typeface="Noto Sans"/>
                <a:sym typeface="Noto Sans"/>
              </a:rPr>
              <a:t>External</a:t>
            </a:r>
            <a:endParaRPr b="0" i="0" sz="1850" u="none" cap="none" strike="noStrike">
              <a:solidFill>
                <a:schemeClr val="dk1"/>
              </a:solidFill>
              <a:latin typeface="Noto Sans"/>
              <a:ea typeface="Noto Sans"/>
              <a:cs typeface="Noto Sans"/>
              <a:sym typeface="Noto Sans"/>
            </a:endParaRPr>
          </a:p>
        </p:txBody>
      </p:sp>
      <p:sp>
        <p:nvSpPr>
          <p:cNvPr id="485" name="Google Shape;485;p16"/>
          <p:cNvSpPr/>
          <p:nvPr/>
        </p:nvSpPr>
        <p:spPr>
          <a:xfrm>
            <a:off x="9089136" y="2697480"/>
            <a:ext cx="2249424" cy="233172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DDE7F1"/>
              </a:buClr>
              <a:buSzPts val="1520"/>
              <a:buFont typeface="Noto Sans"/>
              <a:buNone/>
            </a:pPr>
            <a:r>
              <a:rPr b="0" i="0" lang="en-US" sz="1520" u="none" cap="none" strike="noStrike">
                <a:solidFill>
                  <a:srgbClr val="DDE7F1"/>
                </a:solidFill>
                <a:latin typeface="Noto Sans"/>
                <a:ea typeface="Noto Sans"/>
                <a:cs typeface="Noto Sans"/>
                <a:sym typeface="Noto Sans"/>
              </a:rPr>
              <a:t>OpenAI API</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DDE7F1"/>
              </a:buClr>
              <a:buSzPts val="1520"/>
              <a:buFont typeface="Noto Sans"/>
              <a:buNone/>
            </a:pPr>
            <a:r>
              <a:rPr b="0" i="0" lang="en-US" sz="1520" u="none" cap="none" strike="noStrike">
                <a:solidFill>
                  <a:srgbClr val="DDE7F1"/>
                </a:solidFill>
                <a:latin typeface="Noto Sans"/>
                <a:ea typeface="Noto Sans"/>
                <a:cs typeface="Noto Sans"/>
                <a:sym typeface="Noto Sans"/>
              </a:rPr>
              <a:t>Vector Store</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DDE7F1"/>
              </a:buClr>
              <a:buSzPts val="1520"/>
              <a:buFont typeface="Noto Sans"/>
              <a:buNone/>
            </a:pPr>
            <a:r>
              <a:rPr b="0" i="0" lang="en-US" sz="1520" u="none" cap="none" strike="noStrike">
                <a:solidFill>
                  <a:srgbClr val="DDE7F1"/>
                </a:solidFill>
                <a:latin typeface="Noto Sans"/>
                <a:ea typeface="Noto Sans"/>
                <a:cs typeface="Noto Sans"/>
                <a:sym typeface="Noto Sans"/>
              </a:rPr>
              <a:t>MOLIT API</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DDE7F1"/>
              </a:buClr>
              <a:buSzPts val="1520"/>
              <a:buFont typeface="Noto Sans"/>
              <a:buNone/>
            </a:pPr>
            <a:r>
              <a:rPr b="0" i="0" lang="en-US" sz="1520" u="none" cap="none" strike="noStrike">
                <a:solidFill>
                  <a:srgbClr val="DDE7F1"/>
                </a:solidFill>
                <a:latin typeface="Noto Sans"/>
                <a:ea typeface="Noto Sans"/>
                <a:cs typeface="Noto Sans"/>
                <a:sym typeface="Noto Sans"/>
              </a:rPr>
              <a:t>OAuth 3종</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DDE7F1"/>
              </a:buClr>
              <a:buSzPts val="1520"/>
              <a:buFont typeface="Noto Sans"/>
              <a:buNone/>
            </a:pPr>
            <a:r>
              <a:rPr b="0" i="0" lang="en-US" sz="1520" u="none" cap="none" strike="noStrike">
                <a:solidFill>
                  <a:srgbClr val="DDE7F1"/>
                </a:solidFill>
                <a:latin typeface="Noto Sans"/>
                <a:ea typeface="Noto Sans"/>
                <a:cs typeface="Noto Sans"/>
                <a:sym typeface="Noto Sans"/>
              </a:rPr>
              <a:t>Supabase</a:t>
            </a:r>
            <a:endParaRPr b="0" i="0" sz="152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DDE7F1"/>
              </a:buClr>
              <a:buSzPts val="1520"/>
              <a:buFont typeface="Noto Sans"/>
              <a:buNone/>
            </a:pPr>
            <a:r>
              <a:rPr b="0" i="0" lang="en-US" sz="1520" u="none" cap="none" strike="noStrike">
                <a:solidFill>
                  <a:srgbClr val="DDE7F1"/>
                </a:solidFill>
                <a:latin typeface="Noto Sans"/>
                <a:ea typeface="Noto Sans"/>
                <a:cs typeface="Noto Sans"/>
                <a:sym typeface="Noto Sans"/>
              </a:rPr>
              <a:t>MySQL 호환 DB</a:t>
            </a:r>
            <a:endParaRPr b="0" i="0" sz="1520" u="none" cap="none" strike="noStrike">
              <a:solidFill>
                <a:schemeClr val="dk1"/>
              </a:solidFill>
              <a:latin typeface="Noto Sans"/>
              <a:ea typeface="Noto Sans"/>
              <a:cs typeface="Noto Sans"/>
              <a:sym typeface="Noto Sans"/>
            </a:endParaRPr>
          </a:p>
        </p:txBody>
      </p:sp>
      <p:sp>
        <p:nvSpPr>
          <p:cNvPr id="486" name="Google Shape;486;p16"/>
          <p:cNvSpPr/>
          <p:nvPr/>
        </p:nvSpPr>
        <p:spPr>
          <a:xfrm>
            <a:off x="2788920" y="3310128"/>
            <a:ext cx="237744" cy="475488"/>
          </a:xfrm>
          <a:prstGeom prst="chevron">
            <a:avLst>
              <a:gd fmla="val 50000" name="adj"/>
            </a:avLst>
          </a:prstGeom>
          <a:solidFill>
            <a:srgbClr val="C9DCEA"/>
          </a:solidFill>
          <a:ln cap="flat" cmpd="sng" w="12700">
            <a:solidFill>
              <a:srgbClr val="C9DCE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6"/>
          <p:cNvSpPr/>
          <p:nvPr/>
        </p:nvSpPr>
        <p:spPr>
          <a:xfrm>
            <a:off x="5897880" y="3310128"/>
            <a:ext cx="237744" cy="475488"/>
          </a:xfrm>
          <a:prstGeom prst="chevron">
            <a:avLst>
              <a:gd fmla="val 50000" name="adj"/>
            </a:avLst>
          </a:prstGeom>
          <a:solidFill>
            <a:srgbClr val="C9DCEA"/>
          </a:solidFill>
          <a:ln cap="flat" cmpd="sng" w="12700">
            <a:solidFill>
              <a:srgbClr val="C9DCE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6"/>
          <p:cNvSpPr/>
          <p:nvPr/>
        </p:nvSpPr>
        <p:spPr>
          <a:xfrm>
            <a:off x="8695944" y="3310128"/>
            <a:ext cx="237744" cy="475488"/>
          </a:xfrm>
          <a:prstGeom prst="chevron">
            <a:avLst>
              <a:gd fmla="val 50000" name="adj"/>
            </a:avLst>
          </a:prstGeom>
          <a:solidFill>
            <a:srgbClr val="C9DCEA"/>
          </a:solidFill>
          <a:ln cap="flat" cmpd="sng" w="12700">
            <a:solidFill>
              <a:srgbClr val="C9DCEA">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6"/>
          <p:cNvSpPr/>
          <p:nvPr/>
        </p:nvSpPr>
        <p:spPr>
          <a:xfrm>
            <a:off x="777240" y="5742432"/>
            <a:ext cx="10652760" cy="530352"/>
          </a:xfrm>
          <a:prstGeom prst="roundRect">
            <a:avLst>
              <a:gd fmla="val 10345" name="adj"/>
            </a:avLst>
          </a:prstGeom>
          <a:solidFill>
            <a:srgbClr val="103354"/>
          </a:solidFill>
          <a:ln cap="flat" cmpd="sng" w="12700">
            <a:solidFill>
              <a:srgbClr val="10335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6"/>
          <p:cNvSpPr/>
          <p:nvPr/>
        </p:nvSpPr>
        <p:spPr>
          <a:xfrm>
            <a:off x="1005840" y="5852160"/>
            <a:ext cx="10195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50"/>
              <a:buFont typeface="Noto Sans"/>
              <a:buNone/>
            </a:pPr>
            <a:r>
              <a:rPr b="1" i="0" lang="en-US" sz="1650" u="none" cap="none" strike="noStrike">
                <a:solidFill>
                  <a:srgbClr val="FFFFFF"/>
                </a:solidFill>
                <a:latin typeface="Noto Sans"/>
                <a:ea typeface="Noto Sans"/>
                <a:cs typeface="Noto Sans"/>
                <a:sym typeface="Noto Sans"/>
              </a:rPr>
              <a:t>배포 구조 · Docker Compose(Spring + FastAPI) · EC2 · GitHub Actions 기반 구성</a:t>
            </a:r>
            <a:endParaRPr b="0" i="0" sz="1650" u="none" cap="none" strike="noStrike">
              <a:solidFill>
                <a:schemeClr val="dk1"/>
              </a:solidFill>
              <a:latin typeface="Noto Sans"/>
              <a:ea typeface="Noto Sans"/>
              <a:cs typeface="Noto Sans"/>
              <a:sym typeface="Noto Sans"/>
            </a:endParaRPr>
          </a:p>
        </p:txBody>
      </p:sp>
      <p:sp>
        <p:nvSpPr>
          <p:cNvPr id="491" name="Google Shape;491;p16"/>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17"/>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데이터와 기술 선택: 역할에 맞게 저장소를 분리</a:t>
            </a:r>
            <a:endParaRPr b="0" i="0" sz="2700" u="none" cap="none" strike="noStrike">
              <a:solidFill>
                <a:schemeClr val="dk1"/>
              </a:solidFill>
              <a:latin typeface="Noto Sans"/>
              <a:ea typeface="Noto Sans"/>
              <a:cs typeface="Noto Sans"/>
              <a:sym typeface="Noto Sans"/>
            </a:endParaRPr>
          </a:p>
        </p:txBody>
      </p:sp>
      <p:sp>
        <p:nvSpPr>
          <p:cNvPr id="498" name="Google Shape;498;p17"/>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서비스 데이터, 브라우저 세션 상태, 파일과 법률 검색 데이터를 서로 다른 수명주기에 맞춰 관리합니다.</a:t>
            </a:r>
            <a:endParaRPr b="0" i="0" sz="1450" u="none" cap="none" strike="noStrike">
              <a:solidFill>
                <a:schemeClr val="dk1"/>
              </a:solidFill>
              <a:latin typeface="Noto Sans"/>
              <a:ea typeface="Noto Sans"/>
              <a:cs typeface="Noto Sans"/>
              <a:sym typeface="Noto Sans"/>
            </a:endParaRPr>
          </a:p>
        </p:txBody>
      </p:sp>
      <p:sp>
        <p:nvSpPr>
          <p:cNvPr id="499" name="Google Shape;499;p17"/>
          <p:cNvSpPr/>
          <p:nvPr/>
        </p:nvSpPr>
        <p:spPr>
          <a:xfrm>
            <a:off x="658368" y="1847088"/>
            <a:ext cx="1353312" cy="530352"/>
          </a:xfrm>
          <a:prstGeom prst="rect">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7"/>
          <p:cNvSpPr/>
          <p:nvPr/>
        </p:nvSpPr>
        <p:spPr>
          <a:xfrm>
            <a:off x="713232" y="1993392"/>
            <a:ext cx="1243584"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70"/>
              <a:buFont typeface="Noto Sans"/>
              <a:buNone/>
            </a:pPr>
            <a:r>
              <a:rPr b="1" i="0" lang="en-US" sz="1470" u="none" cap="none" strike="noStrike">
                <a:solidFill>
                  <a:srgbClr val="FFFFFF"/>
                </a:solidFill>
                <a:latin typeface="Noto Sans"/>
                <a:ea typeface="Noto Sans"/>
                <a:cs typeface="Noto Sans"/>
                <a:sym typeface="Noto Sans"/>
              </a:rPr>
              <a:t>영역</a:t>
            </a:r>
            <a:endParaRPr b="0" i="0" sz="1470" u="none" cap="none" strike="noStrike">
              <a:solidFill>
                <a:schemeClr val="dk1"/>
              </a:solidFill>
              <a:latin typeface="Noto Sans"/>
              <a:ea typeface="Noto Sans"/>
              <a:cs typeface="Noto Sans"/>
              <a:sym typeface="Noto Sans"/>
            </a:endParaRPr>
          </a:p>
        </p:txBody>
      </p:sp>
      <p:sp>
        <p:nvSpPr>
          <p:cNvPr id="501" name="Google Shape;501;p17"/>
          <p:cNvSpPr/>
          <p:nvPr/>
        </p:nvSpPr>
        <p:spPr>
          <a:xfrm>
            <a:off x="2103120" y="1847088"/>
            <a:ext cx="2560320" cy="530352"/>
          </a:xfrm>
          <a:prstGeom prst="rect">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7"/>
          <p:cNvSpPr/>
          <p:nvPr/>
        </p:nvSpPr>
        <p:spPr>
          <a:xfrm>
            <a:off x="2157984" y="1993392"/>
            <a:ext cx="245059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70"/>
              <a:buFont typeface="Noto Sans"/>
              <a:buNone/>
            </a:pPr>
            <a:r>
              <a:rPr b="1" i="0" lang="en-US" sz="1470" u="none" cap="none" strike="noStrike">
                <a:solidFill>
                  <a:srgbClr val="FFFFFF"/>
                </a:solidFill>
                <a:latin typeface="Noto Sans"/>
                <a:ea typeface="Noto Sans"/>
                <a:cs typeface="Noto Sans"/>
                <a:sym typeface="Noto Sans"/>
              </a:rPr>
              <a:t>주요 저장소 / 데이터</a:t>
            </a:r>
            <a:endParaRPr b="0" i="0" sz="1470" u="none" cap="none" strike="noStrike">
              <a:solidFill>
                <a:schemeClr val="dk1"/>
              </a:solidFill>
              <a:latin typeface="Noto Sans"/>
              <a:ea typeface="Noto Sans"/>
              <a:cs typeface="Noto Sans"/>
              <a:sym typeface="Noto Sans"/>
            </a:endParaRPr>
          </a:p>
        </p:txBody>
      </p:sp>
      <p:sp>
        <p:nvSpPr>
          <p:cNvPr id="503" name="Google Shape;503;p17"/>
          <p:cNvSpPr/>
          <p:nvPr/>
        </p:nvSpPr>
        <p:spPr>
          <a:xfrm>
            <a:off x="4754880" y="1847088"/>
            <a:ext cx="3401568" cy="530352"/>
          </a:xfrm>
          <a:prstGeom prst="rect">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7"/>
          <p:cNvSpPr/>
          <p:nvPr/>
        </p:nvSpPr>
        <p:spPr>
          <a:xfrm>
            <a:off x="4809744" y="1993392"/>
            <a:ext cx="329184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70"/>
              <a:buFont typeface="Noto Sans"/>
              <a:buNone/>
            </a:pPr>
            <a:r>
              <a:rPr b="1" i="0" lang="en-US" sz="1470" u="none" cap="none" strike="noStrike">
                <a:solidFill>
                  <a:srgbClr val="FFFFFF"/>
                </a:solidFill>
                <a:latin typeface="Noto Sans"/>
                <a:ea typeface="Noto Sans"/>
                <a:cs typeface="Noto Sans"/>
                <a:sym typeface="Noto Sans"/>
              </a:rPr>
              <a:t>서비스에서의 역할</a:t>
            </a:r>
            <a:endParaRPr b="0" i="0" sz="1470" u="none" cap="none" strike="noStrike">
              <a:solidFill>
                <a:schemeClr val="dk1"/>
              </a:solidFill>
              <a:latin typeface="Noto Sans"/>
              <a:ea typeface="Noto Sans"/>
              <a:cs typeface="Noto Sans"/>
              <a:sym typeface="Noto Sans"/>
            </a:endParaRPr>
          </a:p>
        </p:txBody>
      </p:sp>
      <p:sp>
        <p:nvSpPr>
          <p:cNvPr id="505" name="Google Shape;505;p17"/>
          <p:cNvSpPr/>
          <p:nvPr/>
        </p:nvSpPr>
        <p:spPr>
          <a:xfrm>
            <a:off x="8275320" y="1847088"/>
            <a:ext cx="3246120" cy="530352"/>
          </a:xfrm>
          <a:prstGeom prst="rect">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7"/>
          <p:cNvSpPr/>
          <p:nvPr/>
        </p:nvSpPr>
        <p:spPr>
          <a:xfrm>
            <a:off x="8330184" y="1993392"/>
            <a:ext cx="313639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70"/>
              <a:buFont typeface="Noto Sans"/>
              <a:buNone/>
            </a:pPr>
            <a:r>
              <a:rPr b="1" i="0" lang="en-US" sz="1470" u="none" cap="none" strike="noStrike">
                <a:solidFill>
                  <a:srgbClr val="FFFFFF"/>
                </a:solidFill>
                <a:latin typeface="Noto Sans"/>
                <a:ea typeface="Noto Sans"/>
                <a:cs typeface="Noto Sans"/>
                <a:sym typeface="Noto Sans"/>
              </a:rPr>
              <a:t>기술 / 특징</a:t>
            </a:r>
            <a:endParaRPr b="0" i="0" sz="1470" u="none" cap="none" strike="noStrike">
              <a:solidFill>
                <a:schemeClr val="dk1"/>
              </a:solidFill>
              <a:latin typeface="Noto Sans"/>
              <a:ea typeface="Noto Sans"/>
              <a:cs typeface="Noto Sans"/>
              <a:sym typeface="Noto Sans"/>
            </a:endParaRPr>
          </a:p>
        </p:txBody>
      </p:sp>
      <p:sp>
        <p:nvSpPr>
          <p:cNvPr id="507" name="Google Shape;507;p17"/>
          <p:cNvSpPr/>
          <p:nvPr/>
        </p:nvSpPr>
        <p:spPr>
          <a:xfrm>
            <a:off x="658368" y="2377440"/>
            <a:ext cx="1353312" cy="704088"/>
          </a:xfrm>
          <a:prstGeom prst="rect">
            <a:avLst/>
          </a:prstGeom>
          <a:solidFill>
            <a:srgbClr val="FFFFFF"/>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7"/>
          <p:cNvSpPr/>
          <p:nvPr/>
        </p:nvSpPr>
        <p:spPr>
          <a:xfrm>
            <a:off x="2103120" y="2377440"/>
            <a:ext cx="2560320" cy="704088"/>
          </a:xfrm>
          <a:prstGeom prst="rect">
            <a:avLst/>
          </a:prstGeom>
          <a:solidFill>
            <a:srgbClr val="FFFFFF"/>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7"/>
          <p:cNvSpPr/>
          <p:nvPr/>
        </p:nvSpPr>
        <p:spPr>
          <a:xfrm>
            <a:off x="4754880" y="2377440"/>
            <a:ext cx="3401568" cy="704088"/>
          </a:xfrm>
          <a:prstGeom prst="rect">
            <a:avLst/>
          </a:prstGeom>
          <a:solidFill>
            <a:srgbClr val="FFFFFF"/>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7"/>
          <p:cNvSpPr/>
          <p:nvPr/>
        </p:nvSpPr>
        <p:spPr>
          <a:xfrm>
            <a:off x="8275320" y="2377440"/>
            <a:ext cx="3246120" cy="704088"/>
          </a:xfrm>
          <a:prstGeom prst="rect">
            <a:avLst/>
          </a:prstGeom>
          <a:solidFill>
            <a:srgbClr val="FFFFFF"/>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7"/>
          <p:cNvSpPr/>
          <p:nvPr/>
        </p:nvSpPr>
        <p:spPr>
          <a:xfrm>
            <a:off x="731520" y="2478024"/>
            <a:ext cx="1207008" cy="457200"/>
          </a:xfrm>
          <a:prstGeom prst="rect">
            <a:avLst/>
          </a:prstGeom>
          <a:noFill/>
          <a:ln>
            <a:noFill/>
          </a:ln>
        </p:spPr>
        <p:txBody>
          <a:bodyPr anchorCtr="0" anchor="ctr" bIns="125" lIns="125" spcFirstLastPara="1" rIns="125" wrap="square" tIns="125">
            <a:normAutofit/>
          </a:bodyPr>
          <a:lstStyle/>
          <a:p>
            <a:pPr indent="0" lvl="0" marL="0" marR="0" rtl="0" algn="ctr">
              <a:spcBef>
                <a:spcPts val="0"/>
              </a:spcBef>
              <a:spcAft>
                <a:spcPts val="0"/>
              </a:spcAft>
              <a:buClr>
                <a:srgbClr val="2298E8"/>
              </a:buClr>
              <a:buSzPts val="1450"/>
              <a:buFont typeface="Noto Sans"/>
              <a:buNone/>
            </a:pPr>
            <a:r>
              <a:rPr b="1" i="0" lang="en-US" sz="1450" u="none" cap="none" strike="noStrike">
                <a:solidFill>
                  <a:srgbClr val="2298E8"/>
                </a:solidFill>
                <a:latin typeface="Noto Sans"/>
                <a:ea typeface="Noto Sans"/>
                <a:cs typeface="Noto Sans"/>
                <a:sym typeface="Noto Sans"/>
              </a:rPr>
              <a:t>지도/거래</a:t>
            </a:r>
            <a:endParaRPr b="0" i="0" sz="1450" u="none" cap="none" strike="noStrike">
              <a:solidFill>
                <a:schemeClr val="dk1"/>
              </a:solidFill>
              <a:latin typeface="Noto Sans"/>
              <a:ea typeface="Noto Sans"/>
              <a:cs typeface="Noto Sans"/>
              <a:sym typeface="Noto Sans"/>
            </a:endParaRPr>
          </a:p>
        </p:txBody>
      </p:sp>
      <p:sp>
        <p:nvSpPr>
          <p:cNvPr id="512" name="Google Shape;512;p17"/>
          <p:cNvSpPr/>
          <p:nvPr/>
        </p:nvSpPr>
        <p:spPr>
          <a:xfrm>
            <a:off x="2176272" y="2478024"/>
            <a:ext cx="2414016"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390"/>
              <a:buFont typeface="Noto Sans"/>
              <a:buNone/>
            </a:pPr>
            <a:r>
              <a:rPr b="0" i="0" lang="en-US" sz="1390" u="none" cap="none" strike="noStrike">
                <a:solidFill>
                  <a:srgbClr val="17324D"/>
                </a:solidFill>
                <a:latin typeface="Noto Sans"/>
                <a:ea typeface="Noto Sans"/>
                <a:cs typeface="Noto Sans"/>
                <a:sym typeface="Noto Sans"/>
              </a:rPr>
              <a:t>properties, poi</a:t>
            </a:r>
            <a:endParaRPr b="0" i="0" sz="1390" u="none" cap="none" strike="noStrike">
              <a:solidFill>
                <a:schemeClr val="dk1"/>
              </a:solidFill>
              <a:latin typeface="Noto Sans"/>
              <a:ea typeface="Noto Sans"/>
              <a:cs typeface="Noto Sans"/>
              <a:sym typeface="Noto Sans"/>
            </a:endParaRPr>
          </a:p>
        </p:txBody>
      </p:sp>
      <p:sp>
        <p:nvSpPr>
          <p:cNvPr id="513" name="Google Shape;513;p17"/>
          <p:cNvSpPr/>
          <p:nvPr/>
        </p:nvSpPr>
        <p:spPr>
          <a:xfrm>
            <a:off x="4828032" y="2478024"/>
            <a:ext cx="3255264"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390"/>
              <a:buFont typeface="Noto Sans"/>
              <a:buNone/>
            </a:pPr>
            <a:r>
              <a:rPr b="0" i="0" lang="en-US" sz="1390" u="none" cap="none" strike="noStrike">
                <a:solidFill>
                  <a:srgbClr val="17324D"/>
                </a:solidFill>
                <a:latin typeface="Noto Sans"/>
                <a:ea typeface="Noto Sans"/>
                <a:cs typeface="Noto Sans"/>
                <a:sym typeface="Noto Sans"/>
              </a:rPr>
              <a:t>매물·POI·가격 이력, AI Tool 검색</a:t>
            </a:r>
            <a:endParaRPr b="0" i="0" sz="1390" u="none" cap="none" strike="noStrike">
              <a:solidFill>
                <a:schemeClr val="dk1"/>
              </a:solidFill>
              <a:latin typeface="Noto Sans"/>
              <a:ea typeface="Noto Sans"/>
              <a:cs typeface="Noto Sans"/>
              <a:sym typeface="Noto Sans"/>
            </a:endParaRPr>
          </a:p>
        </p:txBody>
      </p:sp>
      <p:sp>
        <p:nvSpPr>
          <p:cNvPr id="514" name="Google Shape;514;p17"/>
          <p:cNvSpPr/>
          <p:nvPr/>
        </p:nvSpPr>
        <p:spPr>
          <a:xfrm>
            <a:off x="8348472" y="2478024"/>
            <a:ext cx="3099816"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390"/>
              <a:buFont typeface="Noto Sans"/>
              <a:buNone/>
            </a:pPr>
            <a:r>
              <a:rPr b="0" i="0" lang="en-US" sz="1390" u="none" cap="none" strike="noStrike">
                <a:solidFill>
                  <a:srgbClr val="17324D"/>
                </a:solidFill>
                <a:latin typeface="Noto Sans"/>
                <a:ea typeface="Noto Sans"/>
                <a:cs typeface="Noto Sans"/>
                <a:sym typeface="Noto Sans"/>
              </a:rPr>
              <a:t>MySQL 호환 JDBC / fallback JSON</a:t>
            </a:r>
            <a:endParaRPr b="0" i="0" sz="1390" u="none" cap="none" strike="noStrike">
              <a:solidFill>
                <a:schemeClr val="dk1"/>
              </a:solidFill>
              <a:latin typeface="Noto Sans"/>
              <a:ea typeface="Noto Sans"/>
              <a:cs typeface="Noto Sans"/>
              <a:sym typeface="Noto Sans"/>
            </a:endParaRPr>
          </a:p>
        </p:txBody>
      </p:sp>
      <p:sp>
        <p:nvSpPr>
          <p:cNvPr id="515" name="Google Shape;515;p17"/>
          <p:cNvSpPr/>
          <p:nvPr/>
        </p:nvSpPr>
        <p:spPr>
          <a:xfrm>
            <a:off x="658368" y="3081528"/>
            <a:ext cx="1353312" cy="704088"/>
          </a:xfrm>
          <a:prstGeom prst="rect">
            <a:avLst/>
          </a:prstGeom>
          <a:solidFill>
            <a:srgbClr val="F2F7FB"/>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7"/>
          <p:cNvSpPr/>
          <p:nvPr/>
        </p:nvSpPr>
        <p:spPr>
          <a:xfrm>
            <a:off x="2103120" y="3081528"/>
            <a:ext cx="2560320" cy="704088"/>
          </a:xfrm>
          <a:prstGeom prst="rect">
            <a:avLst/>
          </a:prstGeom>
          <a:solidFill>
            <a:srgbClr val="F2F7FB"/>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7"/>
          <p:cNvSpPr/>
          <p:nvPr/>
        </p:nvSpPr>
        <p:spPr>
          <a:xfrm>
            <a:off x="4754880" y="3081528"/>
            <a:ext cx="3401568" cy="704088"/>
          </a:xfrm>
          <a:prstGeom prst="rect">
            <a:avLst/>
          </a:prstGeom>
          <a:solidFill>
            <a:srgbClr val="F2F7FB"/>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7"/>
          <p:cNvSpPr/>
          <p:nvPr/>
        </p:nvSpPr>
        <p:spPr>
          <a:xfrm>
            <a:off x="8275320" y="3081528"/>
            <a:ext cx="3246120" cy="704088"/>
          </a:xfrm>
          <a:prstGeom prst="rect">
            <a:avLst/>
          </a:prstGeom>
          <a:solidFill>
            <a:srgbClr val="F2F7FB"/>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7"/>
          <p:cNvSpPr/>
          <p:nvPr/>
        </p:nvSpPr>
        <p:spPr>
          <a:xfrm>
            <a:off x="731520" y="3182112"/>
            <a:ext cx="1207008" cy="457200"/>
          </a:xfrm>
          <a:prstGeom prst="rect">
            <a:avLst/>
          </a:prstGeom>
          <a:noFill/>
          <a:ln>
            <a:noFill/>
          </a:ln>
        </p:spPr>
        <p:txBody>
          <a:bodyPr anchorCtr="0" anchor="ctr" bIns="125" lIns="125" spcFirstLastPara="1" rIns="125" wrap="square" tIns="125">
            <a:normAutofit/>
          </a:bodyPr>
          <a:lstStyle/>
          <a:p>
            <a:pPr indent="0" lvl="0" marL="0" marR="0" rtl="0" algn="ctr">
              <a:spcBef>
                <a:spcPts val="0"/>
              </a:spcBef>
              <a:spcAft>
                <a:spcPts val="0"/>
              </a:spcAft>
              <a:buClr>
                <a:srgbClr val="20B5A5"/>
              </a:buClr>
              <a:buSzPts val="1450"/>
              <a:buFont typeface="Noto Sans"/>
              <a:buNone/>
            </a:pPr>
            <a:r>
              <a:rPr b="1" i="0" lang="en-US" sz="1450" u="none" cap="none" strike="noStrike">
                <a:solidFill>
                  <a:srgbClr val="20B5A5"/>
                </a:solidFill>
                <a:latin typeface="Noto Sans"/>
                <a:ea typeface="Noto Sans"/>
                <a:cs typeface="Noto Sans"/>
                <a:sym typeface="Noto Sans"/>
              </a:rPr>
              <a:t>회원/등록</a:t>
            </a:r>
            <a:endParaRPr b="0" i="0" sz="1450" u="none" cap="none" strike="noStrike">
              <a:solidFill>
                <a:schemeClr val="dk1"/>
              </a:solidFill>
              <a:latin typeface="Noto Sans"/>
              <a:ea typeface="Noto Sans"/>
              <a:cs typeface="Noto Sans"/>
              <a:sym typeface="Noto Sans"/>
            </a:endParaRPr>
          </a:p>
        </p:txBody>
      </p:sp>
      <p:sp>
        <p:nvSpPr>
          <p:cNvPr id="520" name="Google Shape;520;p17"/>
          <p:cNvSpPr/>
          <p:nvPr/>
        </p:nvSpPr>
        <p:spPr>
          <a:xfrm>
            <a:off x="2176272" y="3182112"/>
            <a:ext cx="2414016"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390"/>
              <a:buFont typeface="Noto Sans"/>
              <a:buNone/>
            </a:pPr>
            <a:r>
              <a:rPr b="0" i="0" lang="en-US" sz="1390" u="none" cap="none" strike="noStrike">
                <a:solidFill>
                  <a:srgbClr val="17324D"/>
                </a:solidFill>
                <a:latin typeface="Noto Sans"/>
                <a:ea typeface="Noto Sans"/>
                <a:cs typeface="Noto Sans"/>
                <a:sym typeface="Noto Sans"/>
              </a:rPr>
              <a:t>member, member_property, inquiry</a:t>
            </a:r>
            <a:endParaRPr b="0" i="0" sz="1390" u="none" cap="none" strike="noStrike">
              <a:solidFill>
                <a:schemeClr val="dk1"/>
              </a:solidFill>
              <a:latin typeface="Noto Sans"/>
              <a:ea typeface="Noto Sans"/>
              <a:cs typeface="Noto Sans"/>
              <a:sym typeface="Noto Sans"/>
            </a:endParaRPr>
          </a:p>
        </p:txBody>
      </p:sp>
      <p:sp>
        <p:nvSpPr>
          <p:cNvPr id="521" name="Google Shape;521;p17"/>
          <p:cNvSpPr/>
          <p:nvPr/>
        </p:nvSpPr>
        <p:spPr>
          <a:xfrm>
            <a:off x="4828032" y="3182112"/>
            <a:ext cx="3255264"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390"/>
              <a:buFont typeface="Noto Sans"/>
              <a:buNone/>
            </a:pPr>
            <a:r>
              <a:rPr b="0" i="0" lang="en-US" sz="1390" u="none" cap="none" strike="noStrike">
                <a:solidFill>
                  <a:srgbClr val="17324D"/>
                </a:solidFill>
                <a:latin typeface="Noto Sans"/>
                <a:ea typeface="Noto Sans"/>
                <a:cs typeface="Noto Sans"/>
                <a:sym typeface="Noto Sans"/>
              </a:rPr>
              <a:t>로그인·등록·문의·관리자 심사</a:t>
            </a:r>
            <a:endParaRPr b="0" i="0" sz="1390" u="none" cap="none" strike="noStrike">
              <a:solidFill>
                <a:schemeClr val="dk1"/>
              </a:solidFill>
              <a:latin typeface="Noto Sans"/>
              <a:ea typeface="Noto Sans"/>
              <a:cs typeface="Noto Sans"/>
              <a:sym typeface="Noto Sans"/>
            </a:endParaRPr>
          </a:p>
        </p:txBody>
      </p:sp>
      <p:sp>
        <p:nvSpPr>
          <p:cNvPr id="522" name="Google Shape;522;p17"/>
          <p:cNvSpPr/>
          <p:nvPr/>
        </p:nvSpPr>
        <p:spPr>
          <a:xfrm>
            <a:off x="8348472" y="3182112"/>
            <a:ext cx="3099816"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390"/>
              <a:buFont typeface="Noto Sans"/>
              <a:buNone/>
            </a:pPr>
            <a:r>
              <a:rPr b="0" i="0" lang="en-US" sz="1390" u="none" cap="none" strike="noStrike">
                <a:solidFill>
                  <a:srgbClr val="17324D"/>
                </a:solidFill>
                <a:latin typeface="Noto Sans"/>
                <a:ea typeface="Noto Sans"/>
                <a:cs typeface="Noto Sans"/>
                <a:sym typeface="Noto Sans"/>
              </a:rPr>
              <a:t>Spring Data JDBC</a:t>
            </a:r>
            <a:endParaRPr b="0" i="0" sz="1390" u="none" cap="none" strike="noStrike">
              <a:solidFill>
                <a:schemeClr val="dk1"/>
              </a:solidFill>
              <a:latin typeface="Noto Sans"/>
              <a:ea typeface="Noto Sans"/>
              <a:cs typeface="Noto Sans"/>
              <a:sym typeface="Noto Sans"/>
            </a:endParaRPr>
          </a:p>
        </p:txBody>
      </p:sp>
      <p:sp>
        <p:nvSpPr>
          <p:cNvPr id="523" name="Google Shape;523;p17"/>
          <p:cNvSpPr/>
          <p:nvPr/>
        </p:nvSpPr>
        <p:spPr>
          <a:xfrm>
            <a:off x="658368" y="3785616"/>
            <a:ext cx="1353312" cy="704088"/>
          </a:xfrm>
          <a:prstGeom prst="rect">
            <a:avLst/>
          </a:prstGeom>
          <a:solidFill>
            <a:srgbClr val="FFFFFF"/>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7"/>
          <p:cNvSpPr/>
          <p:nvPr/>
        </p:nvSpPr>
        <p:spPr>
          <a:xfrm>
            <a:off x="2103120" y="3785616"/>
            <a:ext cx="2560320" cy="704088"/>
          </a:xfrm>
          <a:prstGeom prst="rect">
            <a:avLst/>
          </a:prstGeom>
          <a:solidFill>
            <a:srgbClr val="FFFFFF"/>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7"/>
          <p:cNvSpPr/>
          <p:nvPr/>
        </p:nvSpPr>
        <p:spPr>
          <a:xfrm>
            <a:off x="4754880" y="3785616"/>
            <a:ext cx="3401568" cy="704088"/>
          </a:xfrm>
          <a:prstGeom prst="rect">
            <a:avLst/>
          </a:prstGeom>
          <a:solidFill>
            <a:srgbClr val="FFFFFF"/>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7"/>
          <p:cNvSpPr/>
          <p:nvPr/>
        </p:nvSpPr>
        <p:spPr>
          <a:xfrm>
            <a:off x="8275320" y="3785616"/>
            <a:ext cx="3246120" cy="704088"/>
          </a:xfrm>
          <a:prstGeom prst="rect">
            <a:avLst/>
          </a:prstGeom>
          <a:solidFill>
            <a:srgbClr val="FFFFFF"/>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7"/>
          <p:cNvSpPr/>
          <p:nvPr/>
        </p:nvSpPr>
        <p:spPr>
          <a:xfrm>
            <a:off x="731520" y="3886200"/>
            <a:ext cx="1207008" cy="457200"/>
          </a:xfrm>
          <a:prstGeom prst="rect">
            <a:avLst/>
          </a:prstGeom>
          <a:noFill/>
          <a:ln>
            <a:noFill/>
          </a:ln>
        </p:spPr>
        <p:txBody>
          <a:bodyPr anchorCtr="0" anchor="ctr" bIns="125" lIns="125" spcFirstLastPara="1" rIns="125" wrap="square" tIns="125">
            <a:normAutofit/>
          </a:bodyPr>
          <a:lstStyle/>
          <a:p>
            <a:pPr indent="0" lvl="0" marL="0" marR="0" rtl="0" algn="ctr">
              <a:spcBef>
                <a:spcPts val="0"/>
              </a:spcBef>
              <a:spcAft>
                <a:spcPts val="0"/>
              </a:spcAft>
              <a:buClr>
                <a:srgbClr val="2298E8"/>
              </a:buClr>
              <a:buSzPts val="1450"/>
              <a:buFont typeface="Noto Sans"/>
              <a:buNone/>
            </a:pPr>
            <a:r>
              <a:rPr b="1" i="0" lang="en-US" sz="1450" u="none" cap="none" strike="noStrike">
                <a:solidFill>
                  <a:srgbClr val="2298E8"/>
                </a:solidFill>
                <a:latin typeface="Noto Sans"/>
                <a:ea typeface="Noto Sans"/>
                <a:cs typeface="Noto Sans"/>
                <a:sym typeface="Noto Sans"/>
              </a:rPr>
              <a:t>관심/대화</a:t>
            </a:r>
            <a:endParaRPr b="0" i="0" sz="1450" u="none" cap="none" strike="noStrike">
              <a:solidFill>
                <a:schemeClr val="dk1"/>
              </a:solidFill>
              <a:latin typeface="Noto Sans"/>
              <a:ea typeface="Noto Sans"/>
              <a:cs typeface="Noto Sans"/>
              <a:sym typeface="Noto Sans"/>
            </a:endParaRPr>
          </a:p>
        </p:txBody>
      </p:sp>
      <p:sp>
        <p:nvSpPr>
          <p:cNvPr id="528" name="Google Shape;528;p17"/>
          <p:cNvSpPr/>
          <p:nvPr/>
        </p:nvSpPr>
        <p:spPr>
          <a:xfrm>
            <a:off x="2176272" y="3886200"/>
            <a:ext cx="2414016"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390"/>
              <a:buFont typeface="Noto Sans"/>
              <a:buNone/>
            </a:pPr>
            <a:r>
              <a:rPr b="0" i="0" lang="en-US" sz="1390" u="none" cap="none" strike="noStrike">
                <a:solidFill>
                  <a:srgbClr val="17324D"/>
                </a:solidFill>
                <a:latin typeface="Noto Sans"/>
                <a:ea typeface="Noto Sans"/>
                <a:cs typeface="Noto Sans"/>
                <a:sym typeface="Noto Sans"/>
              </a:rPr>
              <a:t>sessionStorage + 브라우저 메모리</a:t>
            </a:r>
            <a:endParaRPr b="0" i="0" sz="1390" u="none" cap="none" strike="noStrike">
              <a:solidFill>
                <a:schemeClr val="dk1"/>
              </a:solidFill>
              <a:latin typeface="Noto Sans"/>
              <a:ea typeface="Noto Sans"/>
              <a:cs typeface="Noto Sans"/>
              <a:sym typeface="Noto Sans"/>
            </a:endParaRPr>
          </a:p>
        </p:txBody>
      </p:sp>
      <p:sp>
        <p:nvSpPr>
          <p:cNvPr id="529" name="Google Shape;529;p17"/>
          <p:cNvSpPr/>
          <p:nvPr/>
        </p:nvSpPr>
        <p:spPr>
          <a:xfrm>
            <a:off x="4828032" y="3886200"/>
            <a:ext cx="3255264"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390"/>
              <a:buFont typeface="Noto Sans"/>
              <a:buNone/>
            </a:pPr>
            <a:r>
              <a:rPr b="0" i="0" lang="en-US" sz="1390" u="none" cap="none" strike="noStrike">
                <a:solidFill>
                  <a:srgbClr val="17324D"/>
                </a:solidFill>
                <a:latin typeface="Noto Sans"/>
                <a:ea typeface="Noto Sans"/>
                <a:cs typeface="Noto Sans"/>
                <a:sym typeface="Noto Sans"/>
              </a:rPr>
              <a:t>관심매물 ID, 지도 viewport, 최근 대화</a:t>
            </a:r>
            <a:endParaRPr b="0" i="0" sz="1390" u="none" cap="none" strike="noStrike">
              <a:solidFill>
                <a:schemeClr val="dk1"/>
              </a:solidFill>
              <a:latin typeface="Noto Sans"/>
              <a:ea typeface="Noto Sans"/>
              <a:cs typeface="Noto Sans"/>
              <a:sym typeface="Noto Sans"/>
            </a:endParaRPr>
          </a:p>
        </p:txBody>
      </p:sp>
      <p:sp>
        <p:nvSpPr>
          <p:cNvPr id="530" name="Google Shape;530;p17"/>
          <p:cNvSpPr/>
          <p:nvPr/>
        </p:nvSpPr>
        <p:spPr>
          <a:xfrm>
            <a:off x="8348472" y="3886200"/>
            <a:ext cx="3099816"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390"/>
              <a:buFont typeface="Noto Sans"/>
              <a:buNone/>
            </a:pPr>
            <a:r>
              <a:rPr b="0" i="0" lang="en-US" sz="1390" u="none" cap="none" strike="noStrike">
                <a:solidFill>
                  <a:srgbClr val="17324D"/>
                </a:solidFill>
                <a:latin typeface="Noto Sans"/>
                <a:ea typeface="Noto Sans"/>
                <a:cs typeface="Noto Sans"/>
                <a:sym typeface="Noto Sans"/>
              </a:rPr>
              <a:t>세션 중심 / 서버 DB 미저장</a:t>
            </a:r>
            <a:endParaRPr b="0" i="0" sz="1390" u="none" cap="none" strike="noStrike">
              <a:solidFill>
                <a:schemeClr val="dk1"/>
              </a:solidFill>
              <a:latin typeface="Noto Sans"/>
              <a:ea typeface="Noto Sans"/>
              <a:cs typeface="Noto Sans"/>
              <a:sym typeface="Noto Sans"/>
            </a:endParaRPr>
          </a:p>
        </p:txBody>
      </p:sp>
      <p:sp>
        <p:nvSpPr>
          <p:cNvPr id="531" name="Google Shape;531;p17"/>
          <p:cNvSpPr/>
          <p:nvPr/>
        </p:nvSpPr>
        <p:spPr>
          <a:xfrm>
            <a:off x="658368" y="4489704"/>
            <a:ext cx="1353312" cy="704088"/>
          </a:xfrm>
          <a:prstGeom prst="rect">
            <a:avLst/>
          </a:prstGeom>
          <a:solidFill>
            <a:srgbClr val="F2F7FB"/>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7"/>
          <p:cNvSpPr/>
          <p:nvPr/>
        </p:nvSpPr>
        <p:spPr>
          <a:xfrm>
            <a:off x="2103120" y="4489704"/>
            <a:ext cx="2560320" cy="704088"/>
          </a:xfrm>
          <a:prstGeom prst="rect">
            <a:avLst/>
          </a:prstGeom>
          <a:solidFill>
            <a:srgbClr val="F2F7FB"/>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7"/>
          <p:cNvSpPr/>
          <p:nvPr/>
        </p:nvSpPr>
        <p:spPr>
          <a:xfrm>
            <a:off x="4754880" y="4489704"/>
            <a:ext cx="3401568" cy="704088"/>
          </a:xfrm>
          <a:prstGeom prst="rect">
            <a:avLst/>
          </a:prstGeom>
          <a:solidFill>
            <a:srgbClr val="F2F7FB"/>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7"/>
          <p:cNvSpPr/>
          <p:nvPr/>
        </p:nvSpPr>
        <p:spPr>
          <a:xfrm>
            <a:off x="8275320" y="4489704"/>
            <a:ext cx="3246120" cy="704088"/>
          </a:xfrm>
          <a:prstGeom prst="rect">
            <a:avLst/>
          </a:prstGeom>
          <a:solidFill>
            <a:srgbClr val="F2F7FB"/>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7"/>
          <p:cNvSpPr/>
          <p:nvPr/>
        </p:nvSpPr>
        <p:spPr>
          <a:xfrm>
            <a:off x="731520" y="4590288"/>
            <a:ext cx="1207008" cy="457200"/>
          </a:xfrm>
          <a:prstGeom prst="rect">
            <a:avLst/>
          </a:prstGeom>
          <a:noFill/>
          <a:ln>
            <a:noFill/>
          </a:ln>
        </p:spPr>
        <p:txBody>
          <a:bodyPr anchorCtr="0" anchor="ctr" bIns="125" lIns="125" spcFirstLastPara="1" rIns="125" wrap="square" tIns="125">
            <a:normAutofit/>
          </a:bodyPr>
          <a:lstStyle/>
          <a:p>
            <a:pPr indent="0" lvl="0" marL="0" marR="0" rtl="0" algn="ctr">
              <a:spcBef>
                <a:spcPts val="0"/>
              </a:spcBef>
              <a:spcAft>
                <a:spcPts val="0"/>
              </a:spcAft>
              <a:buClr>
                <a:srgbClr val="20B5A5"/>
              </a:buClr>
              <a:buSzPts val="1450"/>
              <a:buFont typeface="Noto Sans"/>
              <a:buNone/>
            </a:pPr>
            <a:r>
              <a:rPr b="1" i="0" lang="en-US" sz="1450" u="none" cap="none" strike="noStrike">
                <a:solidFill>
                  <a:srgbClr val="20B5A5"/>
                </a:solidFill>
                <a:latin typeface="Noto Sans"/>
                <a:ea typeface="Noto Sans"/>
                <a:cs typeface="Noto Sans"/>
                <a:sym typeface="Noto Sans"/>
              </a:rPr>
              <a:t>사진/서류</a:t>
            </a:r>
            <a:endParaRPr b="0" i="0" sz="1450" u="none" cap="none" strike="noStrike">
              <a:solidFill>
                <a:schemeClr val="dk1"/>
              </a:solidFill>
              <a:latin typeface="Noto Sans"/>
              <a:ea typeface="Noto Sans"/>
              <a:cs typeface="Noto Sans"/>
              <a:sym typeface="Noto Sans"/>
            </a:endParaRPr>
          </a:p>
        </p:txBody>
      </p:sp>
      <p:sp>
        <p:nvSpPr>
          <p:cNvPr id="536" name="Google Shape;536;p17"/>
          <p:cNvSpPr/>
          <p:nvPr/>
        </p:nvSpPr>
        <p:spPr>
          <a:xfrm>
            <a:off x="2176272" y="4590288"/>
            <a:ext cx="2414016"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390"/>
              <a:buFont typeface="Noto Sans"/>
              <a:buNone/>
            </a:pPr>
            <a:r>
              <a:rPr b="0" i="0" lang="en-US" sz="1390" u="none" cap="none" strike="noStrike">
                <a:solidFill>
                  <a:srgbClr val="17324D"/>
                </a:solidFill>
                <a:latin typeface="Noto Sans"/>
                <a:ea typeface="Noto Sans"/>
                <a:cs typeface="Noto Sans"/>
                <a:sym typeface="Noto Sans"/>
              </a:rPr>
              <a:t>Supabase Storage</a:t>
            </a:r>
            <a:endParaRPr b="0" i="0" sz="1390" u="none" cap="none" strike="noStrike">
              <a:solidFill>
                <a:schemeClr val="dk1"/>
              </a:solidFill>
              <a:latin typeface="Noto Sans"/>
              <a:ea typeface="Noto Sans"/>
              <a:cs typeface="Noto Sans"/>
              <a:sym typeface="Noto Sans"/>
            </a:endParaRPr>
          </a:p>
        </p:txBody>
      </p:sp>
      <p:sp>
        <p:nvSpPr>
          <p:cNvPr id="537" name="Google Shape;537;p17"/>
          <p:cNvSpPr/>
          <p:nvPr/>
        </p:nvSpPr>
        <p:spPr>
          <a:xfrm>
            <a:off x="4828032" y="4590288"/>
            <a:ext cx="3255264"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390"/>
              <a:buFont typeface="Noto Sans"/>
              <a:buNone/>
            </a:pPr>
            <a:r>
              <a:rPr b="0" i="0" lang="en-US" sz="1390" u="none" cap="none" strike="noStrike">
                <a:solidFill>
                  <a:srgbClr val="17324D"/>
                </a:solidFill>
                <a:latin typeface="Noto Sans"/>
                <a:ea typeface="Noto Sans"/>
                <a:cs typeface="Noto Sans"/>
                <a:sym typeface="Noto Sans"/>
              </a:rPr>
              <a:t>등록 사진·소유 관련 서류</a:t>
            </a:r>
            <a:endParaRPr b="0" i="0" sz="1390" u="none" cap="none" strike="noStrike">
              <a:solidFill>
                <a:schemeClr val="dk1"/>
              </a:solidFill>
              <a:latin typeface="Noto Sans"/>
              <a:ea typeface="Noto Sans"/>
              <a:cs typeface="Noto Sans"/>
              <a:sym typeface="Noto Sans"/>
            </a:endParaRPr>
          </a:p>
        </p:txBody>
      </p:sp>
      <p:sp>
        <p:nvSpPr>
          <p:cNvPr id="538" name="Google Shape;538;p17"/>
          <p:cNvSpPr/>
          <p:nvPr/>
        </p:nvSpPr>
        <p:spPr>
          <a:xfrm>
            <a:off x="8348472" y="4590288"/>
            <a:ext cx="3099816"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390"/>
              <a:buFont typeface="Noto Sans"/>
              <a:buNone/>
            </a:pPr>
            <a:r>
              <a:rPr b="0" i="0" lang="en-US" sz="1390" u="none" cap="none" strike="noStrike">
                <a:solidFill>
                  <a:srgbClr val="17324D"/>
                </a:solidFill>
                <a:latin typeface="Noto Sans"/>
                <a:ea typeface="Noto Sans"/>
                <a:cs typeface="Noto Sans"/>
                <a:sym typeface="Noto Sans"/>
              </a:rPr>
              <a:t>DB에는 경로·메타데이터 저장</a:t>
            </a:r>
            <a:endParaRPr b="0" i="0" sz="1390" u="none" cap="none" strike="noStrike">
              <a:solidFill>
                <a:schemeClr val="dk1"/>
              </a:solidFill>
              <a:latin typeface="Noto Sans"/>
              <a:ea typeface="Noto Sans"/>
              <a:cs typeface="Noto Sans"/>
              <a:sym typeface="Noto Sans"/>
            </a:endParaRPr>
          </a:p>
        </p:txBody>
      </p:sp>
      <p:sp>
        <p:nvSpPr>
          <p:cNvPr id="539" name="Google Shape;539;p17"/>
          <p:cNvSpPr/>
          <p:nvPr/>
        </p:nvSpPr>
        <p:spPr>
          <a:xfrm>
            <a:off x="658368" y="5193792"/>
            <a:ext cx="1353312" cy="704088"/>
          </a:xfrm>
          <a:prstGeom prst="rect">
            <a:avLst/>
          </a:prstGeom>
          <a:solidFill>
            <a:srgbClr val="FFFFFF"/>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7"/>
          <p:cNvSpPr/>
          <p:nvPr/>
        </p:nvSpPr>
        <p:spPr>
          <a:xfrm>
            <a:off x="2103120" y="5193792"/>
            <a:ext cx="2560320" cy="704088"/>
          </a:xfrm>
          <a:prstGeom prst="rect">
            <a:avLst/>
          </a:prstGeom>
          <a:solidFill>
            <a:srgbClr val="FFFFFF"/>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7"/>
          <p:cNvSpPr/>
          <p:nvPr/>
        </p:nvSpPr>
        <p:spPr>
          <a:xfrm>
            <a:off x="4754880" y="5193792"/>
            <a:ext cx="3401568" cy="704088"/>
          </a:xfrm>
          <a:prstGeom prst="rect">
            <a:avLst/>
          </a:prstGeom>
          <a:solidFill>
            <a:srgbClr val="FFFFFF"/>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7"/>
          <p:cNvSpPr/>
          <p:nvPr/>
        </p:nvSpPr>
        <p:spPr>
          <a:xfrm>
            <a:off x="8275320" y="5193792"/>
            <a:ext cx="3246120" cy="704088"/>
          </a:xfrm>
          <a:prstGeom prst="rect">
            <a:avLst/>
          </a:prstGeom>
          <a:solidFill>
            <a:srgbClr val="FFFFFF"/>
          </a:solidFill>
          <a:ln cap="flat" cmpd="sng" w="10150">
            <a:solidFill>
              <a:srgbClr val="DDE6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7"/>
          <p:cNvSpPr/>
          <p:nvPr/>
        </p:nvSpPr>
        <p:spPr>
          <a:xfrm>
            <a:off x="731520" y="5294376"/>
            <a:ext cx="1207008" cy="457200"/>
          </a:xfrm>
          <a:prstGeom prst="rect">
            <a:avLst/>
          </a:prstGeom>
          <a:noFill/>
          <a:ln>
            <a:noFill/>
          </a:ln>
        </p:spPr>
        <p:txBody>
          <a:bodyPr anchorCtr="0" anchor="ctr" bIns="125" lIns="125" spcFirstLastPara="1" rIns="125" wrap="square" tIns="125">
            <a:normAutofit/>
          </a:bodyPr>
          <a:lstStyle/>
          <a:p>
            <a:pPr indent="0" lvl="0" marL="0" marR="0" rtl="0" algn="ctr">
              <a:spcBef>
                <a:spcPts val="0"/>
              </a:spcBef>
              <a:spcAft>
                <a:spcPts val="0"/>
              </a:spcAft>
              <a:buClr>
                <a:srgbClr val="2298E8"/>
              </a:buClr>
              <a:buSzPts val="1450"/>
              <a:buFont typeface="Noto Sans"/>
              <a:buNone/>
            </a:pPr>
            <a:r>
              <a:rPr b="1" i="0" lang="en-US" sz="1450" u="none" cap="none" strike="noStrike">
                <a:solidFill>
                  <a:srgbClr val="2298E8"/>
                </a:solidFill>
                <a:latin typeface="Noto Sans"/>
                <a:ea typeface="Noto Sans"/>
                <a:cs typeface="Noto Sans"/>
                <a:sym typeface="Noto Sans"/>
              </a:rPr>
              <a:t>법률</a:t>
            </a:r>
            <a:endParaRPr b="0" i="0" sz="1450" u="none" cap="none" strike="noStrike">
              <a:solidFill>
                <a:schemeClr val="dk1"/>
              </a:solidFill>
              <a:latin typeface="Noto Sans"/>
              <a:ea typeface="Noto Sans"/>
              <a:cs typeface="Noto Sans"/>
              <a:sym typeface="Noto Sans"/>
            </a:endParaRPr>
          </a:p>
        </p:txBody>
      </p:sp>
      <p:sp>
        <p:nvSpPr>
          <p:cNvPr id="544" name="Google Shape;544;p17"/>
          <p:cNvSpPr/>
          <p:nvPr/>
        </p:nvSpPr>
        <p:spPr>
          <a:xfrm>
            <a:off x="2176272" y="5294376"/>
            <a:ext cx="2414016"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390"/>
              <a:buFont typeface="Noto Sans"/>
              <a:buNone/>
            </a:pPr>
            <a:r>
              <a:rPr b="0" i="0" lang="en-US" sz="1390" u="none" cap="none" strike="noStrike">
                <a:solidFill>
                  <a:srgbClr val="17324D"/>
                </a:solidFill>
                <a:latin typeface="Noto Sans"/>
                <a:ea typeface="Noto Sans"/>
                <a:cs typeface="Noto Sans"/>
                <a:sym typeface="Noto Sans"/>
              </a:rPr>
              <a:t>OpenAI Vector Store</a:t>
            </a:r>
            <a:endParaRPr b="0" i="0" sz="1390" u="none" cap="none" strike="noStrike">
              <a:solidFill>
                <a:schemeClr val="dk1"/>
              </a:solidFill>
              <a:latin typeface="Noto Sans"/>
              <a:ea typeface="Noto Sans"/>
              <a:cs typeface="Noto Sans"/>
              <a:sym typeface="Noto Sans"/>
            </a:endParaRPr>
          </a:p>
        </p:txBody>
      </p:sp>
      <p:sp>
        <p:nvSpPr>
          <p:cNvPr id="545" name="Google Shape;545;p17"/>
          <p:cNvSpPr/>
          <p:nvPr/>
        </p:nvSpPr>
        <p:spPr>
          <a:xfrm>
            <a:off x="4828032" y="5294376"/>
            <a:ext cx="3255264"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390"/>
              <a:buFont typeface="Noto Sans"/>
              <a:buNone/>
            </a:pPr>
            <a:r>
              <a:rPr b="0" i="0" lang="en-US" sz="1390" u="none" cap="none" strike="noStrike">
                <a:solidFill>
                  <a:srgbClr val="17324D"/>
                </a:solidFill>
                <a:latin typeface="Noto Sans"/>
                <a:ea typeface="Noto Sans"/>
                <a:cs typeface="Noto Sans"/>
                <a:sym typeface="Noto Sans"/>
              </a:rPr>
              <a:t>조문별 Markdown 검색 + metadata filter</a:t>
            </a:r>
            <a:endParaRPr b="0" i="0" sz="1390" u="none" cap="none" strike="noStrike">
              <a:solidFill>
                <a:schemeClr val="dk1"/>
              </a:solidFill>
              <a:latin typeface="Noto Sans"/>
              <a:ea typeface="Noto Sans"/>
              <a:cs typeface="Noto Sans"/>
              <a:sym typeface="Noto Sans"/>
            </a:endParaRPr>
          </a:p>
        </p:txBody>
      </p:sp>
      <p:sp>
        <p:nvSpPr>
          <p:cNvPr id="546" name="Google Shape;546;p17"/>
          <p:cNvSpPr/>
          <p:nvPr/>
        </p:nvSpPr>
        <p:spPr>
          <a:xfrm>
            <a:off x="8348472" y="5294376"/>
            <a:ext cx="3099816"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390"/>
              <a:buFont typeface="Noto Sans"/>
              <a:buNone/>
            </a:pPr>
            <a:r>
              <a:rPr b="0" i="0" lang="en-US" sz="1390" u="none" cap="none" strike="noStrike">
                <a:solidFill>
                  <a:srgbClr val="17324D"/>
                </a:solidFill>
                <a:latin typeface="Noto Sans"/>
                <a:ea typeface="Noto Sans"/>
                <a:cs typeface="Noto Sans"/>
                <a:sym typeface="Noto Sans"/>
              </a:rPr>
              <a:t>국가법령정보센터 corpus 기반</a:t>
            </a:r>
            <a:endParaRPr b="0" i="0" sz="1390" u="none" cap="none" strike="noStrike">
              <a:solidFill>
                <a:schemeClr val="dk1"/>
              </a:solidFill>
              <a:latin typeface="Noto Sans"/>
              <a:ea typeface="Noto Sans"/>
              <a:cs typeface="Noto Sans"/>
              <a:sym typeface="Noto Sans"/>
            </a:endParaRPr>
          </a:p>
        </p:txBody>
      </p:sp>
      <p:sp>
        <p:nvSpPr>
          <p:cNvPr id="547" name="Google Shape;547;p17"/>
          <p:cNvSpPr/>
          <p:nvPr/>
        </p:nvSpPr>
        <p:spPr>
          <a:xfrm>
            <a:off x="777240" y="6053328"/>
            <a:ext cx="10652760" cy="530352"/>
          </a:xfrm>
          <a:prstGeom prst="roundRect">
            <a:avLst>
              <a:gd fmla="val 10345" name="adj"/>
            </a:avLst>
          </a:prstGeom>
          <a:solidFill>
            <a:srgbClr val="103354"/>
          </a:solidFill>
          <a:ln cap="flat" cmpd="sng" w="12700">
            <a:solidFill>
              <a:srgbClr val="10335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7"/>
          <p:cNvSpPr/>
          <p:nvPr/>
        </p:nvSpPr>
        <p:spPr>
          <a:xfrm>
            <a:off x="1005840" y="6163056"/>
            <a:ext cx="10195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50"/>
              <a:buFont typeface="Noto Sans"/>
              <a:buNone/>
            </a:pPr>
            <a:r>
              <a:rPr b="1" i="0" lang="en-US" sz="1650" u="none" cap="none" strike="noStrike">
                <a:solidFill>
                  <a:srgbClr val="FFFFFF"/>
                </a:solidFill>
                <a:latin typeface="Noto Sans"/>
                <a:ea typeface="Noto Sans"/>
                <a:cs typeface="Noto Sans"/>
                <a:sym typeface="Noto Sans"/>
              </a:rPr>
              <a:t>핵심 · 서비스 데이터, 브라우저 상태, 파일 Storage, 검색용 Vector Store를 목적과 수명주기에 맞게 분리</a:t>
            </a:r>
            <a:endParaRPr b="0" i="0" sz="1650" u="none" cap="none" strike="noStrike">
              <a:solidFill>
                <a:schemeClr val="dk1"/>
              </a:solidFill>
              <a:latin typeface="Noto Sans"/>
              <a:ea typeface="Noto Sans"/>
              <a:cs typeface="Noto Sans"/>
              <a:sym typeface="Noto Sans"/>
            </a:endParaRPr>
          </a:p>
        </p:txBody>
      </p:sp>
      <p:sp>
        <p:nvSpPr>
          <p:cNvPr id="549" name="Google Shape;549;p17"/>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18"/>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검증 결과: 기능 연결과 대화 흐름을 반복 확인</a:t>
            </a:r>
            <a:endParaRPr b="0" i="0" sz="2700" u="none" cap="none" strike="noStrike">
              <a:solidFill>
                <a:schemeClr val="dk1"/>
              </a:solidFill>
              <a:latin typeface="Noto Sans"/>
              <a:ea typeface="Noto Sans"/>
              <a:cs typeface="Noto Sans"/>
              <a:sym typeface="Noto Sans"/>
            </a:endParaRPr>
          </a:p>
        </p:txBody>
      </p:sp>
      <p:sp>
        <p:nvSpPr>
          <p:cNvPr id="556" name="Google Shape;556;p18"/>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Agent·Multi-turn·법률 RAG를 별도 회귀와 hold-out으로 검증해 핵심 동작 경로를 확인했습니다.</a:t>
            </a:r>
            <a:endParaRPr b="0" i="0" sz="1450" u="none" cap="none" strike="noStrike">
              <a:solidFill>
                <a:schemeClr val="dk1"/>
              </a:solidFill>
              <a:latin typeface="Noto Sans"/>
              <a:ea typeface="Noto Sans"/>
              <a:cs typeface="Noto Sans"/>
              <a:sym typeface="Noto Sans"/>
            </a:endParaRPr>
          </a:p>
        </p:txBody>
      </p:sp>
      <p:sp>
        <p:nvSpPr>
          <p:cNvPr id="557" name="Google Shape;557;p18"/>
          <p:cNvSpPr/>
          <p:nvPr/>
        </p:nvSpPr>
        <p:spPr>
          <a:xfrm>
            <a:off x="713232" y="1975104"/>
            <a:ext cx="3401568" cy="2084832"/>
          </a:xfrm>
          <a:prstGeom prst="roundRect">
            <a:avLst>
              <a:gd fmla="val 3509"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8"/>
          <p:cNvSpPr/>
          <p:nvPr/>
        </p:nvSpPr>
        <p:spPr>
          <a:xfrm>
            <a:off x="713232" y="1975104"/>
            <a:ext cx="73152" cy="2084832"/>
          </a:xfrm>
          <a:prstGeom prst="rect">
            <a:avLst/>
          </a:prstGeom>
          <a:solidFill>
            <a:srgbClr val="2298E8"/>
          </a:solidFill>
          <a:ln cap="flat" cmpd="sng" w="12700">
            <a:solidFill>
              <a:srgbClr val="2298E8">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8"/>
          <p:cNvSpPr/>
          <p:nvPr/>
        </p:nvSpPr>
        <p:spPr>
          <a:xfrm>
            <a:off x="896112" y="2139696"/>
            <a:ext cx="303580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850"/>
              <a:buFont typeface="Noto Sans"/>
              <a:buNone/>
            </a:pPr>
            <a:r>
              <a:rPr b="1" i="0" lang="en-US" sz="1850" u="none" cap="none" strike="noStrike">
                <a:solidFill>
                  <a:srgbClr val="17324D"/>
                </a:solidFill>
                <a:latin typeface="Noto Sans"/>
                <a:ea typeface="Noto Sans"/>
                <a:cs typeface="Noto Sans"/>
                <a:sym typeface="Noto Sans"/>
              </a:rPr>
              <a:t>Agent 통합 회귀</a:t>
            </a:r>
            <a:endParaRPr b="0" i="0" sz="1850" u="none" cap="none" strike="noStrike">
              <a:solidFill>
                <a:schemeClr val="dk1"/>
              </a:solidFill>
              <a:latin typeface="Noto Sans"/>
              <a:ea typeface="Noto Sans"/>
              <a:cs typeface="Noto Sans"/>
              <a:sym typeface="Noto Sans"/>
            </a:endParaRPr>
          </a:p>
        </p:txBody>
      </p:sp>
      <p:sp>
        <p:nvSpPr>
          <p:cNvPr id="560" name="Google Shape;560;p18"/>
          <p:cNvSpPr/>
          <p:nvPr/>
        </p:nvSpPr>
        <p:spPr>
          <a:xfrm>
            <a:off x="896112" y="2542032"/>
            <a:ext cx="3035808" cy="13716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7324D"/>
              </a:buClr>
              <a:buSzPts val="2200"/>
              <a:buFont typeface="Noto Sans"/>
              <a:buNone/>
            </a:pPr>
            <a:r>
              <a:rPr b="0" i="0" lang="en-US" sz="2200" u="none" cap="none" strike="noStrike">
                <a:solidFill>
                  <a:srgbClr val="17324D"/>
                </a:solidFill>
                <a:latin typeface="Noto Sans"/>
                <a:ea typeface="Noto Sans"/>
                <a:cs typeface="Noto Sans"/>
                <a:sym typeface="Noto Sans"/>
              </a:rPr>
              <a:t>30 / 30</a:t>
            </a:r>
            <a:endParaRPr b="0" i="0" sz="22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2200"/>
              <a:buFont typeface="Noto Sans"/>
              <a:buNone/>
            </a:pPr>
            <a:r>
              <a:rPr b="0" i="0" lang="en-US" sz="2200" u="none" cap="none" strike="noStrike">
                <a:solidFill>
                  <a:srgbClr val="17324D"/>
                </a:solidFill>
                <a:latin typeface="Noto Sans"/>
                <a:ea typeface="Noto Sans"/>
                <a:cs typeface="Noto Sans"/>
                <a:sym typeface="Noto Sans"/>
              </a:rPr>
              <a:t>정상 완료</a:t>
            </a:r>
            <a:endParaRPr b="0" i="0" sz="22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chemeClr val="dk1"/>
              </a:buClr>
              <a:buSzPts val="2200"/>
              <a:buFont typeface="Noto Sans"/>
              <a:buNone/>
            </a:pPr>
            <a:r>
              <a:t/>
            </a:r>
            <a:endParaRPr b="0" i="0" sz="22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2200"/>
              <a:buFont typeface="Noto Sans"/>
              <a:buNone/>
            </a:pPr>
            <a:r>
              <a:rPr b="0" i="0" lang="en-US" sz="2200" u="none" cap="none" strike="noStrike">
                <a:solidFill>
                  <a:srgbClr val="17324D"/>
                </a:solidFill>
                <a:latin typeface="Noto Sans"/>
                <a:ea typeface="Noto Sans"/>
                <a:cs typeface="Noto Sans"/>
                <a:sym typeface="Noto Sans"/>
              </a:rPr>
              <a:t>Tool-loop 오류 0</a:t>
            </a:r>
            <a:endParaRPr b="0" i="0" sz="22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2200"/>
              <a:buFont typeface="Noto Sans"/>
              <a:buNone/>
            </a:pPr>
            <a:r>
              <a:rPr b="0" i="0" lang="en-US" sz="2200" u="none" cap="none" strike="noStrike">
                <a:solidFill>
                  <a:srgbClr val="17324D"/>
                </a:solidFill>
                <a:latin typeface="Noto Sans"/>
                <a:ea typeface="Noto Sans"/>
                <a:cs typeface="Noto Sans"/>
                <a:sym typeface="Noto Sans"/>
              </a:rPr>
              <a:t>Action schema 오류 0</a:t>
            </a:r>
            <a:endParaRPr b="0" i="0" sz="2200" u="none" cap="none" strike="noStrike">
              <a:solidFill>
                <a:schemeClr val="dk1"/>
              </a:solidFill>
              <a:latin typeface="Noto Sans"/>
              <a:ea typeface="Noto Sans"/>
              <a:cs typeface="Noto Sans"/>
              <a:sym typeface="Noto Sans"/>
            </a:endParaRPr>
          </a:p>
        </p:txBody>
      </p:sp>
      <p:sp>
        <p:nvSpPr>
          <p:cNvPr id="561" name="Google Shape;561;p18"/>
          <p:cNvSpPr/>
          <p:nvPr/>
        </p:nvSpPr>
        <p:spPr>
          <a:xfrm>
            <a:off x="4389120" y="1975104"/>
            <a:ext cx="3401568" cy="2084832"/>
          </a:xfrm>
          <a:prstGeom prst="roundRect">
            <a:avLst>
              <a:gd fmla="val 3509"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8"/>
          <p:cNvSpPr/>
          <p:nvPr/>
        </p:nvSpPr>
        <p:spPr>
          <a:xfrm>
            <a:off x="4389120" y="1975104"/>
            <a:ext cx="73152" cy="2084832"/>
          </a:xfrm>
          <a:prstGeom prst="rect">
            <a:avLst/>
          </a:prstGeom>
          <a:solidFill>
            <a:srgbClr val="20B5A5"/>
          </a:solidFill>
          <a:ln cap="flat" cmpd="sng" w="12700">
            <a:solidFill>
              <a:srgbClr val="20B5A5">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8"/>
          <p:cNvSpPr/>
          <p:nvPr/>
        </p:nvSpPr>
        <p:spPr>
          <a:xfrm>
            <a:off x="4572000" y="2139696"/>
            <a:ext cx="303580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850"/>
              <a:buFont typeface="Noto Sans"/>
              <a:buNone/>
            </a:pPr>
            <a:r>
              <a:rPr b="1" i="0" lang="en-US" sz="1850" u="none" cap="none" strike="noStrike">
                <a:solidFill>
                  <a:srgbClr val="17324D"/>
                </a:solidFill>
                <a:latin typeface="Noto Sans"/>
                <a:ea typeface="Noto Sans"/>
                <a:cs typeface="Noto Sans"/>
                <a:sym typeface="Noto Sans"/>
              </a:rPr>
              <a:t>Multi-turn smoke</a:t>
            </a:r>
            <a:endParaRPr b="0" i="0" sz="1850" u="none" cap="none" strike="noStrike">
              <a:solidFill>
                <a:schemeClr val="dk1"/>
              </a:solidFill>
              <a:latin typeface="Noto Sans"/>
              <a:ea typeface="Noto Sans"/>
              <a:cs typeface="Noto Sans"/>
              <a:sym typeface="Noto Sans"/>
            </a:endParaRPr>
          </a:p>
        </p:txBody>
      </p:sp>
      <p:sp>
        <p:nvSpPr>
          <p:cNvPr id="564" name="Google Shape;564;p18"/>
          <p:cNvSpPr/>
          <p:nvPr/>
        </p:nvSpPr>
        <p:spPr>
          <a:xfrm>
            <a:off x="4572000" y="2542032"/>
            <a:ext cx="3035808" cy="13716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7324D"/>
              </a:buClr>
              <a:buSzPts val="2000"/>
              <a:buFont typeface="Noto Sans"/>
              <a:buNone/>
            </a:pPr>
            <a:r>
              <a:rPr b="0" i="0" lang="en-US" sz="2000" u="none" cap="none" strike="noStrike">
                <a:solidFill>
                  <a:srgbClr val="17324D"/>
                </a:solidFill>
                <a:latin typeface="Noto Sans"/>
                <a:ea typeface="Noto Sans"/>
                <a:cs typeface="Noto Sans"/>
                <a:sym typeface="Noto Sans"/>
              </a:rPr>
              <a:t>6 turns</a:t>
            </a:r>
            <a:endParaRPr b="0" i="0" sz="20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2000"/>
              <a:buFont typeface="Noto Sans"/>
              <a:buNone/>
            </a:pPr>
            <a:r>
              <a:rPr b="0" i="0" lang="en-US" sz="2000" u="none" cap="none" strike="noStrike">
                <a:solidFill>
                  <a:srgbClr val="17324D"/>
                </a:solidFill>
                <a:latin typeface="Noto Sans"/>
                <a:ea typeface="Noto Sans"/>
                <a:cs typeface="Noto Sans"/>
                <a:sym typeface="Noto Sans"/>
              </a:rPr>
              <a:t>Error 0</a:t>
            </a:r>
            <a:endParaRPr b="0" i="0" sz="20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chemeClr val="dk1"/>
              </a:buClr>
              <a:buSzPts val="2000"/>
              <a:buFont typeface="Noto Sans"/>
              <a:buNone/>
            </a:pPr>
            <a:r>
              <a:t/>
            </a:r>
            <a:endParaRPr b="0" i="0" sz="20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2000"/>
              <a:buFont typeface="Noto Sans"/>
              <a:buNone/>
            </a:pPr>
            <a:r>
              <a:rPr b="0" i="0" lang="en-US" sz="2000" u="none" cap="none" strike="noStrike">
                <a:solidFill>
                  <a:srgbClr val="17324D"/>
                </a:solidFill>
                <a:latin typeface="Noto Sans"/>
                <a:ea typeface="Noto Sans"/>
                <a:cs typeface="Noto Sans"/>
                <a:sym typeface="Noto Sans"/>
              </a:rPr>
              <a:t>최근 대화·매물 참조·</a:t>
            </a:r>
            <a:endParaRPr b="0" i="0" sz="20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2000"/>
              <a:buFont typeface="Noto Sans"/>
              <a:buNone/>
            </a:pPr>
            <a:r>
              <a:rPr b="0" i="0" lang="en-US" sz="2000" u="none" cap="none" strike="noStrike">
                <a:solidFill>
                  <a:srgbClr val="17324D"/>
                </a:solidFill>
                <a:latin typeface="Noto Sans"/>
                <a:ea typeface="Noto Sans"/>
                <a:cs typeface="Noto Sans"/>
                <a:sym typeface="Noto Sans"/>
              </a:rPr>
              <a:t>지도 이동 흐름 확인</a:t>
            </a:r>
            <a:endParaRPr b="0" i="0" sz="2000" u="none" cap="none" strike="noStrike">
              <a:solidFill>
                <a:schemeClr val="dk1"/>
              </a:solidFill>
              <a:latin typeface="Noto Sans"/>
              <a:ea typeface="Noto Sans"/>
              <a:cs typeface="Noto Sans"/>
              <a:sym typeface="Noto Sans"/>
            </a:endParaRPr>
          </a:p>
        </p:txBody>
      </p:sp>
      <p:sp>
        <p:nvSpPr>
          <p:cNvPr id="565" name="Google Shape;565;p18"/>
          <p:cNvSpPr/>
          <p:nvPr/>
        </p:nvSpPr>
        <p:spPr>
          <a:xfrm>
            <a:off x="8065008" y="1975104"/>
            <a:ext cx="3401568" cy="2084832"/>
          </a:xfrm>
          <a:prstGeom prst="roundRect">
            <a:avLst>
              <a:gd fmla="val 3509" name="adj"/>
            </a:avLst>
          </a:prstGeom>
          <a:solidFill>
            <a:srgbClr val="FFFFFF"/>
          </a:solidFill>
          <a:ln cap="flat" cmpd="sng" w="12700">
            <a:solidFill>
              <a:srgbClr val="D9E3EC"/>
            </a:solidFill>
            <a:prstDash val="solid"/>
            <a:round/>
            <a:headEnd len="sm" w="sm" type="none"/>
            <a:tailEnd len="sm" w="sm" type="none"/>
          </a:ln>
          <a:effectLst>
            <a:outerShdw blurRad="19050" rotWithShape="0" algn="bl" dir="2700000" dist="50800">
              <a:srgbClr val="C7D3DF">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8"/>
          <p:cNvSpPr/>
          <p:nvPr/>
        </p:nvSpPr>
        <p:spPr>
          <a:xfrm>
            <a:off x="8065008" y="1975104"/>
            <a:ext cx="73152" cy="2084832"/>
          </a:xfrm>
          <a:prstGeom prst="rect">
            <a:avLst/>
          </a:prstGeom>
          <a:solidFill>
            <a:srgbClr val="0C2846"/>
          </a:solidFill>
          <a:ln cap="flat" cmpd="sng" w="12700">
            <a:solidFill>
              <a:srgbClr val="0C2846">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8"/>
          <p:cNvSpPr/>
          <p:nvPr/>
        </p:nvSpPr>
        <p:spPr>
          <a:xfrm>
            <a:off x="8247888" y="2139696"/>
            <a:ext cx="303580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7324D"/>
              </a:buClr>
              <a:buSzPts val="1850"/>
              <a:buFont typeface="Noto Sans"/>
              <a:buNone/>
            </a:pPr>
            <a:r>
              <a:rPr b="1" i="0" lang="en-US" sz="1850" u="none" cap="none" strike="noStrike">
                <a:solidFill>
                  <a:srgbClr val="17324D"/>
                </a:solidFill>
                <a:latin typeface="Noto Sans"/>
                <a:ea typeface="Noto Sans"/>
                <a:cs typeface="Noto Sans"/>
                <a:sym typeface="Noto Sans"/>
              </a:rPr>
              <a:t>2025 법률 Hold-out</a:t>
            </a:r>
            <a:endParaRPr b="0" i="0" sz="1850" u="none" cap="none" strike="noStrike">
              <a:solidFill>
                <a:schemeClr val="dk1"/>
              </a:solidFill>
              <a:latin typeface="Noto Sans"/>
              <a:ea typeface="Noto Sans"/>
              <a:cs typeface="Noto Sans"/>
              <a:sym typeface="Noto Sans"/>
            </a:endParaRPr>
          </a:p>
        </p:txBody>
      </p:sp>
      <p:sp>
        <p:nvSpPr>
          <p:cNvPr id="568" name="Google Shape;568;p18"/>
          <p:cNvSpPr/>
          <p:nvPr/>
        </p:nvSpPr>
        <p:spPr>
          <a:xfrm>
            <a:off x="8247888" y="2542032"/>
            <a:ext cx="3035808" cy="1371600"/>
          </a:xfrm>
          <a:prstGeom prst="rect">
            <a:avLst/>
          </a:prstGeom>
          <a:noFill/>
          <a:ln>
            <a:noFill/>
          </a:ln>
        </p:spPr>
        <p:txBody>
          <a:bodyPr anchorCtr="0" anchor="ctr" bIns="250" lIns="250" spcFirstLastPara="1" rIns="250" wrap="square" tIns="250">
            <a:normAutofit/>
          </a:bodyPr>
          <a:lstStyle/>
          <a:p>
            <a:pPr indent="0" lvl="0" marL="0" marR="0" rtl="0" algn="ctr">
              <a:spcBef>
                <a:spcPts val="0"/>
              </a:spcBef>
              <a:spcAft>
                <a:spcPts val="0"/>
              </a:spcAft>
              <a:buClr>
                <a:srgbClr val="17324D"/>
              </a:buClr>
              <a:buSzPts val="2000"/>
              <a:buFont typeface="Noto Sans"/>
              <a:buNone/>
            </a:pPr>
            <a:r>
              <a:rPr b="0" i="0" lang="en-US" sz="2000" u="none" cap="none" strike="noStrike">
                <a:solidFill>
                  <a:srgbClr val="17324D"/>
                </a:solidFill>
                <a:latin typeface="Noto Sans"/>
                <a:ea typeface="Noto Sans"/>
                <a:cs typeface="Noto Sans"/>
                <a:sym typeface="Noto Sans"/>
              </a:rPr>
              <a:t>36 / 40</a:t>
            </a:r>
            <a:endParaRPr b="0" i="0" sz="20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2000"/>
              <a:buFont typeface="Noto Sans"/>
              <a:buNone/>
            </a:pPr>
            <a:r>
              <a:rPr b="0" i="0" lang="en-US" sz="2000" u="none" cap="none" strike="noStrike">
                <a:solidFill>
                  <a:srgbClr val="17324D"/>
                </a:solidFill>
                <a:latin typeface="Noto Sans"/>
                <a:ea typeface="Noto Sans"/>
                <a:cs typeface="Noto Sans"/>
                <a:sym typeface="Noto Sans"/>
              </a:rPr>
              <a:t>Overall 90.0%</a:t>
            </a:r>
            <a:endParaRPr b="0" i="0" sz="20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chemeClr val="dk1"/>
              </a:buClr>
              <a:buSzPts val="2000"/>
              <a:buFont typeface="Noto Sans"/>
              <a:buNone/>
            </a:pPr>
            <a:r>
              <a:t/>
            </a:r>
            <a:endParaRPr b="0" i="0" sz="20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2000"/>
              <a:buFont typeface="Noto Sans"/>
              <a:buNone/>
            </a:pPr>
            <a:r>
              <a:rPr b="0" i="0" lang="en-US" sz="2000" u="none" cap="none" strike="noStrike">
                <a:solidFill>
                  <a:srgbClr val="17324D"/>
                </a:solidFill>
                <a:latin typeface="Noto Sans"/>
                <a:ea typeface="Noto Sans"/>
                <a:cs typeface="Noto Sans"/>
                <a:sym typeface="Noto Sans"/>
              </a:rPr>
              <a:t>Conditional 97.3%</a:t>
            </a:r>
            <a:endParaRPr b="0" i="0" sz="2000" u="none" cap="none" strike="noStrike">
              <a:solidFill>
                <a:schemeClr val="dk1"/>
              </a:solidFill>
              <a:latin typeface="Noto Sans"/>
              <a:ea typeface="Noto Sans"/>
              <a:cs typeface="Noto Sans"/>
              <a:sym typeface="Noto Sans"/>
            </a:endParaRPr>
          </a:p>
          <a:p>
            <a:pPr indent="0" lvl="0" marL="0" marR="0" rtl="0" algn="ctr">
              <a:spcBef>
                <a:spcPts val="0"/>
              </a:spcBef>
              <a:spcAft>
                <a:spcPts val="0"/>
              </a:spcAft>
              <a:buClr>
                <a:srgbClr val="17324D"/>
              </a:buClr>
              <a:buSzPts val="2000"/>
              <a:buFont typeface="Noto Sans"/>
              <a:buNone/>
            </a:pPr>
            <a:r>
              <a:rPr b="0" i="0" lang="en-US" sz="2000" u="none" cap="none" strike="noStrike">
                <a:solidFill>
                  <a:srgbClr val="17324D"/>
                </a:solidFill>
                <a:latin typeface="Noto Sans"/>
                <a:ea typeface="Noto Sans"/>
                <a:cs typeface="Noto Sans"/>
                <a:sym typeface="Noto Sans"/>
              </a:rPr>
              <a:t>첫 유효 run 기준</a:t>
            </a:r>
            <a:endParaRPr b="0" i="0" sz="2000" u="none" cap="none" strike="noStrike">
              <a:solidFill>
                <a:schemeClr val="dk1"/>
              </a:solidFill>
              <a:latin typeface="Noto Sans"/>
              <a:ea typeface="Noto Sans"/>
              <a:cs typeface="Noto Sans"/>
              <a:sym typeface="Noto Sans"/>
            </a:endParaRPr>
          </a:p>
        </p:txBody>
      </p:sp>
      <p:sp>
        <p:nvSpPr>
          <p:cNvPr id="569" name="Google Shape;569;p18"/>
          <p:cNvSpPr/>
          <p:nvPr/>
        </p:nvSpPr>
        <p:spPr>
          <a:xfrm>
            <a:off x="841248" y="4443984"/>
            <a:ext cx="10469880" cy="1005840"/>
          </a:xfrm>
          <a:prstGeom prst="roundRect">
            <a:avLst>
              <a:gd fmla="val 5455" name="adj"/>
            </a:avLst>
          </a:prstGeom>
          <a:solidFill>
            <a:srgbClr val="FFF4DF"/>
          </a:solidFill>
          <a:ln cap="flat" cmpd="sng" w="12700">
            <a:solidFill>
              <a:srgbClr val="F1D6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8"/>
          <p:cNvSpPr/>
          <p:nvPr/>
        </p:nvSpPr>
        <p:spPr>
          <a:xfrm>
            <a:off x="1078992" y="4645152"/>
            <a:ext cx="10515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8A21"/>
              </a:buClr>
              <a:buSzPts val="1650"/>
              <a:buFont typeface="Noto Sans"/>
              <a:buNone/>
            </a:pPr>
            <a:r>
              <a:rPr b="1" i="0" lang="en-US" sz="1650" u="none" cap="none" strike="noStrike">
                <a:solidFill>
                  <a:srgbClr val="D18A21"/>
                </a:solidFill>
                <a:latin typeface="Noto Sans"/>
                <a:ea typeface="Noto Sans"/>
                <a:cs typeface="Noto Sans"/>
                <a:sym typeface="Noto Sans"/>
              </a:rPr>
              <a:t>해석 원칙</a:t>
            </a:r>
            <a:endParaRPr b="0" i="0" sz="1650" u="none" cap="none" strike="noStrike">
              <a:solidFill>
                <a:schemeClr val="dk1"/>
              </a:solidFill>
              <a:latin typeface="Noto Sans"/>
              <a:ea typeface="Noto Sans"/>
              <a:cs typeface="Noto Sans"/>
              <a:sym typeface="Noto Sans"/>
            </a:endParaRPr>
          </a:p>
        </p:txBody>
      </p:sp>
      <p:sp>
        <p:nvSpPr>
          <p:cNvPr id="571" name="Google Shape;571;p18"/>
          <p:cNvSpPr/>
          <p:nvPr/>
        </p:nvSpPr>
        <p:spPr>
          <a:xfrm>
            <a:off x="2240280" y="4572000"/>
            <a:ext cx="8732520" cy="457200"/>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17324D"/>
              </a:buClr>
              <a:buSzPts val="1430"/>
              <a:buFont typeface="Noto Sans"/>
              <a:buNone/>
            </a:pPr>
            <a:r>
              <a:rPr b="0" i="0" lang="en-US" sz="1430" u="none" cap="none" strike="noStrike">
                <a:solidFill>
                  <a:srgbClr val="17324D"/>
                </a:solidFill>
                <a:latin typeface="Noto Sans"/>
                <a:ea typeface="Noto Sans"/>
                <a:cs typeface="Noto Sans"/>
                <a:sym typeface="Noto Sans"/>
              </a:rPr>
              <a:t>이 수치는 특정 실행 시점의 검증 결과이며, “법률 정확성 100%”나 “모든 현재 기능의 완전한 보장”을 의미하지 않습니다. Hold-out은 개발에 직접 사용하지 않은 질문에 대한 일반화 확인용입니다.</a:t>
            </a:r>
            <a:endParaRPr b="0" i="0" sz="1430" u="none" cap="none" strike="noStrike">
              <a:solidFill>
                <a:schemeClr val="dk1"/>
              </a:solidFill>
              <a:latin typeface="Noto Sans"/>
              <a:ea typeface="Noto Sans"/>
              <a:cs typeface="Noto Sans"/>
              <a:sym typeface="Noto Sans"/>
            </a:endParaRPr>
          </a:p>
        </p:txBody>
      </p:sp>
      <p:sp>
        <p:nvSpPr>
          <p:cNvPr id="572" name="Google Shape;572;p18"/>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9"/>
          <p:cNvSpPr/>
          <p:nvPr/>
        </p:nvSpPr>
        <p:spPr>
          <a:xfrm>
            <a:off x="566928" y="749808"/>
            <a:ext cx="8915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2700"/>
              <a:buFont typeface="Noto Sans"/>
              <a:buNone/>
            </a:pPr>
            <a:r>
              <a:rPr b="1" i="0" lang="en-US" sz="2700" u="none" cap="none" strike="noStrike">
                <a:solidFill>
                  <a:srgbClr val="17324D"/>
                </a:solidFill>
                <a:latin typeface="Noto Sans"/>
                <a:ea typeface="Noto Sans"/>
                <a:cs typeface="Noto Sans"/>
                <a:sym typeface="Noto Sans"/>
              </a:rPr>
              <a:t>하나의 사용자 여정으로 연결되는 서비스</a:t>
            </a:r>
            <a:endParaRPr b="0" i="0" sz="2700" u="none" cap="none" strike="noStrike">
              <a:solidFill>
                <a:schemeClr val="dk1"/>
              </a:solidFill>
              <a:latin typeface="Noto Sans"/>
              <a:ea typeface="Noto Sans"/>
              <a:cs typeface="Noto Sans"/>
              <a:sym typeface="Noto Sans"/>
            </a:endParaRPr>
          </a:p>
        </p:txBody>
      </p:sp>
      <p:sp>
        <p:nvSpPr>
          <p:cNvPr id="579" name="Google Shape;579;p19"/>
          <p:cNvSpPr/>
          <p:nvPr/>
        </p:nvSpPr>
        <p:spPr>
          <a:xfrm>
            <a:off x="585216" y="1298448"/>
            <a:ext cx="9784080" cy="411480"/>
          </a:xfrm>
          <a:prstGeom prst="rect">
            <a:avLst/>
          </a:prstGeom>
          <a:noFill/>
          <a:ln>
            <a:noFill/>
          </a:ln>
        </p:spPr>
        <p:txBody>
          <a:bodyPr anchorCtr="0" anchor="ctr" bIns="125" lIns="125" spcFirstLastPara="1" rIns="125" wrap="square" tIns="125">
            <a:noAutofit/>
          </a:bodyPr>
          <a:lstStyle/>
          <a:p>
            <a:pPr indent="0" lvl="0" marL="0" marR="0" rtl="0" algn="l">
              <a:spcBef>
                <a:spcPts val="0"/>
              </a:spcBef>
              <a:spcAft>
                <a:spcPts val="0"/>
              </a:spcAft>
              <a:buClr>
                <a:srgbClr val="64778A"/>
              </a:buClr>
              <a:buSzPts val="1450"/>
              <a:buFont typeface="Noto Sans"/>
              <a:buNone/>
            </a:pPr>
            <a:r>
              <a:rPr b="0" i="0" lang="en-US" sz="1450" u="none" cap="none" strike="noStrike">
                <a:solidFill>
                  <a:srgbClr val="64778A"/>
                </a:solidFill>
                <a:latin typeface="Noto Sans"/>
                <a:ea typeface="Noto Sans"/>
                <a:cs typeface="Noto Sans"/>
                <a:sym typeface="Noto Sans"/>
              </a:rPr>
              <a:t>각 페이지의 기능은 분리되어 있지만 실제 사용자는 한 흐름 안에서 탐색·질문·판단·등록을 이어갈 수 있습니다.</a:t>
            </a:r>
            <a:endParaRPr b="0" i="0" sz="1450" u="none" cap="none" strike="noStrike">
              <a:solidFill>
                <a:schemeClr val="dk1"/>
              </a:solidFill>
              <a:latin typeface="Noto Sans"/>
              <a:ea typeface="Noto Sans"/>
              <a:cs typeface="Noto Sans"/>
              <a:sym typeface="Noto Sans"/>
            </a:endParaRPr>
          </a:p>
        </p:txBody>
      </p:sp>
      <p:sp>
        <p:nvSpPr>
          <p:cNvPr id="580" name="Google Shape;580;p19"/>
          <p:cNvSpPr/>
          <p:nvPr/>
        </p:nvSpPr>
        <p:spPr>
          <a:xfrm>
            <a:off x="749808" y="1847088"/>
            <a:ext cx="5010912" cy="969264"/>
          </a:xfrm>
          <a:prstGeom prst="roundRect">
            <a:avLst>
              <a:gd fmla="val 5660" name="adj"/>
            </a:avLst>
          </a:prstGeom>
          <a:solidFill>
            <a:srgbClr val="EAF5FD"/>
          </a:solidFill>
          <a:ln cap="flat" cmpd="sng" w="12700">
            <a:solidFill>
              <a:srgbClr val="C9E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9"/>
          <p:cNvSpPr/>
          <p:nvPr/>
        </p:nvSpPr>
        <p:spPr>
          <a:xfrm>
            <a:off x="914400" y="2121408"/>
            <a:ext cx="43891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98E8"/>
              </a:buClr>
              <a:buSzPts val="1520"/>
              <a:buFont typeface="Noto Sans"/>
              <a:buNone/>
            </a:pPr>
            <a:r>
              <a:rPr b="1" i="0" lang="en-US" sz="1520" u="none" cap="none" strike="noStrike">
                <a:solidFill>
                  <a:srgbClr val="2298E8"/>
                </a:solidFill>
                <a:latin typeface="Noto Sans"/>
                <a:ea typeface="Noto Sans"/>
                <a:cs typeface="Noto Sans"/>
                <a:sym typeface="Noto Sans"/>
              </a:rPr>
              <a:t>01</a:t>
            </a:r>
            <a:endParaRPr b="0" i="0" sz="1520" u="none" cap="none" strike="noStrike">
              <a:solidFill>
                <a:schemeClr val="dk1"/>
              </a:solidFill>
              <a:latin typeface="Noto Sans"/>
              <a:ea typeface="Noto Sans"/>
              <a:cs typeface="Noto Sans"/>
              <a:sym typeface="Noto Sans"/>
            </a:endParaRPr>
          </a:p>
        </p:txBody>
      </p:sp>
      <p:sp>
        <p:nvSpPr>
          <p:cNvPr id="582" name="Google Shape;582;p19"/>
          <p:cNvSpPr/>
          <p:nvPr/>
        </p:nvSpPr>
        <p:spPr>
          <a:xfrm>
            <a:off x="1499616" y="2029968"/>
            <a:ext cx="135331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800"/>
              <a:buFont typeface="Noto Sans"/>
              <a:buNone/>
            </a:pPr>
            <a:r>
              <a:rPr b="1" i="0" lang="en-US" sz="1800" u="none" cap="none" strike="noStrike">
                <a:solidFill>
                  <a:srgbClr val="17324D"/>
                </a:solidFill>
                <a:latin typeface="Noto Sans"/>
                <a:ea typeface="Noto Sans"/>
                <a:cs typeface="Noto Sans"/>
                <a:sym typeface="Noto Sans"/>
              </a:rPr>
              <a:t>홈</a:t>
            </a:r>
            <a:endParaRPr b="0" i="0" sz="1800" u="none" cap="none" strike="noStrike">
              <a:solidFill>
                <a:schemeClr val="dk1"/>
              </a:solidFill>
              <a:latin typeface="Noto Sans"/>
              <a:ea typeface="Noto Sans"/>
              <a:cs typeface="Noto Sans"/>
              <a:sym typeface="Noto Sans"/>
            </a:endParaRPr>
          </a:p>
        </p:txBody>
      </p:sp>
      <p:sp>
        <p:nvSpPr>
          <p:cNvPr id="583" name="Google Shape;583;p19"/>
          <p:cNvSpPr/>
          <p:nvPr/>
        </p:nvSpPr>
        <p:spPr>
          <a:xfrm>
            <a:off x="2898648" y="2011680"/>
            <a:ext cx="2578608" cy="384048"/>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64778A"/>
              </a:buClr>
              <a:buSzPts val="1440"/>
              <a:buFont typeface="Noto Sans"/>
              <a:buNone/>
            </a:pPr>
            <a:r>
              <a:rPr b="0" i="0" lang="en-US" sz="1440" u="none" cap="none" strike="noStrike">
                <a:solidFill>
                  <a:srgbClr val="64778A"/>
                </a:solidFill>
                <a:latin typeface="Noto Sans"/>
                <a:ea typeface="Noto Sans"/>
                <a:cs typeface="Noto Sans"/>
                <a:sym typeface="Noto Sans"/>
              </a:rPr>
              <a:t>서비스 소개와 주요 기능 진입</a:t>
            </a:r>
            <a:endParaRPr b="0" i="0" sz="1440" u="none" cap="none" strike="noStrike">
              <a:solidFill>
                <a:schemeClr val="dk1"/>
              </a:solidFill>
              <a:latin typeface="Noto Sans"/>
              <a:ea typeface="Noto Sans"/>
              <a:cs typeface="Noto Sans"/>
              <a:sym typeface="Noto Sans"/>
            </a:endParaRPr>
          </a:p>
        </p:txBody>
      </p:sp>
      <p:sp>
        <p:nvSpPr>
          <p:cNvPr id="584" name="Google Shape;584;p19"/>
          <p:cNvSpPr/>
          <p:nvPr/>
        </p:nvSpPr>
        <p:spPr>
          <a:xfrm>
            <a:off x="749808" y="3072384"/>
            <a:ext cx="5010912" cy="969264"/>
          </a:xfrm>
          <a:prstGeom prst="roundRect">
            <a:avLst>
              <a:gd fmla="val 5660" name="adj"/>
            </a:avLst>
          </a:prstGeom>
          <a:solidFill>
            <a:srgbClr val="EAF9F6"/>
          </a:solidFill>
          <a:ln cap="flat" cmpd="sng" w="12700">
            <a:solidFill>
              <a:srgbClr val="C3ED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9"/>
          <p:cNvSpPr/>
          <p:nvPr/>
        </p:nvSpPr>
        <p:spPr>
          <a:xfrm>
            <a:off x="914400" y="3346704"/>
            <a:ext cx="43891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B5A5"/>
              </a:buClr>
              <a:buSzPts val="1520"/>
              <a:buFont typeface="Noto Sans"/>
              <a:buNone/>
            </a:pPr>
            <a:r>
              <a:rPr b="1" i="0" lang="en-US" sz="1520" u="none" cap="none" strike="noStrike">
                <a:solidFill>
                  <a:srgbClr val="20B5A5"/>
                </a:solidFill>
                <a:latin typeface="Noto Sans"/>
                <a:ea typeface="Noto Sans"/>
                <a:cs typeface="Noto Sans"/>
                <a:sym typeface="Noto Sans"/>
              </a:rPr>
              <a:t>02</a:t>
            </a:r>
            <a:endParaRPr b="0" i="0" sz="1520" u="none" cap="none" strike="noStrike">
              <a:solidFill>
                <a:schemeClr val="dk1"/>
              </a:solidFill>
              <a:latin typeface="Noto Sans"/>
              <a:ea typeface="Noto Sans"/>
              <a:cs typeface="Noto Sans"/>
              <a:sym typeface="Noto Sans"/>
            </a:endParaRPr>
          </a:p>
        </p:txBody>
      </p:sp>
      <p:sp>
        <p:nvSpPr>
          <p:cNvPr id="586" name="Google Shape;586;p19"/>
          <p:cNvSpPr/>
          <p:nvPr/>
        </p:nvSpPr>
        <p:spPr>
          <a:xfrm>
            <a:off x="1499616" y="3255264"/>
            <a:ext cx="135331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800"/>
              <a:buFont typeface="Noto Sans"/>
              <a:buNone/>
            </a:pPr>
            <a:r>
              <a:rPr b="1" i="0" lang="en-US" sz="1800" u="none" cap="none" strike="noStrike">
                <a:solidFill>
                  <a:srgbClr val="17324D"/>
                </a:solidFill>
                <a:latin typeface="Noto Sans"/>
                <a:ea typeface="Noto Sans"/>
                <a:cs typeface="Noto Sans"/>
                <a:sym typeface="Noto Sans"/>
              </a:rPr>
              <a:t>지도 탐색</a:t>
            </a:r>
            <a:endParaRPr b="0" i="0" sz="1800" u="none" cap="none" strike="noStrike">
              <a:solidFill>
                <a:schemeClr val="dk1"/>
              </a:solidFill>
              <a:latin typeface="Noto Sans"/>
              <a:ea typeface="Noto Sans"/>
              <a:cs typeface="Noto Sans"/>
              <a:sym typeface="Noto Sans"/>
            </a:endParaRPr>
          </a:p>
        </p:txBody>
      </p:sp>
      <p:sp>
        <p:nvSpPr>
          <p:cNvPr id="587" name="Google Shape;587;p19"/>
          <p:cNvSpPr/>
          <p:nvPr/>
        </p:nvSpPr>
        <p:spPr>
          <a:xfrm>
            <a:off x="2898648" y="3236976"/>
            <a:ext cx="2578608" cy="384048"/>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64778A"/>
              </a:buClr>
              <a:buSzPts val="1440"/>
              <a:buFont typeface="Noto Sans"/>
              <a:buNone/>
            </a:pPr>
            <a:r>
              <a:rPr b="0" i="0" lang="en-US" sz="1440" u="none" cap="none" strike="noStrike">
                <a:solidFill>
                  <a:srgbClr val="64778A"/>
                </a:solidFill>
                <a:latin typeface="Noto Sans"/>
                <a:ea typeface="Noto Sans"/>
                <a:cs typeface="Noto Sans"/>
                <a:sym typeface="Noto Sans"/>
              </a:rPr>
              <a:t>매물·POI·상세 정보 확인</a:t>
            </a:r>
            <a:endParaRPr b="0" i="0" sz="1440" u="none" cap="none" strike="noStrike">
              <a:solidFill>
                <a:schemeClr val="dk1"/>
              </a:solidFill>
              <a:latin typeface="Noto Sans"/>
              <a:ea typeface="Noto Sans"/>
              <a:cs typeface="Noto Sans"/>
              <a:sym typeface="Noto Sans"/>
            </a:endParaRPr>
          </a:p>
        </p:txBody>
      </p:sp>
      <p:sp>
        <p:nvSpPr>
          <p:cNvPr id="588" name="Google Shape;588;p19"/>
          <p:cNvSpPr/>
          <p:nvPr/>
        </p:nvSpPr>
        <p:spPr>
          <a:xfrm>
            <a:off x="749808" y="4297680"/>
            <a:ext cx="5010912" cy="969264"/>
          </a:xfrm>
          <a:prstGeom prst="roundRect">
            <a:avLst>
              <a:gd fmla="val 5660" name="adj"/>
            </a:avLst>
          </a:prstGeom>
          <a:solidFill>
            <a:srgbClr val="EAF5FD"/>
          </a:solidFill>
          <a:ln cap="flat" cmpd="sng" w="12700">
            <a:solidFill>
              <a:srgbClr val="C9E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9"/>
          <p:cNvSpPr/>
          <p:nvPr/>
        </p:nvSpPr>
        <p:spPr>
          <a:xfrm>
            <a:off x="914400" y="4572000"/>
            <a:ext cx="43891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98E8"/>
              </a:buClr>
              <a:buSzPts val="1520"/>
              <a:buFont typeface="Noto Sans"/>
              <a:buNone/>
            </a:pPr>
            <a:r>
              <a:rPr b="1" i="0" lang="en-US" sz="1520" u="none" cap="none" strike="noStrike">
                <a:solidFill>
                  <a:srgbClr val="2298E8"/>
                </a:solidFill>
                <a:latin typeface="Noto Sans"/>
                <a:ea typeface="Noto Sans"/>
                <a:cs typeface="Noto Sans"/>
                <a:sym typeface="Noto Sans"/>
              </a:rPr>
              <a:t>03</a:t>
            </a:r>
            <a:endParaRPr b="0" i="0" sz="1520" u="none" cap="none" strike="noStrike">
              <a:solidFill>
                <a:schemeClr val="dk1"/>
              </a:solidFill>
              <a:latin typeface="Noto Sans"/>
              <a:ea typeface="Noto Sans"/>
              <a:cs typeface="Noto Sans"/>
              <a:sym typeface="Noto Sans"/>
            </a:endParaRPr>
          </a:p>
        </p:txBody>
      </p:sp>
      <p:sp>
        <p:nvSpPr>
          <p:cNvPr id="590" name="Google Shape;590;p19"/>
          <p:cNvSpPr/>
          <p:nvPr/>
        </p:nvSpPr>
        <p:spPr>
          <a:xfrm>
            <a:off x="1499616" y="4480560"/>
            <a:ext cx="135331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800"/>
              <a:buFont typeface="Noto Sans"/>
              <a:buNone/>
            </a:pPr>
            <a:r>
              <a:rPr b="1" i="0" lang="en-US" sz="1800" u="none" cap="none" strike="noStrike">
                <a:solidFill>
                  <a:srgbClr val="17324D"/>
                </a:solidFill>
                <a:latin typeface="Noto Sans"/>
                <a:ea typeface="Noto Sans"/>
                <a:cs typeface="Noto Sans"/>
                <a:sym typeface="Noto Sans"/>
              </a:rPr>
              <a:t>AI 검색</a:t>
            </a:r>
            <a:endParaRPr b="0" i="0" sz="1800" u="none" cap="none" strike="noStrike">
              <a:solidFill>
                <a:schemeClr val="dk1"/>
              </a:solidFill>
              <a:latin typeface="Noto Sans"/>
              <a:ea typeface="Noto Sans"/>
              <a:cs typeface="Noto Sans"/>
              <a:sym typeface="Noto Sans"/>
            </a:endParaRPr>
          </a:p>
        </p:txBody>
      </p:sp>
      <p:sp>
        <p:nvSpPr>
          <p:cNvPr id="591" name="Google Shape;591;p19"/>
          <p:cNvSpPr/>
          <p:nvPr/>
        </p:nvSpPr>
        <p:spPr>
          <a:xfrm>
            <a:off x="2898648" y="4462272"/>
            <a:ext cx="2578608" cy="384048"/>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64778A"/>
              </a:buClr>
              <a:buSzPts val="1440"/>
              <a:buFont typeface="Noto Sans"/>
              <a:buNone/>
            </a:pPr>
            <a:r>
              <a:rPr b="0" i="0" lang="en-US" sz="1440" u="none" cap="none" strike="noStrike">
                <a:solidFill>
                  <a:srgbClr val="64778A"/>
                </a:solidFill>
                <a:latin typeface="Noto Sans"/>
                <a:ea typeface="Noto Sans"/>
                <a:cs typeface="Noto Sans"/>
                <a:sym typeface="Noto Sans"/>
              </a:rPr>
              <a:t>자연어 조건 → Tool → 지도 Action</a:t>
            </a:r>
            <a:endParaRPr b="0" i="0" sz="1440" u="none" cap="none" strike="noStrike">
              <a:solidFill>
                <a:schemeClr val="dk1"/>
              </a:solidFill>
              <a:latin typeface="Noto Sans"/>
              <a:ea typeface="Noto Sans"/>
              <a:cs typeface="Noto Sans"/>
              <a:sym typeface="Noto Sans"/>
            </a:endParaRPr>
          </a:p>
        </p:txBody>
      </p:sp>
      <p:sp>
        <p:nvSpPr>
          <p:cNvPr id="592" name="Google Shape;592;p19"/>
          <p:cNvSpPr/>
          <p:nvPr/>
        </p:nvSpPr>
        <p:spPr>
          <a:xfrm>
            <a:off x="6400800" y="1847088"/>
            <a:ext cx="5010912" cy="969264"/>
          </a:xfrm>
          <a:prstGeom prst="roundRect">
            <a:avLst>
              <a:gd fmla="val 5660" name="adj"/>
            </a:avLst>
          </a:prstGeom>
          <a:solidFill>
            <a:srgbClr val="EAF9F6"/>
          </a:solidFill>
          <a:ln cap="flat" cmpd="sng" w="12700">
            <a:solidFill>
              <a:srgbClr val="C3ED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9"/>
          <p:cNvSpPr/>
          <p:nvPr/>
        </p:nvSpPr>
        <p:spPr>
          <a:xfrm>
            <a:off x="6565392" y="2121408"/>
            <a:ext cx="43891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B5A5"/>
              </a:buClr>
              <a:buSzPts val="1520"/>
              <a:buFont typeface="Noto Sans"/>
              <a:buNone/>
            </a:pPr>
            <a:r>
              <a:rPr b="1" i="0" lang="en-US" sz="1520" u="none" cap="none" strike="noStrike">
                <a:solidFill>
                  <a:srgbClr val="20B5A5"/>
                </a:solidFill>
                <a:latin typeface="Noto Sans"/>
                <a:ea typeface="Noto Sans"/>
                <a:cs typeface="Noto Sans"/>
                <a:sym typeface="Noto Sans"/>
              </a:rPr>
              <a:t>04</a:t>
            </a:r>
            <a:endParaRPr b="0" i="0" sz="1520" u="none" cap="none" strike="noStrike">
              <a:solidFill>
                <a:schemeClr val="dk1"/>
              </a:solidFill>
              <a:latin typeface="Noto Sans"/>
              <a:ea typeface="Noto Sans"/>
              <a:cs typeface="Noto Sans"/>
              <a:sym typeface="Noto Sans"/>
            </a:endParaRPr>
          </a:p>
        </p:txBody>
      </p:sp>
      <p:sp>
        <p:nvSpPr>
          <p:cNvPr id="594" name="Google Shape;594;p19"/>
          <p:cNvSpPr/>
          <p:nvPr/>
        </p:nvSpPr>
        <p:spPr>
          <a:xfrm>
            <a:off x="7150608" y="2029968"/>
            <a:ext cx="135331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800"/>
              <a:buFont typeface="Noto Sans"/>
              <a:buNone/>
            </a:pPr>
            <a:r>
              <a:rPr b="1" i="0" lang="en-US" sz="1800" u="none" cap="none" strike="noStrike">
                <a:solidFill>
                  <a:srgbClr val="17324D"/>
                </a:solidFill>
                <a:latin typeface="Noto Sans"/>
                <a:ea typeface="Noto Sans"/>
                <a:cs typeface="Noto Sans"/>
                <a:sym typeface="Noto Sans"/>
              </a:rPr>
              <a:t>후속 대화</a:t>
            </a:r>
            <a:endParaRPr b="0" i="0" sz="1800" u="none" cap="none" strike="noStrike">
              <a:solidFill>
                <a:schemeClr val="dk1"/>
              </a:solidFill>
              <a:latin typeface="Noto Sans"/>
              <a:ea typeface="Noto Sans"/>
              <a:cs typeface="Noto Sans"/>
              <a:sym typeface="Noto Sans"/>
            </a:endParaRPr>
          </a:p>
        </p:txBody>
      </p:sp>
      <p:sp>
        <p:nvSpPr>
          <p:cNvPr id="595" name="Google Shape;595;p19"/>
          <p:cNvSpPr/>
          <p:nvPr/>
        </p:nvSpPr>
        <p:spPr>
          <a:xfrm>
            <a:off x="8549640" y="2011680"/>
            <a:ext cx="2578608" cy="384048"/>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64778A"/>
              </a:buClr>
              <a:buSzPts val="1440"/>
              <a:buFont typeface="Noto Sans"/>
              <a:buNone/>
            </a:pPr>
            <a:r>
              <a:rPr b="0" i="0" lang="en-US" sz="1440" u="none" cap="none" strike="noStrike">
                <a:solidFill>
                  <a:srgbClr val="64778A"/>
                </a:solidFill>
                <a:latin typeface="Noto Sans"/>
                <a:ea typeface="Noto Sans"/>
                <a:cs typeface="Noto Sans"/>
                <a:sym typeface="Noto Sans"/>
              </a:rPr>
              <a:t>“그중”, “그 매물”로 문맥 유지</a:t>
            </a:r>
            <a:endParaRPr b="0" i="0" sz="1440" u="none" cap="none" strike="noStrike">
              <a:solidFill>
                <a:schemeClr val="dk1"/>
              </a:solidFill>
              <a:latin typeface="Noto Sans"/>
              <a:ea typeface="Noto Sans"/>
              <a:cs typeface="Noto Sans"/>
              <a:sym typeface="Noto Sans"/>
            </a:endParaRPr>
          </a:p>
        </p:txBody>
      </p:sp>
      <p:sp>
        <p:nvSpPr>
          <p:cNvPr id="596" name="Google Shape;596;p19"/>
          <p:cNvSpPr/>
          <p:nvPr/>
        </p:nvSpPr>
        <p:spPr>
          <a:xfrm>
            <a:off x="6400800" y="3072384"/>
            <a:ext cx="5010912" cy="969264"/>
          </a:xfrm>
          <a:prstGeom prst="roundRect">
            <a:avLst>
              <a:gd fmla="val 5660" name="adj"/>
            </a:avLst>
          </a:prstGeom>
          <a:solidFill>
            <a:srgbClr val="EAF5FD"/>
          </a:solidFill>
          <a:ln cap="flat" cmpd="sng" w="12700">
            <a:solidFill>
              <a:srgbClr val="C9E5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9"/>
          <p:cNvSpPr/>
          <p:nvPr/>
        </p:nvSpPr>
        <p:spPr>
          <a:xfrm>
            <a:off x="6565392" y="3346704"/>
            <a:ext cx="43891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98E8"/>
              </a:buClr>
              <a:buSzPts val="1520"/>
              <a:buFont typeface="Noto Sans"/>
              <a:buNone/>
            </a:pPr>
            <a:r>
              <a:rPr b="1" i="0" lang="en-US" sz="1520" u="none" cap="none" strike="noStrike">
                <a:solidFill>
                  <a:srgbClr val="2298E8"/>
                </a:solidFill>
                <a:latin typeface="Noto Sans"/>
                <a:ea typeface="Noto Sans"/>
                <a:cs typeface="Noto Sans"/>
                <a:sym typeface="Noto Sans"/>
              </a:rPr>
              <a:t>05</a:t>
            </a:r>
            <a:endParaRPr b="0" i="0" sz="1520" u="none" cap="none" strike="noStrike">
              <a:solidFill>
                <a:schemeClr val="dk1"/>
              </a:solidFill>
              <a:latin typeface="Noto Sans"/>
              <a:ea typeface="Noto Sans"/>
              <a:cs typeface="Noto Sans"/>
              <a:sym typeface="Noto Sans"/>
            </a:endParaRPr>
          </a:p>
        </p:txBody>
      </p:sp>
      <p:sp>
        <p:nvSpPr>
          <p:cNvPr id="598" name="Google Shape;598;p19"/>
          <p:cNvSpPr/>
          <p:nvPr/>
        </p:nvSpPr>
        <p:spPr>
          <a:xfrm>
            <a:off x="7150608" y="3255264"/>
            <a:ext cx="135331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800"/>
              <a:buFont typeface="Noto Sans"/>
              <a:buNone/>
            </a:pPr>
            <a:r>
              <a:rPr b="1" i="0" lang="en-US" sz="1800" u="none" cap="none" strike="noStrike">
                <a:solidFill>
                  <a:srgbClr val="17324D"/>
                </a:solidFill>
                <a:latin typeface="Noto Sans"/>
                <a:ea typeface="Noto Sans"/>
                <a:cs typeface="Noto Sans"/>
                <a:sym typeface="Noto Sans"/>
              </a:rPr>
              <a:t>법률 RAG</a:t>
            </a:r>
            <a:endParaRPr b="0" i="0" sz="1800" u="none" cap="none" strike="noStrike">
              <a:solidFill>
                <a:schemeClr val="dk1"/>
              </a:solidFill>
              <a:latin typeface="Noto Sans"/>
              <a:ea typeface="Noto Sans"/>
              <a:cs typeface="Noto Sans"/>
              <a:sym typeface="Noto Sans"/>
            </a:endParaRPr>
          </a:p>
        </p:txBody>
      </p:sp>
      <p:sp>
        <p:nvSpPr>
          <p:cNvPr id="599" name="Google Shape;599;p19"/>
          <p:cNvSpPr/>
          <p:nvPr/>
        </p:nvSpPr>
        <p:spPr>
          <a:xfrm>
            <a:off x="8549640" y="3236976"/>
            <a:ext cx="2578608" cy="384048"/>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64778A"/>
              </a:buClr>
              <a:buSzPts val="1440"/>
              <a:buFont typeface="Noto Sans"/>
              <a:buNone/>
            </a:pPr>
            <a:r>
              <a:rPr b="0" i="0" lang="en-US" sz="1440" u="none" cap="none" strike="noStrike">
                <a:solidFill>
                  <a:srgbClr val="64778A"/>
                </a:solidFill>
                <a:latin typeface="Noto Sans"/>
                <a:ea typeface="Noto Sans"/>
                <a:cs typeface="Noto Sans"/>
                <a:sym typeface="Noto Sans"/>
              </a:rPr>
              <a:t>생활 언어 질문 → 관련 조문과 근거</a:t>
            </a:r>
            <a:endParaRPr b="0" i="0" sz="1440" u="none" cap="none" strike="noStrike">
              <a:solidFill>
                <a:schemeClr val="dk1"/>
              </a:solidFill>
              <a:latin typeface="Noto Sans"/>
              <a:ea typeface="Noto Sans"/>
              <a:cs typeface="Noto Sans"/>
              <a:sym typeface="Noto Sans"/>
            </a:endParaRPr>
          </a:p>
        </p:txBody>
      </p:sp>
      <p:sp>
        <p:nvSpPr>
          <p:cNvPr id="600" name="Google Shape;600;p19"/>
          <p:cNvSpPr/>
          <p:nvPr/>
        </p:nvSpPr>
        <p:spPr>
          <a:xfrm>
            <a:off x="6400800" y="4297680"/>
            <a:ext cx="5010912" cy="969264"/>
          </a:xfrm>
          <a:prstGeom prst="roundRect">
            <a:avLst>
              <a:gd fmla="val 5660" name="adj"/>
            </a:avLst>
          </a:prstGeom>
          <a:solidFill>
            <a:srgbClr val="EAF9F6"/>
          </a:solidFill>
          <a:ln cap="flat" cmpd="sng" w="12700">
            <a:solidFill>
              <a:srgbClr val="C3EDE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9"/>
          <p:cNvSpPr/>
          <p:nvPr/>
        </p:nvSpPr>
        <p:spPr>
          <a:xfrm>
            <a:off x="6565392" y="4572000"/>
            <a:ext cx="438912"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B5A5"/>
              </a:buClr>
              <a:buSzPts val="1520"/>
              <a:buFont typeface="Noto Sans"/>
              <a:buNone/>
            </a:pPr>
            <a:r>
              <a:rPr b="1" i="0" lang="en-US" sz="1520" u="none" cap="none" strike="noStrike">
                <a:solidFill>
                  <a:srgbClr val="20B5A5"/>
                </a:solidFill>
                <a:latin typeface="Noto Sans"/>
                <a:ea typeface="Noto Sans"/>
                <a:cs typeface="Noto Sans"/>
                <a:sym typeface="Noto Sans"/>
              </a:rPr>
              <a:t>06</a:t>
            </a:r>
            <a:endParaRPr b="0" i="0" sz="1520" u="none" cap="none" strike="noStrike">
              <a:solidFill>
                <a:schemeClr val="dk1"/>
              </a:solidFill>
              <a:latin typeface="Noto Sans"/>
              <a:ea typeface="Noto Sans"/>
              <a:cs typeface="Noto Sans"/>
              <a:sym typeface="Noto Sans"/>
            </a:endParaRPr>
          </a:p>
        </p:txBody>
      </p:sp>
      <p:sp>
        <p:nvSpPr>
          <p:cNvPr id="602" name="Google Shape;602;p19"/>
          <p:cNvSpPr/>
          <p:nvPr/>
        </p:nvSpPr>
        <p:spPr>
          <a:xfrm>
            <a:off x="7150608" y="4480560"/>
            <a:ext cx="135331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324D"/>
              </a:buClr>
              <a:buSzPts val="1800"/>
              <a:buFont typeface="Noto Sans"/>
              <a:buNone/>
            </a:pPr>
            <a:r>
              <a:rPr b="1" i="0" lang="en-US" sz="1800" u="none" cap="none" strike="noStrike">
                <a:solidFill>
                  <a:srgbClr val="17324D"/>
                </a:solidFill>
                <a:latin typeface="Noto Sans"/>
                <a:ea typeface="Noto Sans"/>
                <a:cs typeface="Noto Sans"/>
                <a:sym typeface="Noto Sans"/>
              </a:rPr>
              <a:t>분석·등록</a:t>
            </a:r>
            <a:endParaRPr b="0" i="0" sz="1800" u="none" cap="none" strike="noStrike">
              <a:solidFill>
                <a:schemeClr val="dk1"/>
              </a:solidFill>
              <a:latin typeface="Noto Sans"/>
              <a:ea typeface="Noto Sans"/>
              <a:cs typeface="Noto Sans"/>
              <a:sym typeface="Noto Sans"/>
            </a:endParaRPr>
          </a:p>
        </p:txBody>
      </p:sp>
      <p:sp>
        <p:nvSpPr>
          <p:cNvPr id="603" name="Google Shape;603;p19"/>
          <p:cNvSpPr/>
          <p:nvPr/>
        </p:nvSpPr>
        <p:spPr>
          <a:xfrm>
            <a:off x="8549640" y="4462272"/>
            <a:ext cx="2578608" cy="384048"/>
          </a:xfrm>
          <a:prstGeom prst="rect">
            <a:avLst/>
          </a:prstGeom>
          <a:noFill/>
          <a:ln>
            <a:noFill/>
          </a:ln>
        </p:spPr>
        <p:txBody>
          <a:bodyPr anchorCtr="0" anchor="ctr" bIns="125" lIns="125" spcFirstLastPara="1" rIns="125" wrap="square" tIns="125">
            <a:normAutofit/>
          </a:bodyPr>
          <a:lstStyle/>
          <a:p>
            <a:pPr indent="0" lvl="0" marL="0" marR="0" rtl="0" algn="l">
              <a:spcBef>
                <a:spcPts val="0"/>
              </a:spcBef>
              <a:spcAft>
                <a:spcPts val="0"/>
              </a:spcAft>
              <a:buClr>
                <a:srgbClr val="64778A"/>
              </a:buClr>
              <a:buSzPts val="1440"/>
              <a:buFont typeface="Noto Sans"/>
              <a:buNone/>
            </a:pPr>
            <a:r>
              <a:rPr b="0" i="0" lang="en-US" sz="1440" u="none" cap="none" strike="noStrike">
                <a:solidFill>
                  <a:srgbClr val="64778A"/>
                </a:solidFill>
                <a:latin typeface="Noto Sans"/>
                <a:ea typeface="Noto Sans"/>
                <a:cs typeface="Noto Sans"/>
                <a:sym typeface="Noto Sans"/>
              </a:rPr>
              <a:t>지역·비용 판단 후 매물 등록과 관리</a:t>
            </a:r>
            <a:endParaRPr b="0" i="0" sz="1440" u="none" cap="none" strike="noStrike">
              <a:solidFill>
                <a:schemeClr val="dk1"/>
              </a:solidFill>
              <a:latin typeface="Noto Sans"/>
              <a:ea typeface="Noto Sans"/>
              <a:cs typeface="Noto Sans"/>
              <a:sym typeface="Noto Sans"/>
            </a:endParaRPr>
          </a:p>
        </p:txBody>
      </p:sp>
      <p:sp>
        <p:nvSpPr>
          <p:cNvPr id="604" name="Google Shape;604;p19"/>
          <p:cNvSpPr/>
          <p:nvPr/>
        </p:nvSpPr>
        <p:spPr>
          <a:xfrm>
            <a:off x="777240" y="5742432"/>
            <a:ext cx="10652760" cy="530352"/>
          </a:xfrm>
          <a:prstGeom prst="roundRect">
            <a:avLst>
              <a:gd fmla="val 10345" name="adj"/>
            </a:avLst>
          </a:prstGeom>
          <a:solidFill>
            <a:srgbClr val="103354"/>
          </a:solidFill>
          <a:ln cap="flat" cmpd="sng" w="12700">
            <a:solidFill>
              <a:srgbClr val="103354">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9"/>
          <p:cNvSpPr/>
          <p:nvPr/>
        </p:nvSpPr>
        <p:spPr>
          <a:xfrm>
            <a:off x="1005840" y="5852160"/>
            <a:ext cx="10195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50"/>
              <a:buFont typeface="Noto Sans"/>
              <a:buNone/>
            </a:pPr>
            <a:r>
              <a:rPr b="1" i="0" lang="en-US" sz="1650" u="none" cap="none" strike="noStrike">
                <a:solidFill>
                  <a:srgbClr val="FFFFFF"/>
                </a:solidFill>
                <a:latin typeface="Noto Sans"/>
                <a:ea typeface="Noto Sans"/>
                <a:cs typeface="Noto Sans"/>
                <a:sym typeface="Noto Sans"/>
              </a:rPr>
              <a:t>핵심은 개별 기능의 개수가 아니라, 사용자가 집을 찾는 과정이 끊기지 않도록 서로 연결한 것입니다.</a:t>
            </a:r>
            <a:endParaRPr b="0" i="0" sz="1650" u="none" cap="none" strike="noStrike">
              <a:solidFill>
                <a:schemeClr val="dk1"/>
              </a:solidFill>
              <a:latin typeface="Noto Sans"/>
              <a:ea typeface="Noto Sans"/>
              <a:cs typeface="Noto Sans"/>
              <a:sym typeface="Noto Sans"/>
            </a:endParaRPr>
          </a:p>
        </p:txBody>
      </p:sp>
      <p:sp>
        <p:nvSpPr>
          <p:cNvPr id="606" name="Google Shape;606;p19"/>
          <p:cNvSpPr txBox="1"/>
          <p:nvPr>
            <p:ph idx="4294967295" type="sldNum"/>
          </p:nvPr>
        </p:nvSpPr>
        <p:spPr>
          <a:xfrm>
            <a:off x="11475720" y="6510528"/>
            <a:ext cx="274320" cy="16459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US" sz="900" u="none" cap="none" strike="noStrike">
                <a:solidFill>
                  <a:srgbClr val="9BA9B8"/>
                </a:solidFill>
                <a:latin typeface="Noto Sans"/>
                <a:ea typeface="Noto Sans"/>
                <a:cs typeface="Noto Sans"/>
                <a:sym typeface="Noto Sans"/>
              </a:rPr>
              <a:t>‹#›</a:t>
            </a:fld>
            <a:endParaRPr b="0" i="0" sz="900" u="none" cap="none" strike="noStrike">
              <a:solidFill>
                <a:srgbClr val="9BA9B8"/>
              </a:solidFill>
              <a:latin typeface="Noto Sans"/>
              <a:ea typeface="Noto Sans"/>
              <a:cs typeface="Noto Sans"/>
              <a:sym typeface="Noto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846"/>
        </a:solidFill>
      </p:bgPr>
    </p:bg>
    <p:spTree>
      <p:nvGrpSpPr>
        <p:cNvPr id="611" name="Shape 611"/>
        <p:cNvGrpSpPr/>
        <p:nvPr/>
      </p:nvGrpSpPr>
      <p:grpSpPr>
        <a:xfrm>
          <a:off x="0" y="0"/>
          <a:ext cx="0" cy="0"/>
          <a:chOff x="0" y="0"/>
          <a:chExt cx="0" cy="0"/>
        </a:xfrm>
      </p:grpSpPr>
      <p:sp>
        <p:nvSpPr>
          <p:cNvPr id="612" name="Google Shape;612;p20"/>
          <p:cNvSpPr/>
          <p:nvPr/>
        </p:nvSpPr>
        <p:spPr>
          <a:xfrm>
            <a:off x="749808" y="749808"/>
            <a:ext cx="36576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6C6D7"/>
              </a:buClr>
              <a:buSzPts val="1800"/>
              <a:buFont typeface="Noto Sans"/>
              <a:buNone/>
            </a:pPr>
            <a:r>
              <a:rPr b="0" i="0" lang="en-US" sz="1800" u="none" cap="none" strike="noStrike">
                <a:solidFill>
                  <a:srgbClr val="B6C6D7"/>
                </a:solidFill>
                <a:latin typeface="Noto Sans"/>
                <a:ea typeface="Noto Sans"/>
                <a:cs typeface="Noto Sans"/>
                <a:sym typeface="Noto Sans"/>
              </a:rPr>
              <a:t>ZipChatGo가 만든 것은</a:t>
            </a:r>
            <a:endParaRPr b="0" i="0" sz="1800" u="none" cap="none" strike="noStrike">
              <a:solidFill>
                <a:schemeClr val="dk1"/>
              </a:solidFill>
              <a:latin typeface="Noto Sans"/>
              <a:ea typeface="Noto Sans"/>
              <a:cs typeface="Noto Sans"/>
              <a:sym typeface="Noto Sans"/>
            </a:endParaRPr>
          </a:p>
        </p:txBody>
      </p:sp>
      <p:sp>
        <p:nvSpPr>
          <p:cNvPr id="613" name="Google Shape;613;p20"/>
          <p:cNvSpPr/>
          <p:nvPr/>
        </p:nvSpPr>
        <p:spPr>
          <a:xfrm>
            <a:off x="749808" y="1207008"/>
            <a:ext cx="7452360" cy="1143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FFFFFF"/>
              </a:buClr>
              <a:buSzPts val="3100"/>
              <a:buFont typeface="Noto Sans"/>
              <a:buNone/>
            </a:pPr>
            <a:r>
              <a:rPr b="1" i="0" lang="en-US" sz="3100" u="none" cap="none" strike="noStrike">
                <a:solidFill>
                  <a:srgbClr val="FFFFFF"/>
                </a:solidFill>
                <a:latin typeface="Noto Sans"/>
                <a:ea typeface="Noto Sans"/>
                <a:cs typeface="Noto Sans"/>
                <a:sym typeface="Noto Sans"/>
              </a:rPr>
              <a:t>“검색 화면”이 아니라</a:t>
            </a:r>
            <a:endParaRPr b="0" i="0" sz="3100" u="none" cap="none" strike="noStrike">
              <a:solidFill>
                <a:schemeClr val="dk1"/>
              </a:solidFill>
              <a:latin typeface="Noto Sans"/>
              <a:ea typeface="Noto Sans"/>
              <a:cs typeface="Noto Sans"/>
              <a:sym typeface="Noto Sans"/>
            </a:endParaRPr>
          </a:p>
          <a:p>
            <a:pPr indent="0" lvl="0" marL="0" marR="0" rtl="0" algn="l">
              <a:spcBef>
                <a:spcPts val="0"/>
              </a:spcBef>
              <a:spcAft>
                <a:spcPts val="0"/>
              </a:spcAft>
              <a:buClr>
                <a:srgbClr val="FFFFFF"/>
              </a:buClr>
              <a:buSzPts val="3100"/>
              <a:buFont typeface="Noto Sans"/>
              <a:buNone/>
            </a:pPr>
            <a:r>
              <a:rPr b="1" i="0" lang="en-US" sz="3100" u="none" cap="none" strike="noStrike">
                <a:solidFill>
                  <a:srgbClr val="FFFFFF"/>
                </a:solidFill>
                <a:latin typeface="Noto Sans"/>
                <a:ea typeface="Noto Sans"/>
                <a:cs typeface="Noto Sans"/>
                <a:sym typeface="Noto Sans"/>
              </a:rPr>
              <a:t>“연결된 부동산 경험”입니다.</a:t>
            </a:r>
            <a:endParaRPr b="0" i="0" sz="3100" u="none" cap="none" strike="noStrike">
              <a:solidFill>
                <a:schemeClr val="dk1"/>
              </a:solidFill>
              <a:latin typeface="Noto Sans"/>
              <a:ea typeface="Noto Sans"/>
              <a:cs typeface="Noto Sans"/>
              <a:sym typeface="Noto Sans"/>
            </a:endParaRPr>
          </a:p>
        </p:txBody>
      </p:sp>
      <p:sp>
        <p:nvSpPr>
          <p:cNvPr id="614" name="Google Shape;614;p20"/>
          <p:cNvSpPr/>
          <p:nvPr/>
        </p:nvSpPr>
        <p:spPr>
          <a:xfrm>
            <a:off x="749808" y="2852928"/>
            <a:ext cx="4754880" cy="804672"/>
          </a:xfrm>
          <a:prstGeom prst="roundRect">
            <a:avLst>
              <a:gd fmla="val 6818" name="adj"/>
            </a:avLst>
          </a:prstGeom>
          <a:solidFill>
            <a:srgbClr val="143857"/>
          </a:solidFill>
          <a:ln cap="flat" cmpd="sng" w="12700">
            <a:solidFill>
              <a:srgbClr val="2451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20"/>
          <p:cNvSpPr/>
          <p:nvPr/>
        </p:nvSpPr>
        <p:spPr>
          <a:xfrm>
            <a:off x="950976" y="3090672"/>
            <a:ext cx="107899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98E8"/>
              </a:buClr>
              <a:buSzPts val="1650"/>
              <a:buFont typeface="Noto Sans"/>
              <a:buNone/>
            </a:pPr>
            <a:r>
              <a:rPr b="1" i="0" lang="en-US" sz="1650" u="none" cap="none" strike="noStrike">
                <a:solidFill>
                  <a:srgbClr val="2298E8"/>
                </a:solidFill>
                <a:latin typeface="Noto Sans"/>
                <a:ea typeface="Noto Sans"/>
                <a:cs typeface="Noto Sans"/>
                <a:sym typeface="Noto Sans"/>
              </a:rPr>
              <a:t>지도</a:t>
            </a:r>
            <a:endParaRPr b="0" i="0" sz="1650" u="none" cap="none" strike="noStrike">
              <a:solidFill>
                <a:schemeClr val="dk1"/>
              </a:solidFill>
              <a:latin typeface="Noto Sans"/>
              <a:ea typeface="Noto Sans"/>
              <a:cs typeface="Noto Sans"/>
              <a:sym typeface="Noto Sans"/>
            </a:endParaRPr>
          </a:p>
        </p:txBody>
      </p:sp>
      <p:sp>
        <p:nvSpPr>
          <p:cNvPr id="616" name="Google Shape;616;p20"/>
          <p:cNvSpPr/>
          <p:nvPr/>
        </p:nvSpPr>
        <p:spPr>
          <a:xfrm>
            <a:off x="2194560" y="3017520"/>
            <a:ext cx="2999232" cy="365760"/>
          </a:xfrm>
          <a:prstGeom prst="rect">
            <a:avLst/>
          </a:prstGeom>
          <a:noFill/>
          <a:ln>
            <a:noFill/>
          </a:ln>
        </p:spPr>
        <p:txBody>
          <a:bodyPr anchorCtr="0" anchor="ctr" bIns="125" lIns="125" spcFirstLastPara="1" rIns="125" wrap="square" tIns="125">
            <a:normAutofit/>
          </a:bodyPr>
          <a:lstStyle/>
          <a:p>
            <a:pPr indent="0" lvl="0" marL="0" marR="0" rtl="0" algn="ctr">
              <a:spcBef>
                <a:spcPts val="0"/>
              </a:spcBef>
              <a:spcAft>
                <a:spcPts val="0"/>
              </a:spcAft>
              <a:buClr>
                <a:srgbClr val="E1E9F1"/>
              </a:buClr>
              <a:buSzPts val="1440"/>
              <a:buFont typeface="Noto Sans"/>
              <a:buNone/>
            </a:pPr>
            <a:r>
              <a:rPr b="0" i="0" lang="en-US" sz="1440" u="none" cap="none" strike="noStrike">
                <a:solidFill>
                  <a:srgbClr val="E1E9F1"/>
                </a:solidFill>
                <a:latin typeface="Noto Sans"/>
                <a:ea typeface="Noto Sans"/>
                <a:cs typeface="Noto Sans"/>
                <a:sym typeface="Noto Sans"/>
              </a:rPr>
              <a:t>매물·POI·현재 상태를 한 화면에서</a:t>
            </a:r>
            <a:endParaRPr b="0" i="0" sz="1440" u="none" cap="none" strike="noStrike">
              <a:solidFill>
                <a:schemeClr val="dk1"/>
              </a:solidFill>
              <a:latin typeface="Noto Sans"/>
              <a:ea typeface="Noto Sans"/>
              <a:cs typeface="Noto Sans"/>
              <a:sym typeface="Noto Sans"/>
            </a:endParaRPr>
          </a:p>
        </p:txBody>
      </p:sp>
      <p:sp>
        <p:nvSpPr>
          <p:cNvPr id="617" name="Google Shape;617;p20"/>
          <p:cNvSpPr/>
          <p:nvPr/>
        </p:nvSpPr>
        <p:spPr>
          <a:xfrm>
            <a:off x="5980176" y="2852928"/>
            <a:ext cx="4754880" cy="804672"/>
          </a:xfrm>
          <a:prstGeom prst="roundRect">
            <a:avLst>
              <a:gd fmla="val 6818" name="adj"/>
            </a:avLst>
          </a:prstGeom>
          <a:solidFill>
            <a:srgbClr val="143857"/>
          </a:solidFill>
          <a:ln cap="flat" cmpd="sng" w="12700">
            <a:solidFill>
              <a:srgbClr val="2451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0"/>
          <p:cNvSpPr/>
          <p:nvPr/>
        </p:nvSpPr>
        <p:spPr>
          <a:xfrm>
            <a:off x="6181344" y="3090672"/>
            <a:ext cx="107899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B5A5"/>
              </a:buClr>
              <a:buSzPts val="1650"/>
              <a:buFont typeface="Noto Sans"/>
              <a:buNone/>
            </a:pPr>
            <a:r>
              <a:rPr b="1" i="0" lang="en-US" sz="1650" u="none" cap="none" strike="noStrike">
                <a:solidFill>
                  <a:srgbClr val="20B5A5"/>
                </a:solidFill>
                <a:latin typeface="Noto Sans"/>
                <a:ea typeface="Noto Sans"/>
                <a:cs typeface="Noto Sans"/>
                <a:sym typeface="Noto Sans"/>
              </a:rPr>
              <a:t>AI Agent</a:t>
            </a:r>
            <a:endParaRPr b="0" i="0" sz="1650" u="none" cap="none" strike="noStrike">
              <a:solidFill>
                <a:schemeClr val="dk1"/>
              </a:solidFill>
              <a:latin typeface="Noto Sans"/>
              <a:ea typeface="Noto Sans"/>
              <a:cs typeface="Noto Sans"/>
              <a:sym typeface="Noto Sans"/>
            </a:endParaRPr>
          </a:p>
        </p:txBody>
      </p:sp>
      <p:sp>
        <p:nvSpPr>
          <p:cNvPr id="619" name="Google Shape;619;p20"/>
          <p:cNvSpPr/>
          <p:nvPr/>
        </p:nvSpPr>
        <p:spPr>
          <a:xfrm>
            <a:off x="7424928" y="3017520"/>
            <a:ext cx="2999232" cy="365760"/>
          </a:xfrm>
          <a:prstGeom prst="rect">
            <a:avLst/>
          </a:prstGeom>
          <a:noFill/>
          <a:ln>
            <a:noFill/>
          </a:ln>
        </p:spPr>
        <p:txBody>
          <a:bodyPr anchorCtr="0" anchor="ctr" bIns="125" lIns="125" spcFirstLastPara="1" rIns="125" wrap="square" tIns="125">
            <a:normAutofit/>
          </a:bodyPr>
          <a:lstStyle/>
          <a:p>
            <a:pPr indent="0" lvl="0" marL="0" marR="0" rtl="0" algn="ctr">
              <a:spcBef>
                <a:spcPts val="0"/>
              </a:spcBef>
              <a:spcAft>
                <a:spcPts val="0"/>
              </a:spcAft>
              <a:buClr>
                <a:srgbClr val="E1E9F1"/>
              </a:buClr>
              <a:buSzPts val="1440"/>
              <a:buFont typeface="Noto Sans"/>
              <a:buNone/>
            </a:pPr>
            <a:r>
              <a:rPr b="0" i="0" lang="en-US" sz="1440" u="none" cap="none" strike="noStrike">
                <a:solidFill>
                  <a:srgbClr val="E1E9F1"/>
                </a:solidFill>
                <a:latin typeface="Noto Sans"/>
                <a:ea typeface="Noto Sans"/>
                <a:cs typeface="Noto Sans"/>
                <a:sym typeface="Noto Sans"/>
              </a:rPr>
              <a:t>자연어를 Tool과 UI Action으로</a:t>
            </a:r>
            <a:endParaRPr b="0" i="0" sz="1440" u="none" cap="none" strike="noStrike">
              <a:solidFill>
                <a:schemeClr val="dk1"/>
              </a:solidFill>
              <a:latin typeface="Noto Sans"/>
              <a:ea typeface="Noto Sans"/>
              <a:cs typeface="Noto Sans"/>
              <a:sym typeface="Noto Sans"/>
            </a:endParaRPr>
          </a:p>
        </p:txBody>
      </p:sp>
      <p:sp>
        <p:nvSpPr>
          <p:cNvPr id="620" name="Google Shape;620;p20"/>
          <p:cNvSpPr/>
          <p:nvPr/>
        </p:nvSpPr>
        <p:spPr>
          <a:xfrm>
            <a:off x="749808" y="3904488"/>
            <a:ext cx="4754880" cy="804672"/>
          </a:xfrm>
          <a:prstGeom prst="roundRect">
            <a:avLst>
              <a:gd fmla="val 6818" name="adj"/>
            </a:avLst>
          </a:prstGeom>
          <a:solidFill>
            <a:srgbClr val="143857"/>
          </a:solidFill>
          <a:ln cap="flat" cmpd="sng" w="12700">
            <a:solidFill>
              <a:srgbClr val="2451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20"/>
          <p:cNvSpPr/>
          <p:nvPr/>
        </p:nvSpPr>
        <p:spPr>
          <a:xfrm>
            <a:off x="950976" y="4142232"/>
            <a:ext cx="107899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298E8"/>
              </a:buClr>
              <a:buSzPts val="1650"/>
              <a:buFont typeface="Noto Sans"/>
              <a:buNone/>
            </a:pPr>
            <a:r>
              <a:rPr b="1" i="0" lang="en-US" sz="1650" u="none" cap="none" strike="noStrike">
                <a:solidFill>
                  <a:srgbClr val="2298E8"/>
                </a:solidFill>
                <a:latin typeface="Noto Sans"/>
                <a:ea typeface="Noto Sans"/>
                <a:cs typeface="Noto Sans"/>
                <a:sym typeface="Noto Sans"/>
              </a:rPr>
              <a:t>분석</a:t>
            </a:r>
            <a:endParaRPr b="0" i="0" sz="1650" u="none" cap="none" strike="noStrike">
              <a:solidFill>
                <a:schemeClr val="dk1"/>
              </a:solidFill>
              <a:latin typeface="Noto Sans"/>
              <a:ea typeface="Noto Sans"/>
              <a:cs typeface="Noto Sans"/>
              <a:sym typeface="Noto Sans"/>
            </a:endParaRPr>
          </a:p>
        </p:txBody>
      </p:sp>
      <p:sp>
        <p:nvSpPr>
          <p:cNvPr id="622" name="Google Shape;622;p20"/>
          <p:cNvSpPr/>
          <p:nvPr/>
        </p:nvSpPr>
        <p:spPr>
          <a:xfrm>
            <a:off x="2194560" y="4069080"/>
            <a:ext cx="2999232" cy="365760"/>
          </a:xfrm>
          <a:prstGeom prst="rect">
            <a:avLst/>
          </a:prstGeom>
          <a:noFill/>
          <a:ln>
            <a:noFill/>
          </a:ln>
        </p:spPr>
        <p:txBody>
          <a:bodyPr anchorCtr="0" anchor="ctr" bIns="125" lIns="125" spcFirstLastPara="1" rIns="125" wrap="square" tIns="125">
            <a:normAutofit/>
          </a:bodyPr>
          <a:lstStyle/>
          <a:p>
            <a:pPr indent="0" lvl="0" marL="0" marR="0" rtl="0" algn="ctr">
              <a:spcBef>
                <a:spcPts val="0"/>
              </a:spcBef>
              <a:spcAft>
                <a:spcPts val="0"/>
              </a:spcAft>
              <a:buClr>
                <a:srgbClr val="E1E9F1"/>
              </a:buClr>
              <a:buSzPts val="1440"/>
              <a:buFont typeface="Noto Sans"/>
              <a:buNone/>
            </a:pPr>
            <a:r>
              <a:rPr b="0" i="0" lang="en-US" sz="1440" u="none" cap="none" strike="noStrike">
                <a:solidFill>
                  <a:srgbClr val="E1E9F1"/>
                </a:solidFill>
                <a:latin typeface="Noto Sans"/>
                <a:ea typeface="Noto Sans"/>
                <a:cs typeface="Noto Sans"/>
                <a:sym typeface="Noto Sans"/>
              </a:rPr>
              <a:t>실거래·비용·지역 비교로 판단 지원</a:t>
            </a:r>
            <a:endParaRPr b="0" i="0" sz="1440" u="none" cap="none" strike="noStrike">
              <a:solidFill>
                <a:schemeClr val="dk1"/>
              </a:solidFill>
              <a:latin typeface="Noto Sans"/>
              <a:ea typeface="Noto Sans"/>
              <a:cs typeface="Noto Sans"/>
              <a:sym typeface="Noto Sans"/>
            </a:endParaRPr>
          </a:p>
        </p:txBody>
      </p:sp>
      <p:sp>
        <p:nvSpPr>
          <p:cNvPr id="623" name="Google Shape;623;p20"/>
          <p:cNvSpPr/>
          <p:nvPr/>
        </p:nvSpPr>
        <p:spPr>
          <a:xfrm>
            <a:off x="5980176" y="3904488"/>
            <a:ext cx="4754880" cy="804672"/>
          </a:xfrm>
          <a:prstGeom prst="roundRect">
            <a:avLst>
              <a:gd fmla="val 6818" name="adj"/>
            </a:avLst>
          </a:prstGeom>
          <a:solidFill>
            <a:srgbClr val="143857"/>
          </a:solidFill>
          <a:ln cap="flat" cmpd="sng" w="12700">
            <a:solidFill>
              <a:srgbClr val="24517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0"/>
          <p:cNvSpPr/>
          <p:nvPr/>
        </p:nvSpPr>
        <p:spPr>
          <a:xfrm>
            <a:off x="6181344" y="4142232"/>
            <a:ext cx="1078992"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0B5A5"/>
              </a:buClr>
              <a:buSzPts val="1650"/>
              <a:buFont typeface="Noto Sans"/>
              <a:buNone/>
            </a:pPr>
            <a:r>
              <a:rPr b="1" i="0" lang="en-US" sz="1650" u="none" cap="none" strike="noStrike">
                <a:solidFill>
                  <a:srgbClr val="20B5A5"/>
                </a:solidFill>
                <a:latin typeface="Noto Sans"/>
                <a:ea typeface="Noto Sans"/>
                <a:cs typeface="Noto Sans"/>
                <a:sym typeface="Noto Sans"/>
              </a:rPr>
              <a:t>등록/회원</a:t>
            </a:r>
            <a:endParaRPr b="0" i="0" sz="1650" u="none" cap="none" strike="noStrike">
              <a:solidFill>
                <a:schemeClr val="dk1"/>
              </a:solidFill>
              <a:latin typeface="Noto Sans"/>
              <a:ea typeface="Noto Sans"/>
              <a:cs typeface="Noto Sans"/>
              <a:sym typeface="Noto Sans"/>
            </a:endParaRPr>
          </a:p>
        </p:txBody>
      </p:sp>
      <p:sp>
        <p:nvSpPr>
          <p:cNvPr id="625" name="Google Shape;625;p20"/>
          <p:cNvSpPr/>
          <p:nvPr/>
        </p:nvSpPr>
        <p:spPr>
          <a:xfrm>
            <a:off x="7424928" y="4069080"/>
            <a:ext cx="2999232" cy="365760"/>
          </a:xfrm>
          <a:prstGeom prst="rect">
            <a:avLst/>
          </a:prstGeom>
          <a:noFill/>
          <a:ln>
            <a:noFill/>
          </a:ln>
        </p:spPr>
        <p:txBody>
          <a:bodyPr anchorCtr="0" anchor="ctr" bIns="125" lIns="125" spcFirstLastPara="1" rIns="125" wrap="square" tIns="125">
            <a:normAutofit/>
          </a:bodyPr>
          <a:lstStyle/>
          <a:p>
            <a:pPr indent="0" lvl="0" marL="0" marR="0" rtl="0" algn="ctr">
              <a:spcBef>
                <a:spcPts val="0"/>
              </a:spcBef>
              <a:spcAft>
                <a:spcPts val="0"/>
              </a:spcAft>
              <a:buClr>
                <a:srgbClr val="E1E9F1"/>
              </a:buClr>
              <a:buSzPts val="1440"/>
              <a:buFont typeface="Noto Sans"/>
              <a:buNone/>
            </a:pPr>
            <a:r>
              <a:rPr b="0" i="0" lang="en-US" sz="1440" u="none" cap="none" strike="noStrike">
                <a:solidFill>
                  <a:srgbClr val="E1E9F1"/>
                </a:solidFill>
                <a:latin typeface="Noto Sans"/>
                <a:ea typeface="Noto Sans"/>
                <a:cs typeface="Noto Sans"/>
                <a:sym typeface="Noto Sans"/>
              </a:rPr>
              <a:t>매물 공급과 서비스 운영 기능까지</a:t>
            </a:r>
            <a:endParaRPr b="0" i="0" sz="1440" u="none" cap="none" strike="noStrike">
              <a:solidFill>
                <a:schemeClr val="dk1"/>
              </a:solidFill>
              <a:latin typeface="Noto Sans"/>
              <a:ea typeface="Noto Sans"/>
              <a:cs typeface="Noto Sans"/>
              <a:sym typeface="Noto Sans"/>
            </a:endParaRPr>
          </a:p>
        </p:txBody>
      </p:sp>
      <p:sp>
        <p:nvSpPr>
          <p:cNvPr id="626" name="Google Shape;626;p20"/>
          <p:cNvSpPr/>
          <p:nvPr/>
        </p:nvSpPr>
        <p:spPr>
          <a:xfrm>
            <a:off x="768096" y="6144768"/>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2E4D0"/>
              </a:buClr>
              <a:buSzPts val="1550"/>
              <a:buFont typeface="Noto Sans"/>
              <a:buNone/>
            </a:pPr>
            <a:r>
              <a:rPr b="1" i="0" lang="en-US" sz="1550" u="none" cap="none" strike="noStrike">
                <a:solidFill>
                  <a:srgbClr val="42E4D0"/>
                </a:solidFill>
                <a:latin typeface="Noto Sans"/>
                <a:ea typeface="Noto Sans"/>
                <a:cs typeface="Noto Sans"/>
                <a:sym typeface="Noto Sans"/>
              </a:rPr>
              <a:t>감사합니다</a:t>
            </a:r>
            <a:endParaRPr b="0" i="0" sz="1550" u="none" cap="none" strike="noStrike">
              <a:solidFill>
                <a:schemeClr val="dk1"/>
              </a:solidFill>
              <a:latin typeface="Noto Sans"/>
              <a:ea typeface="Noto Sans"/>
              <a:cs typeface="Noto Sans"/>
              <a:sym typeface="Noto Sans"/>
            </a:endParaRPr>
          </a:p>
        </p:txBody>
      </p:sp>
      <p:sp>
        <p:nvSpPr>
          <p:cNvPr id="627" name="Google Shape;627;p20"/>
          <p:cNvSpPr/>
          <p:nvPr/>
        </p:nvSpPr>
        <p:spPr>
          <a:xfrm>
            <a:off x="10195560" y="6144768"/>
            <a:ext cx="11887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98E8"/>
              </a:buClr>
              <a:buSzPts val="1550"/>
              <a:buFont typeface="Noto Sans"/>
              <a:buNone/>
            </a:pPr>
            <a:r>
              <a:rPr b="1" i="0" lang="en-US" sz="1550" u="none" cap="none" strike="noStrike">
                <a:solidFill>
                  <a:srgbClr val="2298E8"/>
                </a:solidFill>
                <a:latin typeface="Noto Sans"/>
                <a:ea typeface="Noto Sans"/>
                <a:cs typeface="Noto Sans"/>
                <a:sym typeface="Noto Sans"/>
              </a:rPr>
              <a:t>Q &amp; A</a:t>
            </a:r>
            <a:endParaRPr b="0" i="0" sz="1550" u="none" cap="none" strike="noStrike">
              <a:solidFill>
                <a:schemeClr val="dk1"/>
              </a:solidFill>
              <a:latin typeface="Noto Sans"/>
              <a:ea typeface="Noto Sans"/>
              <a:cs typeface="Noto Sans"/>
              <a:sym typeface="Noto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2026-10-12T07:33:01Z</dcterms:created>
  <dc:creator>ZipChatGo Team</dc:creator>
</cp:coreProperties>
</file>